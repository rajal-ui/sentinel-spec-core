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A1A1AA"/>
                </a:solidFill>
                <a:latin typeface="Arial"/>
              </a:defRPr>
            </a:pPr>
            <a:r>
              <a:rPr sz="1000" b="0" i="0" u="none" strike="noStrike">
                <a:solidFill>
                  <a:srgbClr val="A1A1AA"/>
                </a:solidFill>
                <a:latin typeface="Arial"/>
              </a:rPr>
              <a:t>Rules by Policy Domain</a:t>
            </a:r>
          </a:p>
        </c:rich>
      </c:tx>
      <c:layout/>
      <c:overlay val="0"/>
    </c:title>
    <c:autoTitleDeleted val="0"/>
    <c:plotArea>
      <c:layout/>
      <c:barChart>
        <c:barDir val="bar"/>
        <c:grouping val="clustered"/>
        <c:varyColors val="0"/>
        <c:ser>
          <c:idx val="0"/>
          <c:order val="0"/>
          <c:tx>
            <c:strRef>
              <c:f>Sheet1!$B$1</c:f>
              <c:strCache>
                <c:ptCount val="1"/>
                <c:pt idx="0">
                  <c:v>Compliance Coverage</c:v>
                </c:pt>
              </c:strCache>
            </c:strRef>
          </c:tx>
          <c:spPr>
            <a:solidFill>
              <a:srgbClr val="FF007A"/>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FF007A"/>
              </a:solidFill>
              <a:effectLst/>
            </c:spPr>
          </c:dPt>
          <c:dPt>
            <c:idx val="1"/>
            <c:invertIfNegative val="0"/>
            <c:bubble3D val="0"/>
            <c:spPr>
              <a:solidFill>
                <a:srgbClr val="FF5C00"/>
              </a:solidFill>
              <a:effectLst/>
            </c:spPr>
          </c:dPt>
          <c:dPt>
            <c:idx val="2"/>
            <c:invertIfNegative val="0"/>
            <c:bubble3D val="0"/>
            <c:spPr>
              <a:solidFill>
                <a:srgbClr val="E5FF00"/>
              </a:solidFill>
              <a:effectLst/>
            </c:spPr>
          </c:dPt>
          <c:dPt>
            <c:idx val="3"/>
            <c:invertIfNegative val="0"/>
            <c:bubble3D val="0"/>
            <c:spPr>
              <a:solidFill>
                <a:srgbClr val="E8A54B"/>
              </a:solidFill>
              <a:effectLst/>
            </c:spPr>
          </c:dPt>
          <c:dPt>
            <c:idx val="4"/>
            <c:invertIfNegative val="0"/>
            <c:bubble3D val="0"/>
            <c:spPr>
              <a:solidFill>
                <a:srgbClr val="1B6CA8"/>
              </a:solidFill>
              <a:effectLst/>
            </c:spPr>
          </c:dPt>
          <c:cat>
            <c:multiLvlStrRef>
              <c:f>Sheet1!$A$2:$A$6</c:f>
              <c:multiLvlStrCache>
                <c:ptCount val="5"/>
                <c:lvl>
                  <c:pt idx="0">
                    <c:v>Security Rules</c:v>
                  </c:pt>
                  <c:pt idx="1">
                    <c:v>Data Residency</c:v>
                  </c:pt>
                  <c:pt idx="2">
                    <c:v>API Contracts</c:v>
                  </c:pt>
                  <c:pt idx="3">
                    <c:v>Architecture ADRs</c:v>
                  </c:pt>
                  <c:pt idx="4">
                    <c:v>PII Handling</c:v>
                  </c:pt>
                </c:lvl>
              </c:multiLvlStrCache>
            </c:multiLvlStrRef>
          </c:cat>
          <c:val>
            <c:numRef>
              <c:f>Sheet1!$B$2:$B$6</c:f>
              <c:numCache>
                <c:formatCode>General</c:formatCode>
                <c:ptCount val="5"/>
                <c:pt idx="0">
                  <c:v>22</c:v>
                </c:pt>
                <c:pt idx="1">
                  <c:v>8</c:v>
                </c:pt>
                <c:pt idx="2">
                  <c:v>12</c:v>
                </c:pt>
                <c:pt idx="3">
                  <c:v>15</c:v>
                </c:pt>
                <c:pt idx="4">
                  <c:v>9</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A1A1A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52525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A1A1A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0A0A0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yourself and the program. Emphasize: this is a production-deployed system, not a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your background, and what drew you to this problem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real cost: rework at PR time costs 4-8x more than fixing at authorship. Quote the Stanford 2025/2026 AI coding survey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elevator pitch. One sentence: it moves the compliance check to the only moment where it's cheap to fix — while the developer is still writing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hexagonal architecture point is key: every IBM service has a local fallback. Set MOCK_MODE=true and the entire stack runs without any cloud credentials. This is why the repo is portfolio-safe after credits expire.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it's a deterministic DAG, not a free-form planner. Compliance checking doesn't need replanning — that would add latency and non-determinism without adding value. The Critic is the most important agent: it's adversarial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service has a real role — nothing is decorative. Point out the IBM Bob + Orchestrate combination specifically: Bob generates the MCP skill, Orchestrate runs it headlessly in CI. That's the architectural differentiator.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demo-able slide. Show the actual IBM Bob session if you can. The key point: from the developer's perspective, Sentinel Spec IS Bob — they see findings in the same panel Bob already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Granite-specific insight: inline schema is more reliable than API-level response_format for structured outputs. The cite-or-downgrade rule is the single most important hallucination defense — a model that must cite a specific chunk ID cannot hallucinate a policy violation.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MOCK_MODE story is important for long-term portfolio preservation. IBM Lite credits will expire — MOCK_MODE means the project still fully runs for every future recruiter or evaluator who clones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SCRIPT: (1) Open agent.html, paste the billing.py snippet, (2) toggle View AI Reasoning to show the pipeline live, (3) show the amber finding card with ADR citation, (4) switch to audit.html and show the governance record. Time: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these are engineering-verified targets from the PRD, not marketing numbers. The &lt;5s latency is validated against the actual compliance engine response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and 2 are complete. The project is deployed and functioning. Phase 3 represents the path to enterprise commercialization.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differentiator: Copilot checks 'does the code work.' Sentinel Spec checks 'is the code allowed.' These are fundamentally different questions, and no general-purpose tool answers the second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learnings are genuine engineering insights, not generic bullet points. Speak to each one from first-hand experience building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GitHub URL and the one-liner: 'Clone it, run docker compose up, you have the full stack in two minutes — no IBM credentials needed.' That's the demo you leave them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007A"/>
          </a:solidFill>
          <a:ln w="12700">
            <a:solidFill>
              <a:srgbClr val="FF007A"/>
            </a:solidFill>
            <a:prstDash val="solid"/>
          </a:ln>
        </p:spPr>
      </p:sp>
      <p:sp>
        <p:nvSpPr>
          <p:cNvPr id="3" name="Shape 1"/>
          <p:cNvSpPr/>
          <p:nvPr/>
        </p:nvSpPr>
        <p:spPr>
          <a:xfrm>
            <a:off x="0" y="5088636"/>
            <a:ext cx="9144000" cy="54864"/>
          </a:xfrm>
          <a:prstGeom prst="rect">
            <a:avLst/>
          </a:prstGeom>
          <a:solidFill>
            <a:srgbClr val="E5FF00"/>
          </a:solidFill>
          <a:ln w="12700">
            <a:solidFill>
              <a:srgbClr val="E5FF00"/>
            </a:solidFill>
            <a:prstDash val="solid"/>
          </a:ln>
        </p:spPr>
      </p:sp>
      <p:sp>
        <p:nvSpPr>
          <p:cNvPr id="4" name="Shape 2"/>
          <p:cNvSpPr/>
          <p:nvPr/>
        </p:nvSpPr>
        <p:spPr>
          <a:xfrm>
            <a:off x="0" y="54864"/>
            <a:ext cx="54864" cy="5033772"/>
          </a:xfrm>
          <a:prstGeom prst="rect">
            <a:avLst/>
          </a:prstGeom>
          <a:solidFill>
            <a:srgbClr val="FF5C00"/>
          </a:solidFill>
          <a:ln w="12700">
            <a:solidFill>
              <a:srgbClr val="FF5C00"/>
            </a:solidFill>
            <a:prstDash val="solid"/>
          </a:ln>
        </p:spPr>
      </p:sp>
      <p:sp>
        <p:nvSpPr>
          <p:cNvPr id="5" name="Shape 3"/>
          <p:cNvSpPr/>
          <p:nvPr/>
        </p:nvSpPr>
        <p:spPr>
          <a:xfrm>
            <a:off x="5029200" y="457200"/>
            <a:ext cx="3840480" cy="4206240"/>
          </a:xfrm>
          <a:prstGeom prst="roundRect">
            <a:avLst>
              <a:gd name="adj" fmla="val 1905"/>
            </a:avLst>
          </a:prstGeom>
          <a:solidFill>
            <a:srgbClr val="0A0A0A"/>
          </a:solidFill>
          <a:ln w="6350">
            <a:solidFill>
              <a:srgbClr val="52525B"/>
            </a:solidFill>
            <a:prstDash val="solid"/>
          </a:ln>
          <a:effectLst>
            <a:outerShdw sx="100000" sy="100000" kx="0" ky="0" algn="bl" rotWithShape="0" blurRad="101600" dist="38100" dir="2700000">
              <a:srgbClr val="000000">
                <a:alpha val="35000"/>
              </a:srgbClr>
            </a:outerShdw>
          </a:effectLst>
        </p:spPr>
      </p:sp>
      <p:sp>
        <p:nvSpPr>
          <p:cNvPr id="6" name="Shape 4"/>
          <p:cNvSpPr/>
          <p:nvPr/>
        </p:nvSpPr>
        <p:spPr>
          <a:xfrm>
            <a:off x="457200" y="365760"/>
            <a:ext cx="2011680" cy="347472"/>
          </a:xfrm>
          <a:prstGeom prst="roundRect">
            <a:avLst>
              <a:gd name="adj" fmla="val 10526"/>
            </a:avLst>
          </a:prstGeom>
          <a:solidFill>
            <a:srgbClr val="FF007A"/>
          </a:solidFill>
          <a:ln w="12700">
            <a:solidFill>
              <a:srgbClr val="FF007A"/>
            </a:solidFill>
            <a:prstDash val="solid"/>
          </a:ln>
        </p:spPr>
      </p:sp>
      <p:sp>
        <p:nvSpPr>
          <p:cNvPr id="7" name="Text 5"/>
          <p:cNvSpPr/>
          <p:nvPr/>
        </p:nvSpPr>
        <p:spPr>
          <a:xfrm>
            <a:off x="457200" y="365760"/>
            <a:ext cx="2011680" cy="347472"/>
          </a:xfrm>
          <a:prstGeom prst="rect">
            <a:avLst/>
          </a:prstGeom>
          <a:noFill/>
          <a:ln/>
        </p:spPr>
        <p:txBody>
          <a:bodyPr wrap="square" lIns="0" tIns="0" rIns="0" bIns="0" rtlCol="0" anchor="ctr"/>
          <a:lstStyle/>
          <a:p>
            <a:pPr algn="ctr" indent="0" marL="0">
              <a:buNone/>
            </a:pPr>
            <a:r>
              <a:rPr lang="en-US" sz="700" b="1" spc="150" kern="0" dirty="0">
                <a:solidFill>
                  <a:srgbClr val="FFFFFF"/>
                </a:solidFill>
              </a:rPr>
              <a:t>AICTE IBM SKILLSBUILD 2026</a:t>
            </a:r>
            <a:endParaRPr lang="en-US" sz="700" dirty="0"/>
          </a:p>
        </p:txBody>
      </p:sp>
      <p:sp>
        <p:nvSpPr>
          <p:cNvPr id="8" name="Text 6"/>
          <p:cNvSpPr/>
          <p:nvPr/>
        </p:nvSpPr>
        <p:spPr>
          <a:xfrm>
            <a:off x="274320" y="868680"/>
            <a:ext cx="4572000" cy="1097280"/>
          </a:xfrm>
          <a:prstGeom prst="rect">
            <a:avLst/>
          </a:prstGeom>
          <a:noFill/>
          <a:ln/>
        </p:spPr>
        <p:txBody>
          <a:bodyPr wrap="square" lIns="0" tIns="0" rIns="0" bIns="0" rtlCol="0" anchor="ctr"/>
          <a:lstStyle/>
          <a:p>
            <a:pPr indent="0" marL="0">
              <a:buNone/>
            </a:pPr>
            <a:r>
              <a:rPr lang="en-US" sz="7200" b="1" spc="-200" kern="0" dirty="0">
                <a:solidFill>
                  <a:srgbClr val="FFFFFF"/>
                </a:solidFill>
                <a:latin typeface="Arial" pitchFamily="34" charset="0"/>
                <a:ea typeface="Arial" pitchFamily="34" charset="-122"/>
                <a:cs typeface="Arial" pitchFamily="34" charset="-120"/>
              </a:rPr>
              <a:t>SENTINEL</a:t>
            </a:r>
            <a:endParaRPr lang="en-US" sz="7200" dirty="0"/>
          </a:p>
        </p:txBody>
      </p:sp>
      <p:sp>
        <p:nvSpPr>
          <p:cNvPr id="9" name="Text 7"/>
          <p:cNvSpPr/>
          <p:nvPr/>
        </p:nvSpPr>
        <p:spPr>
          <a:xfrm>
            <a:off x="274320" y="1783080"/>
            <a:ext cx="4572000" cy="1097280"/>
          </a:xfrm>
          <a:prstGeom prst="rect">
            <a:avLst/>
          </a:prstGeom>
          <a:noFill/>
          <a:ln/>
        </p:spPr>
        <p:txBody>
          <a:bodyPr wrap="square" lIns="0" tIns="0" rIns="0" bIns="0" rtlCol="0" anchor="ctr"/>
          <a:lstStyle/>
          <a:p>
            <a:pPr indent="0" marL="0">
              <a:buNone/>
            </a:pPr>
            <a:r>
              <a:rPr lang="en-US" sz="7200" b="1" spc="-200" kern="0" dirty="0">
                <a:solidFill>
                  <a:srgbClr val="FF007A"/>
                </a:solidFill>
                <a:latin typeface="Arial" pitchFamily="34" charset="0"/>
                <a:ea typeface="Arial" pitchFamily="34" charset="-122"/>
                <a:cs typeface="Arial" pitchFamily="34" charset="-120"/>
              </a:rPr>
              <a:t>SPEC</a:t>
            </a:r>
            <a:endParaRPr lang="en-US" sz="7200" dirty="0"/>
          </a:p>
        </p:txBody>
      </p:sp>
      <p:sp>
        <p:nvSpPr>
          <p:cNvPr id="10" name="Text 8"/>
          <p:cNvSpPr/>
          <p:nvPr/>
        </p:nvSpPr>
        <p:spPr>
          <a:xfrm>
            <a:off x="274320" y="2834640"/>
            <a:ext cx="4572000" cy="411480"/>
          </a:xfrm>
          <a:prstGeom prst="rect">
            <a:avLst/>
          </a:prstGeom>
          <a:noFill/>
          <a:ln/>
        </p:spPr>
        <p:txBody>
          <a:bodyPr wrap="square" lIns="0" tIns="0" rIns="0" bIns="0" rtlCol="0" anchor="ctr"/>
          <a:lstStyle/>
          <a:p>
            <a:pPr indent="0" marL="0">
              <a:buNone/>
            </a:pPr>
            <a:r>
              <a:rPr lang="en-US" sz="1400" i="1" dirty="0">
                <a:solidFill>
                  <a:srgbClr val="A1A1AA"/>
                </a:solidFill>
                <a:latin typeface="Arial" pitchFamily="34" charset="0"/>
                <a:ea typeface="Arial" pitchFamily="34" charset="-122"/>
                <a:cs typeface="Arial" pitchFamily="34" charset="-120"/>
              </a:rPr>
              <a:t>Stop violations before the PR exists.</a:t>
            </a:r>
            <a:endParaRPr lang="en-US" sz="1400" dirty="0"/>
          </a:p>
        </p:txBody>
      </p:sp>
      <p:sp>
        <p:nvSpPr>
          <p:cNvPr id="11" name="Shape 9"/>
          <p:cNvSpPr/>
          <p:nvPr/>
        </p:nvSpPr>
        <p:spPr>
          <a:xfrm>
            <a:off x="274320" y="3337560"/>
            <a:ext cx="4389120" cy="0"/>
          </a:xfrm>
          <a:prstGeom prst="line">
            <a:avLst/>
          </a:prstGeom>
          <a:noFill/>
          <a:ln w="19050">
            <a:solidFill>
              <a:srgbClr val="FF5C00"/>
            </a:solidFill>
            <a:prstDash val="solid"/>
          </a:ln>
        </p:spPr>
      </p:sp>
      <p:sp>
        <p:nvSpPr>
          <p:cNvPr id="12" name="Text 10"/>
          <p:cNvSpPr/>
          <p:nvPr/>
        </p:nvSpPr>
        <p:spPr>
          <a:xfrm>
            <a:off x="274320" y="3474720"/>
            <a:ext cx="4572000" cy="731520"/>
          </a:xfrm>
          <a:prstGeom prst="rect">
            <a:avLst/>
          </a:prstGeom>
          <a:noFill/>
          <a:ln/>
        </p:spPr>
        <p:txBody>
          <a:bodyPr wrap="square" lIns="0" tIns="0" rIns="0" bIns="0" rtlCol="0" anchor="ctr"/>
          <a:lstStyle/>
          <a:p>
            <a:pPr indent="0" marL="0">
              <a:buNone/>
            </a:pPr>
            <a:r>
              <a:rPr lang="en-US" sz="1100" dirty="0">
                <a:solidFill>
                  <a:srgbClr val="A1A1AA"/>
                </a:solidFill>
                <a:latin typeface="Arial" pitchFamily="34" charset="0"/>
                <a:ea typeface="Arial" pitchFamily="34" charset="-122"/>
                <a:cs typeface="Arial" pitchFamily="34" charset="-120"/>
              </a:rPr>
              <a:t>Autonomous Architecture &amp; Compliance</a:t>
            </a:r>
            <a:endParaRPr lang="en-US" sz="1100" dirty="0"/>
          </a:p>
          <a:p>
            <a:pPr indent="0" marL="0">
              <a:buNone/>
            </a:pPr>
            <a:r>
              <a:rPr lang="en-US" sz="1100" dirty="0">
                <a:solidFill>
                  <a:srgbClr val="A1A1AA"/>
                </a:solidFill>
                <a:latin typeface="Arial" pitchFamily="34" charset="0"/>
                <a:ea typeface="Arial" pitchFamily="34" charset="-122"/>
                <a:cs typeface="Arial" pitchFamily="34" charset="-120"/>
              </a:rPr>
              <a:t>Reviewer for the Agentic SDLC</a:t>
            </a:r>
            <a:endParaRPr lang="en-US" sz="1100" dirty="0"/>
          </a:p>
        </p:txBody>
      </p:sp>
      <p:sp>
        <p:nvSpPr>
          <p:cNvPr id="13" name="Text 11"/>
          <p:cNvSpPr/>
          <p:nvPr/>
        </p:nvSpPr>
        <p:spPr>
          <a:xfrm>
            <a:off x="5212080" y="640080"/>
            <a:ext cx="3474720" cy="274320"/>
          </a:xfrm>
          <a:prstGeom prst="rect">
            <a:avLst/>
          </a:prstGeom>
          <a:noFill/>
          <a:ln/>
        </p:spPr>
        <p:txBody>
          <a:bodyPr wrap="square" lIns="0" tIns="0" rIns="0" bIns="0" rtlCol="0" anchor="ctr"/>
          <a:lstStyle/>
          <a:p>
            <a:pPr indent="0" marL="0">
              <a:buNone/>
            </a:pPr>
            <a:r>
              <a:rPr lang="en-US" sz="800" b="1" spc="200" kern="0" dirty="0">
                <a:solidFill>
                  <a:srgbClr val="E5FF00"/>
                </a:solidFill>
                <a:latin typeface="Arial" pitchFamily="34" charset="0"/>
                <a:ea typeface="Arial" pitchFamily="34" charset="-122"/>
                <a:cs typeface="Arial" pitchFamily="34" charset="-120"/>
              </a:rPr>
              <a:t>IBM ECOSYSTEM</a:t>
            </a:r>
            <a:endParaRPr lang="en-US" sz="800" dirty="0"/>
          </a:p>
        </p:txBody>
      </p:sp>
      <p:sp>
        <p:nvSpPr>
          <p:cNvPr id="14" name="Shape 12"/>
          <p:cNvSpPr/>
          <p:nvPr/>
        </p:nvSpPr>
        <p:spPr>
          <a:xfrm>
            <a:off x="5212080" y="1005840"/>
            <a:ext cx="3474720" cy="475488"/>
          </a:xfrm>
          <a:prstGeom prst="roundRect">
            <a:avLst>
              <a:gd name="adj" fmla="val 9615"/>
            </a:avLst>
          </a:prstGeom>
          <a:solidFill>
            <a:srgbClr val="111111"/>
          </a:solidFill>
          <a:ln w="6350">
            <a:solidFill>
              <a:srgbClr val="52525B"/>
            </a:solidFill>
            <a:prstDash val="solid"/>
          </a:ln>
        </p:spPr>
      </p:sp>
      <p:sp>
        <p:nvSpPr>
          <p:cNvPr id="15" name="Shape 13"/>
          <p:cNvSpPr/>
          <p:nvPr/>
        </p:nvSpPr>
        <p:spPr>
          <a:xfrm>
            <a:off x="5212080" y="1005840"/>
            <a:ext cx="45720" cy="475488"/>
          </a:xfrm>
          <a:prstGeom prst="rect">
            <a:avLst/>
          </a:prstGeom>
          <a:solidFill>
            <a:srgbClr val="FF007A"/>
          </a:solidFill>
          <a:ln w="12700">
            <a:solidFill>
              <a:srgbClr val="000000">
                <a:alpha val="0"/>
              </a:srgbClr>
            </a:solidFill>
            <a:prstDash val="solid"/>
          </a:ln>
        </p:spPr>
      </p:sp>
      <p:sp>
        <p:nvSpPr>
          <p:cNvPr id="16" name="Text 14"/>
          <p:cNvSpPr/>
          <p:nvPr/>
        </p:nvSpPr>
        <p:spPr>
          <a:xfrm>
            <a:off x="5376672" y="1042416"/>
            <a:ext cx="3200400" cy="201168"/>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IBM Granite LLM</a:t>
            </a:r>
            <a:endParaRPr lang="en-US" sz="950" dirty="0"/>
          </a:p>
        </p:txBody>
      </p:sp>
      <p:sp>
        <p:nvSpPr>
          <p:cNvPr id="17" name="Text 15"/>
          <p:cNvSpPr/>
          <p:nvPr/>
        </p:nvSpPr>
        <p:spPr>
          <a:xfrm>
            <a:off x="5376672" y="1252728"/>
            <a:ext cx="3200400" cy="164592"/>
          </a:xfrm>
          <a:prstGeom prst="rect">
            <a:avLst/>
          </a:prstGeom>
          <a:noFill/>
          <a:ln/>
        </p:spPr>
        <p:txBody>
          <a:bodyPr wrap="square" lIns="0" tIns="0" rIns="0" bIns="0" rtlCol="0" anchor="ctr"/>
          <a:lstStyle/>
          <a:p>
            <a:pPr indent="0" marL="0">
              <a:buNone/>
            </a:pPr>
            <a:r>
              <a:rPr lang="en-US" sz="800" dirty="0">
                <a:solidFill>
                  <a:srgbClr val="A1A1AA"/>
                </a:solidFill>
                <a:latin typeface="Arial" pitchFamily="34" charset="0"/>
                <a:ea typeface="Arial" pitchFamily="34" charset="-122"/>
                <a:cs typeface="Arial" pitchFamily="34" charset="-120"/>
              </a:rPr>
              <a:t>via watsonx.ai</a:t>
            </a:r>
            <a:endParaRPr lang="en-US" sz="800" dirty="0"/>
          </a:p>
        </p:txBody>
      </p:sp>
      <p:sp>
        <p:nvSpPr>
          <p:cNvPr id="18" name="Shape 16"/>
          <p:cNvSpPr/>
          <p:nvPr/>
        </p:nvSpPr>
        <p:spPr>
          <a:xfrm>
            <a:off x="5212080" y="1600200"/>
            <a:ext cx="3474720" cy="475488"/>
          </a:xfrm>
          <a:prstGeom prst="roundRect">
            <a:avLst>
              <a:gd name="adj" fmla="val 9615"/>
            </a:avLst>
          </a:prstGeom>
          <a:solidFill>
            <a:srgbClr val="111111"/>
          </a:solidFill>
          <a:ln w="6350">
            <a:solidFill>
              <a:srgbClr val="52525B"/>
            </a:solidFill>
            <a:prstDash val="solid"/>
          </a:ln>
        </p:spPr>
      </p:sp>
      <p:sp>
        <p:nvSpPr>
          <p:cNvPr id="19" name="Shape 17"/>
          <p:cNvSpPr/>
          <p:nvPr/>
        </p:nvSpPr>
        <p:spPr>
          <a:xfrm>
            <a:off x="5212080" y="1600200"/>
            <a:ext cx="45720" cy="475488"/>
          </a:xfrm>
          <a:prstGeom prst="rect">
            <a:avLst/>
          </a:prstGeom>
          <a:solidFill>
            <a:srgbClr val="FF5C00"/>
          </a:solidFill>
          <a:ln w="12700">
            <a:solidFill>
              <a:srgbClr val="000000">
                <a:alpha val="0"/>
              </a:srgbClr>
            </a:solidFill>
            <a:prstDash val="solid"/>
          </a:ln>
        </p:spPr>
      </p:sp>
      <p:sp>
        <p:nvSpPr>
          <p:cNvPr id="20" name="Text 18"/>
          <p:cNvSpPr/>
          <p:nvPr/>
        </p:nvSpPr>
        <p:spPr>
          <a:xfrm>
            <a:off x="5376672" y="1636776"/>
            <a:ext cx="3200400" cy="201168"/>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IBM Bob IDE</a:t>
            </a:r>
            <a:endParaRPr lang="en-US" sz="950" dirty="0"/>
          </a:p>
        </p:txBody>
      </p:sp>
      <p:sp>
        <p:nvSpPr>
          <p:cNvPr id="21" name="Text 19"/>
          <p:cNvSpPr/>
          <p:nvPr/>
        </p:nvSpPr>
        <p:spPr>
          <a:xfrm>
            <a:off x="5376672" y="1847088"/>
            <a:ext cx="3200400" cy="164592"/>
          </a:xfrm>
          <a:prstGeom prst="rect">
            <a:avLst/>
          </a:prstGeom>
          <a:noFill/>
          <a:ln/>
        </p:spPr>
        <p:txBody>
          <a:bodyPr wrap="square" lIns="0" tIns="0" rIns="0" bIns="0" rtlCol="0" anchor="ctr"/>
          <a:lstStyle/>
          <a:p>
            <a:pPr indent="0" marL="0">
              <a:buNone/>
            </a:pPr>
            <a:r>
              <a:rPr lang="en-US" sz="800" dirty="0">
                <a:solidFill>
                  <a:srgbClr val="A1A1AA"/>
                </a:solidFill>
                <a:latin typeface="Arial" pitchFamily="34" charset="0"/>
                <a:ea typeface="Arial" pitchFamily="34" charset="-122"/>
                <a:cs typeface="Arial" pitchFamily="34" charset="-120"/>
              </a:rPr>
              <a:t>Native MCP Integration</a:t>
            </a:r>
            <a:endParaRPr lang="en-US" sz="800" dirty="0"/>
          </a:p>
        </p:txBody>
      </p:sp>
      <p:sp>
        <p:nvSpPr>
          <p:cNvPr id="22" name="Shape 20"/>
          <p:cNvSpPr/>
          <p:nvPr/>
        </p:nvSpPr>
        <p:spPr>
          <a:xfrm>
            <a:off x="5212080" y="2194560"/>
            <a:ext cx="3474720" cy="475488"/>
          </a:xfrm>
          <a:prstGeom prst="roundRect">
            <a:avLst>
              <a:gd name="adj" fmla="val 9615"/>
            </a:avLst>
          </a:prstGeom>
          <a:solidFill>
            <a:srgbClr val="111111"/>
          </a:solidFill>
          <a:ln w="6350">
            <a:solidFill>
              <a:srgbClr val="52525B"/>
            </a:solidFill>
            <a:prstDash val="solid"/>
          </a:ln>
        </p:spPr>
      </p:sp>
      <p:sp>
        <p:nvSpPr>
          <p:cNvPr id="23" name="Shape 21"/>
          <p:cNvSpPr/>
          <p:nvPr/>
        </p:nvSpPr>
        <p:spPr>
          <a:xfrm>
            <a:off x="5212080" y="2194560"/>
            <a:ext cx="45720" cy="475488"/>
          </a:xfrm>
          <a:prstGeom prst="rect">
            <a:avLst/>
          </a:prstGeom>
          <a:solidFill>
            <a:srgbClr val="FF007A"/>
          </a:solidFill>
          <a:ln w="12700">
            <a:solidFill>
              <a:srgbClr val="000000">
                <a:alpha val="0"/>
              </a:srgbClr>
            </a:solidFill>
            <a:prstDash val="solid"/>
          </a:ln>
        </p:spPr>
      </p:sp>
      <p:sp>
        <p:nvSpPr>
          <p:cNvPr id="24" name="Text 22"/>
          <p:cNvSpPr/>
          <p:nvPr/>
        </p:nvSpPr>
        <p:spPr>
          <a:xfrm>
            <a:off x="5376672" y="2231136"/>
            <a:ext cx="3200400" cy="201168"/>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watsonx Orchestrate</a:t>
            </a:r>
            <a:endParaRPr lang="en-US" sz="950" dirty="0"/>
          </a:p>
        </p:txBody>
      </p:sp>
      <p:sp>
        <p:nvSpPr>
          <p:cNvPr id="25" name="Text 23"/>
          <p:cNvSpPr/>
          <p:nvPr/>
        </p:nvSpPr>
        <p:spPr>
          <a:xfrm>
            <a:off x="5376672" y="2441448"/>
            <a:ext cx="3200400" cy="164592"/>
          </a:xfrm>
          <a:prstGeom prst="rect">
            <a:avLst/>
          </a:prstGeom>
          <a:noFill/>
          <a:ln/>
        </p:spPr>
        <p:txBody>
          <a:bodyPr wrap="square" lIns="0" tIns="0" rIns="0" bIns="0" rtlCol="0" anchor="ctr"/>
          <a:lstStyle/>
          <a:p>
            <a:pPr indent="0" marL="0">
              <a:buNone/>
            </a:pPr>
            <a:r>
              <a:rPr lang="en-US" sz="800" dirty="0">
                <a:solidFill>
                  <a:srgbClr val="A1A1AA"/>
                </a:solidFill>
                <a:latin typeface="Arial" pitchFamily="34" charset="0"/>
                <a:ea typeface="Arial" pitchFamily="34" charset="-122"/>
                <a:cs typeface="Arial" pitchFamily="34" charset="-120"/>
              </a:rPr>
              <a:t>Agent Control Plane</a:t>
            </a:r>
            <a:endParaRPr lang="en-US" sz="800" dirty="0"/>
          </a:p>
        </p:txBody>
      </p:sp>
      <p:sp>
        <p:nvSpPr>
          <p:cNvPr id="26" name="Shape 24"/>
          <p:cNvSpPr/>
          <p:nvPr/>
        </p:nvSpPr>
        <p:spPr>
          <a:xfrm>
            <a:off x="5212080" y="2788920"/>
            <a:ext cx="3474720" cy="475488"/>
          </a:xfrm>
          <a:prstGeom prst="roundRect">
            <a:avLst>
              <a:gd name="adj" fmla="val 9615"/>
            </a:avLst>
          </a:prstGeom>
          <a:solidFill>
            <a:srgbClr val="111111"/>
          </a:solidFill>
          <a:ln w="6350">
            <a:solidFill>
              <a:srgbClr val="52525B"/>
            </a:solidFill>
            <a:prstDash val="solid"/>
          </a:ln>
        </p:spPr>
      </p:sp>
      <p:sp>
        <p:nvSpPr>
          <p:cNvPr id="27" name="Shape 25"/>
          <p:cNvSpPr/>
          <p:nvPr/>
        </p:nvSpPr>
        <p:spPr>
          <a:xfrm>
            <a:off x="5212080" y="2788920"/>
            <a:ext cx="45720" cy="475488"/>
          </a:xfrm>
          <a:prstGeom prst="rect">
            <a:avLst/>
          </a:prstGeom>
          <a:solidFill>
            <a:srgbClr val="FF5C00"/>
          </a:solidFill>
          <a:ln w="12700">
            <a:solidFill>
              <a:srgbClr val="000000">
                <a:alpha val="0"/>
              </a:srgbClr>
            </a:solidFill>
            <a:prstDash val="solid"/>
          </a:ln>
        </p:spPr>
      </p:sp>
      <p:sp>
        <p:nvSpPr>
          <p:cNvPr id="28" name="Text 26"/>
          <p:cNvSpPr/>
          <p:nvPr/>
        </p:nvSpPr>
        <p:spPr>
          <a:xfrm>
            <a:off x="5376672" y="2825496"/>
            <a:ext cx="3200400" cy="201168"/>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watsonx.governance</a:t>
            </a:r>
            <a:endParaRPr lang="en-US" sz="950" dirty="0"/>
          </a:p>
        </p:txBody>
      </p:sp>
      <p:sp>
        <p:nvSpPr>
          <p:cNvPr id="29" name="Text 27"/>
          <p:cNvSpPr/>
          <p:nvPr/>
        </p:nvSpPr>
        <p:spPr>
          <a:xfrm>
            <a:off x="5376672" y="3035808"/>
            <a:ext cx="3200400" cy="164592"/>
          </a:xfrm>
          <a:prstGeom prst="rect">
            <a:avLst/>
          </a:prstGeom>
          <a:noFill/>
          <a:ln/>
        </p:spPr>
        <p:txBody>
          <a:bodyPr wrap="square" lIns="0" tIns="0" rIns="0" bIns="0" rtlCol="0" anchor="ctr"/>
          <a:lstStyle/>
          <a:p>
            <a:pPr indent="0" marL="0">
              <a:buNone/>
            </a:pPr>
            <a:r>
              <a:rPr lang="en-US" sz="800" dirty="0">
                <a:solidFill>
                  <a:srgbClr val="A1A1AA"/>
                </a:solidFill>
                <a:latin typeface="Arial" pitchFamily="34" charset="0"/>
                <a:ea typeface="Arial" pitchFamily="34" charset="-122"/>
                <a:cs typeface="Arial" pitchFamily="34" charset="-120"/>
              </a:rPr>
              <a:t>Immutable Audit Trail</a:t>
            </a:r>
            <a:endParaRPr lang="en-US" sz="800" dirty="0"/>
          </a:p>
        </p:txBody>
      </p:sp>
      <p:sp>
        <p:nvSpPr>
          <p:cNvPr id="30" name="Shape 28"/>
          <p:cNvSpPr/>
          <p:nvPr/>
        </p:nvSpPr>
        <p:spPr>
          <a:xfrm>
            <a:off x="5212080" y="3383280"/>
            <a:ext cx="3474720" cy="475488"/>
          </a:xfrm>
          <a:prstGeom prst="roundRect">
            <a:avLst>
              <a:gd name="adj" fmla="val 9615"/>
            </a:avLst>
          </a:prstGeom>
          <a:solidFill>
            <a:srgbClr val="111111"/>
          </a:solidFill>
          <a:ln w="6350">
            <a:solidFill>
              <a:srgbClr val="52525B"/>
            </a:solidFill>
            <a:prstDash val="solid"/>
          </a:ln>
        </p:spPr>
      </p:sp>
      <p:sp>
        <p:nvSpPr>
          <p:cNvPr id="31" name="Shape 29"/>
          <p:cNvSpPr/>
          <p:nvPr/>
        </p:nvSpPr>
        <p:spPr>
          <a:xfrm>
            <a:off x="5212080" y="3383280"/>
            <a:ext cx="45720" cy="475488"/>
          </a:xfrm>
          <a:prstGeom prst="rect">
            <a:avLst/>
          </a:prstGeom>
          <a:solidFill>
            <a:srgbClr val="FF007A"/>
          </a:solidFill>
          <a:ln w="12700">
            <a:solidFill>
              <a:srgbClr val="000000">
                <a:alpha val="0"/>
              </a:srgbClr>
            </a:solidFill>
            <a:prstDash val="solid"/>
          </a:ln>
        </p:spPr>
      </p:sp>
      <p:sp>
        <p:nvSpPr>
          <p:cNvPr id="32" name="Text 30"/>
          <p:cNvSpPr/>
          <p:nvPr/>
        </p:nvSpPr>
        <p:spPr>
          <a:xfrm>
            <a:off x="5376672" y="3419856"/>
            <a:ext cx="3200400" cy="201168"/>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IBM Cloud Object Storage</a:t>
            </a:r>
            <a:endParaRPr lang="en-US" sz="950" dirty="0"/>
          </a:p>
        </p:txBody>
      </p:sp>
      <p:sp>
        <p:nvSpPr>
          <p:cNvPr id="33" name="Text 31"/>
          <p:cNvSpPr/>
          <p:nvPr/>
        </p:nvSpPr>
        <p:spPr>
          <a:xfrm>
            <a:off x="5376672" y="3630168"/>
            <a:ext cx="3200400" cy="164592"/>
          </a:xfrm>
          <a:prstGeom prst="rect">
            <a:avLst/>
          </a:prstGeom>
          <a:noFill/>
          <a:ln/>
        </p:spPr>
        <p:txBody>
          <a:bodyPr wrap="square" lIns="0" tIns="0" rIns="0" bIns="0" rtlCol="0" anchor="ctr"/>
          <a:lstStyle/>
          <a:p>
            <a:pPr indent="0" marL="0">
              <a:buNone/>
            </a:pPr>
            <a:r>
              <a:rPr lang="en-US" sz="800" dirty="0">
                <a:solidFill>
                  <a:srgbClr val="A1A1AA"/>
                </a:solidFill>
                <a:latin typeface="Arial" pitchFamily="34" charset="0"/>
                <a:ea typeface="Arial" pitchFamily="34" charset="-122"/>
                <a:cs typeface="Arial" pitchFamily="34" charset="-120"/>
              </a:rPr>
              <a:t>Policy Document Corpus</a:t>
            </a:r>
            <a:endParaRPr lang="en-US" sz="800" dirty="0"/>
          </a:p>
        </p:txBody>
      </p:sp>
      <p:sp>
        <p:nvSpPr>
          <p:cNvPr id="34" name="Text 32"/>
          <p:cNvSpPr/>
          <p:nvPr/>
        </p:nvSpPr>
        <p:spPr>
          <a:xfrm>
            <a:off x="274320" y="4663440"/>
            <a:ext cx="8595360" cy="228600"/>
          </a:xfrm>
          <a:prstGeom prst="rect">
            <a:avLst/>
          </a:prstGeom>
          <a:noFill/>
          <a:ln/>
        </p:spPr>
        <p:txBody>
          <a:bodyPr wrap="square" lIns="0" tIns="0" rIns="0" bIns="0" rtlCol="0" anchor="ctr"/>
          <a:lstStyle/>
          <a:p>
            <a:pPr algn="ctr" indent="0" marL="0">
              <a:buNone/>
            </a:pPr>
            <a:r>
              <a:rPr lang="en-US" sz="800" dirty="0">
                <a:solidFill>
                  <a:srgbClr val="52525B"/>
                </a:solidFill>
                <a:latin typeface="Arial" pitchFamily="34" charset="0"/>
                <a:ea typeface="Arial" pitchFamily="34" charset="-122"/>
                <a:cs typeface="Arial" pitchFamily="34" charset="-120"/>
              </a:rPr>
              <a:t>EduNet Foundation · IBM SkillsBuild University Engagement · Cohort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007A"/>
          </a:solidFill>
          <a:ln w="12700">
            <a:solidFill>
              <a:srgbClr val="FF007A"/>
            </a:solidFill>
            <a:prstDash val="solid"/>
          </a:ln>
        </p:spPr>
      </p:sp>
      <p:sp>
        <p:nvSpPr>
          <p:cNvPr id="3" name="Text 1"/>
          <p:cNvSpPr/>
          <p:nvPr/>
        </p:nvSpPr>
        <p:spPr>
          <a:xfrm>
            <a:off x="457200" y="182880"/>
            <a:ext cx="4572000" cy="320040"/>
          </a:xfrm>
          <a:prstGeom prst="rect">
            <a:avLst/>
          </a:prstGeom>
          <a:noFill/>
          <a:ln/>
        </p:spPr>
        <p:txBody>
          <a:bodyPr wrap="square" lIns="0" tIns="0" rIns="0" bIns="0" rtlCol="0" anchor="ctr"/>
          <a:lstStyle/>
          <a:p>
            <a:pPr indent="0" marL="0">
              <a:buNone/>
            </a:pPr>
            <a:r>
              <a:rPr lang="en-US" sz="800" b="1" spc="200" kern="0" dirty="0">
                <a:solidFill>
                  <a:srgbClr val="FF007A"/>
                </a:solidFill>
                <a:latin typeface="Arial" pitchFamily="34" charset="0"/>
                <a:ea typeface="Arial" pitchFamily="34" charset="-122"/>
                <a:cs typeface="Arial" pitchFamily="34" charset="-120"/>
              </a:rPr>
              <a:t>TEAM &amp; PROGRAM</a:t>
            </a:r>
            <a:endParaRPr lang="en-US" sz="8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About the Builder</a:t>
            </a:r>
            <a:endParaRPr lang="en-US" sz="2800" dirty="0"/>
          </a:p>
        </p:txBody>
      </p:sp>
      <p:sp>
        <p:nvSpPr>
          <p:cNvPr id="5" name="Shape 3"/>
          <p:cNvSpPr/>
          <p:nvPr/>
        </p:nvSpPr>
        <p:spPr>
          <a:xfrm>
            <a:off x="457200" y="1097280"/>
            <a:ext cx="8229600" cy="0"/>
          </a:xfrm>
          <a:prstGeom prst="line">
            <a:avLst/>
          </a:prstGeom>
          <a:noFill/>
          <a:ln w="6350">
            <a:solidFill>
              <a:srgbClr val="52525B"/>
            </a:solidFill>
            <a:prstDash val="solid"/>
          </a:ln>
        </p:spPr>
      </p:sp>
      <p:sp>
        <p:nvSpPr>
          <p:cNvPr id="6" name="Shape 4"/>
          <p:cNvSpPr/>
          <p:nvPr/>
        </p:nvSpPr>
        <p:spPr>
          <a:xfrm>
            <a:off x="457200" y="1280160"/>
            <a:ext cx="3840480" cy="3291840"/>
          </a:xfrm>
          <a:prstGeom prst="roundRect">
            <a:avLst>
              <a:gd name="adj" fmla="val 2222"/>
            </a:avLst>
          </a:prstGeom>
          <a:solidFill>
            <a:srgbClr val="0A0A0A"/>
          </a:solidFill>
          <a:ln w="6350">
            <a:solidFill>
              <a:srgbClr val="52525B"/>
            </a:solidFill>
            <a:prstDash val="solid"/>
          </a:ln>
          <a:effectLst>
            <a:outerShdw sx="100000" sy="100000" kx="0" ky="0" algn="bl" rotWithShape="0" blurRad="101600" dist="38100" dir="2700000">
              <a:srgbClr val="000000">
                <a:alpha val="35000"/>
              </a:srgbClr>
            </a:outerShdw>
          </a:effectLst>
        </p:spPr>
      </p:sp>
      <p:sp>
        <p:nvSpPr>
          <p:cNvPr id="7" name="Text 5"/>
          <p:cNvSpPr/>
          <p:nvPr/>
        </p:nvSpPr>
        <p:spPr>
          <a:xfrm>
            <a:off x="640080" y="1463040"/>
            <a:ext cx="3474720" cy="256032"/>
          </a:xfrm>
          <a:prstGeom prst="rect">
            <a:avLst/>
          </a:prstGeom>
          <a:noFill/>
          <a:ln/>
        </p:spPr>
        <p:txBody>
          <a:bodyPr wrap="square" lIns="0" tIns="0" rIns="0" bIns="0" rtlCol="0" anchor="ctr"/>
          <a:lstStyle/>
          <a:p>
            <a:pPr indent="0" marL="0">
              <a:buNone/>
            </a:pPr>
            <a:r>
              <a:rPr lang="en-US" sz="800" b="1" spc="150" kern="0" dirty="0">
                <a:solidFill>
                  <a:srgbClr val="E5FF00"/>
                </a:solidFill>
                <a:latin typeface="Arial" pitchFamily="34" charset="0"/>
                <a:ea typeface="Arial" pitchFamily="34" charset="-122"/>
                <a:cs typeface="Arial" pitchFamily="34" charset="-120"/>
              </a:rPr>
              <a:t>PROGRAM DETAILS</a:t>
            </a:r>
            <a:endParaRPr lang="en-US" sz="800" dirty="0"/>
          </a:p>
        </p:txBody>
      </p:sp>
      <p:sp>
        <p:nvSpPr>
          <p:cNvPr id="8" name="Text 6"/>
          <p:cNvSpPr/>
          <p:nvPr/>
        </p:nvSpPr>
        <p:spPr>
          <a:xfrm>
            <a:off x="640080" y="1828800"/>
            <a:ext cx="1371600" cy="201168"/>
          </a:xfrm>
          <a:prstGeom prst="rect">
            <a:avLst/>
          </a:prstGeom>
          <a:noFill/>
          <a:ln/>
        </p:spPr>
        <p:txBody>
          <a:bodyPr wrap="square" lIns="0" tIns="0" rIns="0" bIns="0" rtlCol="0" anchor="ctr"/>
          <a:lstStyle/>
          <a:p>
            <a:pPr indent="0" marL="0">
              <a:buNone/>
            </a:pPr>
            <a:r>
              <a:rPr lang="en-US" sz="750" b="1" dirty="0">
                <a:solidFill>
                  <a:srgbClr val="A1A1AA"/>
                </a:solidFill>
                <a:latin typeface="Arial" pitchFamily="34" charset="0"/>
                <a:ea typeface="Arial" pitchFamily="34" charset="-122"/>
                <a:cs typeface="Arial" pitchFamily="34" charset="-120"/>
              </a:rPr>
              <a:t>PROGRAM</a:t>
            </a:r>
            <a:endParaRPr lang="en-US" sz="750" dirty="0"/>
          </a:p>
        </p:txBody>
      </p:sp>
      <p:sp>
        <p:nvSpPr>
          <p:cNvPr id="9" name="Text 7"/>
          <p:cNvSpPr/>
          <p:nvPr/>
        </p:nvSpPr>
        <p:spPr>
          <a:xfrm>
            <a:off x="640080" y="2029968"/>
            <a:ext cx="3474720" cy="201168"/>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AICTE IBM SkillsBuild 2026</a:t>
            </a:r>
            <a:endParaRPr lang="en-US" sz="1000" dirty="0"/>
          </a:p>
        </p:txBody>
      </p:sp>
      <p:sp>
        <p:nvSpPr>
          <p:cNvPr id="10" name="Text 8"/>
          <p:cNvSpPr/>
          <p:nvPr/>
        </p:nvSpPr>
        <p:spPr>
          <a:xfrm>
            <a:off x="640080" y="2304288"/>
            <a:ext cx="1371600" cy="201168"/>
          </a:xfrm>
          <a:prstGeom prst="rect">
            <a:avLst/>
          </a:prstGeom>
          <a:noFill/>
          <a:ln/>
        </p:spPr>
        <p:txBody>
          <a:bodyPr wrap="square" lIns="0" tIns="0" rIns="0" bIns="0" rtlCol="0" anchor="ctr"/>
          <a:lstStyle/>
          <a:p>
            <a:pPr indent="0" marL="0">
              <a:buNone/>
            </a:pPr>
            <a:r>
              <a:rPr lang="en-US" sz="750" b="1" dirty="0">
                <a:solidFill>
                  <a:srgbClr val="A1A1AA"/>
                </a:solidFill>
                <a:latin typeface="Arial" pitchFamily="34" charset="0"/>
                <a:ea typeface="Arial" pitchFamily="34" charset="-122"/>
                <a:cs typeface="Arial" pitchFamily="34" charset="-120"/>
              </a:rPr>
              <a:t>PARTNER</a:t>
            </a:r>
            <a:endParaRPr lang="en-US" sz="750" dirty="0"/>
          </a:p>
        </p:txBody>
      </p:sp>
      <p:sp>
        <p:nvSpPr>
          <p:cNvPr id="11" name="Text 9"/>
          <p:cNvSpPr/>
          <p:nvPr/>
        </p:nvSpPr>
        <p:spPr>
          <a:xfrm>
            <a:off x="640080" y="2505456"/>
            <a:ext cx="3474720" cy="201168"/>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EduNet Foundation</a:t>
            </a:r>
            <a:endParaRPr lang="en-US" sz="1000" dirty="0"/>
          </a:p>
        </p:txBody>
      </p:sp>
      <p:sp>
        <p:nvSpPr>
          <p:cNvPr id="12" name="Text 10"/>
          <p:cNvSpPr/>
          <p:nvPr/>
        </p:nvSpPr>
        <p:spPr>
          <a:xfrm>
            <a:off x="640080" y="2779776"/>
            <a:ext cx="1371600" cy="201168"/>
          </a:xfrm>
          <a:prstGeom prst="rect">
            <a:avLst/>
          </a:prstGeom>
          <a:noFill/>
          <a:ln/>
        </p:spPr>
        <p:txBody>
          <a:bodyPr wrap="square" lIns="0" tIns="0" rIns="0" bIns="0" rtlCol="0" anchor="ctr"/>
          <a:lstStyle/>
          <a:p>
            <a:pPr indent="0" marL="0">
              <a:buNone/>
            </a:pPr>
            <a:r>
              <a:rPr lang="en-US" sz="750" b="1" dirty="0">
                <a:solidFill>
                  <a:srgbClr val="A1A1AA"/>
                </a:solidFill>
                <a:latin typeface="Arial" pitchFamily="34" charset="0"/>
                <a:ea typeface="Arial" pitchFamily="34" charset="-122"/>
                <a:cs typeface="Arial" pitchFamily="34" charset="-120"/>
              </a:rPr>
              <a:t>DURATION</a:t>
            </a:r>
            <a:endParaRPr lang="en-US" sz="750" dirty="0"/>
          </a:p>
        </p:txBody>
      </p:sp>
      <p:sp>
        <p:nvSpPr>
          <p:cNvPr id="13" name="Text 11"/>
          <p:cNvSpPr/>
          <p:nvPr/>
        </p:nvSpPr>
        <p:spPr>
          <a:xfrm>
            <a:off x="640080" y="2980944"/>
            <a:ext cx="3474720" cy="201168"/>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4 Weeks (June–July 2026)</a:t>
            </a:r>
            <a:endParaRPr lang="en-US" sz="1000" dirty="0"/>
          </a:p>
        </p:txBody>
      </p:sp>
      <p:sp>
        <p:nvSpPr>
          <p:cNvPr id="14" name="Text 12"/>
          <p:cNvSpPr/>
          <p:nvPr/>
        </p:nvSpPr>
        <p:spPr>
          <a:xfrm>
            <a:off x="640080" y="3255264"/>
            <a:ext cx="1371600" cy="201168"/>
          </a:xfrm>
          <a:prstGeom prst="rect">
            <a:avLst/>
          </a:prstGeom>
          <a:noFill/>
          <a:ln/>
        </p:spPr>
        <p:txBody>
          <a:bodyPr wrap="square" lIns="0" tIns="0" rIns="0" bIns="0" rtlCol="0" anchor="ctr"/>
          <a:lstStyle/>
          <a:p>
            <a:pPr indent="0" marL="0">
              <a:buNone/>
            </a:pPr>
            <a:r>
              <a:rPr lang="en-US" sz="750" b="1" dirty="0">
                <a:solidFill>
                  <a:srgbClr val="A1A1AA"/>
                </a:solidFill>
                <a:latin typeface="Arial" pitchFamily="34" charset="0"/>
                <a:ea typeface="Arial" pitchFamily="34" charset="-122"/>
                <a:cs typeface="Arial" pitchFamily="34" charset="-120"/>
              </a:rPr>
              <a:t>TRACK</a:t>
            </a:r>
            <a:endParaRPr lang="en-US" sz="750" dirty="0"/>
          </a:p>
        </p:txBody>
      </p:sp>
      <p:sp>
        <p:nvSpPr>
          <p:cNvPr id="15" name="Text 13"/>
          <p:cNvSpPr/>
          <p:nvPr/>
        </p:nvSpPr>
        <p:spPr>
          <a:xfrm>
            <a:off x="640080" y="3456432"/>
            <a:ext cx="3474720" cy="201168"/>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Agentic AI &amp; IBM Ecosystem</a:t>
            </a:r>
            <a:endParaRPr lang="en-US" sz="1000" dirty="0"/>
          </a:p>
        </p:txBody>
      </p:sp>
      <p:sp>
        <p:nvSpPr>
          <p:cNvPr id="16" name="Text 14"/>
          <p:cNvSpPr/>
          <p:nvPr/>
        </p:nvSpPr>
        <p:spPr>
          <a:xfrm>
            <a:off x="640080" y="3730752"/>
            <a:ext cx="1371600" cy="201168"/>
          </a:xfrm>
          <a:prstGeom prst="rect">
            <a:avLst/>
          </a:prstGeom>
          <a:noFill/>
          <a:ln/>
        </p:spPr>
        <p:txBody>
          <a:bodyPr wrap="square" lIns="0" tIns="0" rIns="0" bIns="0" rtlCol="0" anchor="ctr"/>
          <a:lstStyle/>
          <a:p>
            <a:pPr indent="0" marL="0">
              <a:buNone/>
            </a:pPr>
            <a:r>
              <a:rPr lang="en-US" sz="750" b="1" dirty="0">
                <a:solidFill>
                  <a:srgbClr val="A1A1AA"/>
                </a:solidFill>
                <a:latin typeface="Arial" pitchFamily="34" charset="0"/>
                <a:ea typeface="Arial" pitchFamily="34" charset="-122"/>
                <a:cs typeface="Arial" pitchFamily="34" charset="-120"/>
              </a:rPr>
              <a:t>MENTORSHIP</a:t>
            </a:r>
            <a:endParaRPr lang="en-US" sz="750" dirty="0"/>
          </a:p>
        </p:txBody>
      </p:sp>
      <p:sp>
        <p:nvSpPr>
          <p:cNvPr id="17" name="Text 15"/>
          <p:cNvSpPr/>
          <p:nvPr/>
        </p:nvSpPr>
        <p:spPr>
          <a:xfrm>
            <a:off x="640080" y="3931920"/>
            <a:ext cx="3474720" cy="201168"/>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Mentor-Led Sessions</a:t>
            </a:r>
            <a:endParaRPr lang="en-US" sz="1000" dirty="0"/>
          </a:p>
        </p:txBody>
      </p:sp>
      <p:sp>
        <p:nvSpPr>
          <p:cNvPr id="18" name="Shape 16"/>
          <p:cNvSpPr/>
          <p:nvPr/>
        </p:nvSpPr>
        <p:spPr>
          <a:xfrm>
            <a:off x="4846320" y="1280160"/>
            <a:ext cx="3840480" cy="3291840"/>
          </a:xfrm>
          <a:prstGeom prst="roundRect">
            <a:avLst>
              <a:gd name="adj" fmla="val 2222"/>
            </a:avLst>
          </a:prstGeom>
          <a:solidFill>
            <a:srgbClr val="0A0A0A"/>
          </a:solidFill>
          <a:ln w="6350">
            <a:solidFill>
              <a:srgbClr val="52525B"/>
            </a:solidFill>
            <a:prstDash val="solid"/>
          </a:ln>
          <a:effectLst>
            <a:outerShdw sx="100000" sy="100000" kx="0" ky="0" algn="bl" rotWithShape="0" blurRad="101600" dist="38100" dir="2700000">
              <a:srgbClr val="000000">
                <a:alpha val="35000"/>
              </a:srgbClr>
            </a:outerShdw>
          </a:effectLst>
        </p:spPr>
      </p:sp>
      <p:sp>
        <p:nvSpPr>
          <p:cNvPr id="19" name="Text 17"/>
          <p:cNvSpPr/>
          <p:nvPr/>
        </p:nvSpPr>
        <p:spPr>
          <a:xfrm>
            <a:off x="5029200" y="1463040"/>
            <a:ext cx="3474720" cy="256032"/>
          </a:xfrm>
          <a:prstGeom prst="rect">
            <a:avLst/>
          </a:prstGeom>
          <a:noFill/>
          <a:ln/>
        </p:spPr>
        <p:txBody>
          <a:bodyPr wrap="square" lIns="0" tIns="0" rIns="0" bIns="0" rtlCol="0" anchor="ctr"/>
          <a:lstStyle/>
          <a:p>
            <a:pPr indent="0" marL="0">
              <a:buNone/>
            </a:pPr>
            <a:r>
              <a:rPr lang="en-US" sz="800" b="1" spc="150" kern="0" dirty="0">
                <a:solidFill>
                  <a:srgbClr val="FF5C00"/>
                </a:solidFill>
                <a:latin typeface="Arial" pitchFamily="34" charset="0"/>
                <a:ea typeface="Arial" pitchFamily="34" charset="-122"/>
                <a:cs typeface="Arial" pitchFamily="34" charset="-120"/>
              </a:rPr>
              <a:t>TECH STACK USED</a:t>
            </a:r>
            <a:endParaRPr lang="en-US" sz="800" dirty="0"/>
          </a:p>
        </p:txBody>
      </p:sp>
      <p:sp>
        <p:nvSpPr>
          <p:cNvPr id="20" name="Shape 18"/>
          <p:cNvSpPr/>
          <p:nvPr/>
        </p:nvSpPr>
        <p:spPr>
          <a:xfrm>
            <a:off x="5029200" y="1810512"/>
            <a:ext cx="3474720" cy="384048"/>
          </a:xfrm>
          <a:prstGeom prst="roundRect">
            <a:avLst>
              <a:gd name="adj" fmla="val 9524"/>
            </a:avLst>
          </a:prstGeom>
          <a:solidFill>
            <a:srgbClr val="111111"/>
          </a:solidFill>
          <a:ln w="3810">
            <a:solidFill>
              <a:srgbClr val="52525B"/>
            </a:solidFill>
            <a:prstDash val="solid"/>
          </a:ln>
        </p:spPr>
      </p:sp>
      <p:sp>
        <p:nvSpPr>
          <p:cNvPr id="21" name="Text 19"/>
          <p:cNvSpPr/>
          <p:nvPr/>
        </p:nvSpPr>
        <p:spPr>
          <a:xfrm>
            <a:off x="5166360" y="1828800"/>
            <a:ext cx="2560320"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Python + FastAPI</a:t>
            </a:r>
            <a:endParaRPr lang="en-US" sz="900" dirty="0"/>
          </a:p>
        </p:txBody>
      </p:sp>
      <p:sp>
        <p:nvSpPr>
          <p:cNvPr id="22" name="Text 20"/>
          <p:cNvSpPr/>
          <p:nvPr/>
        </p:nvSpPr>
        <p:spPr>
          <a:xfrm>
            <a:off x="5166360" y="2011680"/>
            <a:ext cx="3200400" cy="164592"/>
          </a:xfrm>
          <a:prstGeom prst="rect">
            <a:avLst/>
          </a:prstGeom>
          <a:noFill/>
          <a:ln/>
        </p:spPr>
        <p:txBody>
          <a:bodyPr wrap="square" lIns="0" tIns="0" rIns="0" bIns="0" rtlCol="0" anchor="ctr"/>
          <a:lstStyle/>
          <a:p>
            <a:pPr indent="0" marL="0">
              <a:buNone/>
            </a:pPr>
            <a:r>
              <a:rPr lang="en-US" sz="750" dirty="0">
                <a:solidFill>
                  <a:srgbClr val="A1A1AA"/>
                </a:solidFill>
                <a:latin typeface="Arial" pitchFamily="34" charset="0"/>
                <a:ea typeface="Arial" pitchFamily="34" charset="-122"/>
                <a:cs typeface="Arial" pitchFamily="34" charset="-120"/>
              </a:rPr>
              <a:t>Compliance Engine</a:t>
            </a:r>
            <a:endParaRPr lang="en-US" sz="750" dirty="0"/>
          </a:p>
        </p:txBody>
      </p:sp>
      <p:sp>
        <p:nvSpPr>
          <p:cNvPr id="23" name="Shape 21"/>
          <p:cNvSpPr/>
          <p:nvPr/>
        </p:nvSpPr>
        <p:spPr>
          <a:xfrm>
            <a:off x="5029200" y="2267712"/>
            <a:ext cx="3474720" cy="384048"/>
          </a:xfrm>
          <a:prstGeom prst="roundRect">
            <a:avLst>
              <a:gd name="adj" fmla="val 9524"/>
            </a:avLst>
          </a:prstGeom>
          <a:solidFill>
            <a:srgbClr val="111111"/>
          </a:solidFill>
          <a:ln w="3810">
            <a:solidFill>
              <a:srgbClr val="52525B"/>
            </a:solidFill>
            <a:prstDash val="solid"/>
          </a:ln>
        </p:spPr>
      </p:sp>
      <p:sp>
        <p:nvSpPr>
          <p:cNvPr id="24" name="Text 22"/>
          <p:cNvSpPr/>
          <p:nvPr/>
        </p:nvSpPr>
        <p:spPr>
          <a:xfrm>
            <a:off x="5166360" y="2286000"/>
            <a:ext cx="2560320"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Node.js + Express</a:t>
            </a:r>
            <a:endParaRPr lang="en-US" sz="900" dirty="0"/>
          </a:p>
        </p:txBody>
      </p:sp>
      <p:sp>
        <p:nvSpPr>
          <p:cNvPr id="25" name="Text 23"/>
          <p:cNvSpPr/>
          <p:nvPr/>
        </p:nvSpPr>
        <p:spPr>
          <a:xfrm>
            <a:off x="5166360" y="2468880"/>
            <a:ext cx="3200400" cy="164592"/>
          </a:xfrm>
          <a:prstGeom prst="rect">
            <a:avLst/>
          </a:prstGeom>
          <a:noFill/>
          <a:ln/>
        </p:spPr>
        <p:txBody>
          <a:bodyPr wrap="square" lIns="0" tIns="0" rIns="0" bIns="0" rtlCol="0" anchor="ctr"/>
          <a:lstStyle/>
          <a:p>
            <a:pPr indent="0" marL="0">
              <a:buNone/>
            </a:pPr>
            <a:r>
              <a:rPr lang="en-US" sz="750" dirty="0">
                <a:solidFill>
                  <a:srgbClr val="A1A1AA"/>
                </a:solidFill>
                <a:latin typeface="Arial" pitchFamily="34" charset="0"/>
                <a:ea typeface="Arial" pitchFamily="34" charset="-122"/>
                <a:cs typeface="Arial" pitchFamily="34" charset="-120"/>
              </a:rPr>
              <a:t>Auth &amp; Session Service</a:t>
            </a:r>
            <a:endParaRPr lang="en-US" sz="750" dirty="0"/>
          </a:p>
        </p:txBody>
      </p:sp>
      <p:sp>
        <p:nvSpPr>
          <p:cNvPr id="26" name="Shape 24"/>
          <p:cNvSpPr/>
          <p:nvPr/>
        </p:nvSpPr>
        <p:spPr>
          <a:xfrm>
            <a:off x="5029200" y="2724912"/>
            <a:ext cx="3474720" cy="384048"/>
          </a:xfrm>
          <a:prstGeom prst="roundRect">
            <a:avLst>
              <a:gd name="adj" fmla="val 9524"/>
            </a:avLst>
          </a:prstGeom>
          <a:solidFill>
            <a:srgbClr val="111111"/>
          </a:solidFill>
          <a:ln w="3810">
            <a:solidFill>
              <a:srgbClr val="52525B"/>
            </a:solidFill>
            <a:prstDash val="solid"/>
          </a:ln>
        </p:spPr>
      </p:sp>
      <p:sp>
        <p:nvSpPr>
          <p:cNvPr id="27" name="Text 25"/>
          <p:cNvSpPr/>
          <p:nvPr/>
        </p:nvSpPr>
        <p:spPr>
          <a:xfrm>
            <a:off x="5166360" y="2743200"/>
            <a:ext cx="2560320"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Next.js 16 + TypeScript</a:t>
            </a:r>
            <a:endParaRPr lang="en-US" sz="900" dirty="0"/>
          </a:p>
        </p:txBody>
      </p:sp>
      <p:sp>
        <p:nvSpPr>
          <p:cNvPr id="28" name="Text 26"/>
          <p:cNvSpPr/>
          <p:nvPr/>
        </p:nvSpPr>
        <p:spPr>
          <a:xfrm>
            <a:off x="5166360" y="2926080"/>
            <a:ext cx="3200400" cy="164592"/>
          </a:xfrm>
          <a:prstGeom prst="rect">
            <a:avLst/>
          </a:prstGeom>
          <a:noFill/>
          <a:ln/>
        </p:spPr>
        <p:txBody>
          <a:bodyPr wrap="square" lIns="0" tIns="0" rIns="0" bIns="0" rtlCol="0" anchor="ctr"/>
          <a:lstStyle/>
          <a:p>
            <a:pPr indent="0" marL="0">
              <a:buNone/>
            </a:pPr>
            <a:r>
              <a:rPr lang="en-US" sz="750" dirty="0">
                <a:solidFill>
                  <a:srgbClr val="A1A1AA"/>
                </a:solidFill>
                <a:latin typeface="Arial" pitchFamily="34" charset="0"/>
                <a:ea typeface="Arial" pitchFamily="34" charset="-122"/>
                <a:cs typeface="Arial" pitchFamily="34" charset="-120"/>
              </a:rPr>
              <a:t>Frontend Application</a:t>
            </a:r>
            <a:endParaRPr lang="en-US" sz="750" dirty="0"/>
          </a:p>
        </p:txBody>
      </p:sp>
      <p:sp>
        <p:nvSpPr>
          <p:cNvPr id="29" name="Shape 27"/>
          <p:cNvSpPr/>
          <p:nvPr/>
        </p:nvSpPr>
        <p:spPr>
          <a:xfrm>
            <a:off x="5029200" y="3182112"/>
            <a:ext cx="3474720" cy="384048"/>
          </a:xfrm>
          <a:prstGeom prst="roundRect">
            <a:avLst>
              <a:gd name="adj" fmla="val 9524"/>
            </a:avLst>
          </a:prstGeom>
          <a:solidFill>
            <a:srgbClr val="111111"/>
          </a:solidFill>
          <a:ln w="3810">
            <a:solidFill>
              <a:srgbClr val="52525B"/>
            </a:solidFill>
            <a:prstDash val="solid"/>
          </a:ln>
        </p:spPr>
      </p:sp>
      <p:sp>
        <p:nvSpPr>
          <p:cNvPr id="30" name="Text 28"/>
          <p:cNvSpPr/>
          <p:nvPr/>
        </p:nvSpPr>
        <p:spPr>
          <a:xfrm>
            <a:off x="5166360" y="3200400"/>
            <a:ext cx="2560320"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Tailwind CSS + Framer Motion</a:t>
            </a:r>
            <a:endParaRPr lang="en-US" sz="900" dirty="0"/>
          </a:p>
        </p:txBody>
      </p:sp>
      <p:sp>
        <p:nvSpPr>
          <p:cNvPr id="31" name="Text 29"/>
          <p:cNvSpPr/>
          <p:nvPr/>
        </p:nvSpPr>
        <p:spPr>
          <a:xfrm>
            <a:off x="5166360" y="3383280"/>
            <a:ext cx="3200400" cy="164592"/>
          </a:xfrm>
          <a:prstGeom prst="rect">
            <a:avLst/>
          </a:prstGeom>
          <a:noFill/>
          <a:ln/>
        </p:spPr>
        <p:txBody>
          <a:bodyPr wrap="square" lIns="0" tIns="0" rIns="0" bIns="0" rtlCol="0" anchor="ctr"/>
          <a:lstStyle/>
          <a:p>
            <a:pPr indent="0" marL="0">
              <a:buNone/>
            </a:pPr>
            <a:r>
              <a:rPr lang="en-US" sz="750" dirty="0">
                <a:solidFill>
                  <a:srgbClr val="A1A1AA"/>
                </a:solidFill>
                <a:latin typeface="Arial" pitchFamily="34" charset="0"/>
                <a:ea typeface="Arial" pitchFamily="34" charset="-122"/>
                <a:cs typeface="Arial" pitchFamily="34" charset="-120"/>
              </a:rPr>
              <a:t>UI &amp; Animations</a:t>
            </a:r>
            <a:endParaRPr lang="en-US" sz="750" dirty="0"/>
          </a:p>
        </p:txBody>
      </p:sp>
      <p:sp>
        <p:nvSpPr>
          <p:cNvPr id="32" name="Shape 30"/>
          <p:cNvSpPr/>
          <p:nvPr/>
        </p:nvSpPr>
        <p:spPr>
          <a:xfrm>
            <a:off x="5029200" y="3639312"/>
            <a:ext cx="3474720" cy="384048"/>
          </a:xfrm>
          <a:prstGeom prst="roundRect">
            <a:avLst>
              <a:gd name="adj" fmla="val 9524"/>
            </a:avLst>
          </a:prstGeom>
          <a:solidFill>
            <a:srgbClr val="111111"/>
          </a:solidFill>
          <a:ln w="3810">
            <a:solidFill>
              <a:srgbClr val="52525B"/>
            </a:solidFill>
            <a:prstDash val="solid"/>
          </a:ln>
        </p:spPr>
      </p:sp>
      <p:sp>
        <p:nvSpPr>
          <p:cNvPr id="33" name="Text 31"/>
          <p:cNvSpPr/>
          <p:nvPr/>
        </p:nvSpPr>
        <p:spPr>
          <a:xfrm>
            <a:off x="5166360" y="3657600"/>
            <a:ext cx="2560320"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PostgreSQL + pgvector</a:t>
            </a:r>
            <a:endParaRPr lang="en-US" sz="900" dirty="0"/>
          </a:p>
        </p:txBody>
      </p:sp>
      <p:sp>
        <p:nvSpPr>
          <p:cNvPr id="34" name="Text 32"/>
          <p:cNvSpPr/>
          <p:nvPr/>
        </p:nvSpPr>
        <p:spPr>
          <a:xfrm>
            <a:off x="5166360" y="3840480"/>
            <a:ext cx="3200400" cy="164592"/>
          </a:xfrm>
          <a:prstGeom prst="rect">
            <a:avLst/>
          </a:prstGeom>
          <a:noFill/>
          <a:ln/>
        </p:spPr>
        <p:txBody>
          <a:bodyPr wrap="square" lIns="0" tIns="0" rIns="0" bIns="0" rtlCol="0" anchor="ctr"/>
          <a:lstStyle/>
          <a:p>
            <a:pPr indent="0" marL="0">
              <a:buNone/>
            </a:pPr>
            <a:r>
              <a:rPr lang="en-US" sz="750" dirty="0">
                <a:solidFill>
                  <a:srgbClr val="A1A1AA"/>
                </a:solidFill>
                <a:latin typeface="Arial" pitchFamily="34" charset="0"/>
                <a:ea typeface="Arial" pitchFamily="34" charset="-122"/>
                <a:cs typeface="Arial" pitchFamily="34" charset="-120"/>
              </a:rPr>
              <a:t>Vector Store (MOCK_MODE)</a:t>
            </a:r>
            <a:endParaRPr lang="en-US" sz="750" dirty="0"/>
          </a:p>
        </p:txBody>
      </p:sp>
      <p:sp>
        <p:nvSpPr>
          <p:cNvPr id="35" name="Shape 33"/>
          <p:cNvSpPr/>
          <p:nvPr/>
        </p:nvSpPr>
        <p:spPr>
          <a:xfrm>
            <a:off x="5029200" y="4096512"/>
            <a:ext cx="3474720" cy="384048"/>
          </a:xfrm>
          <a:prstGeom prst="roundRect">
            <a:avLst>
              <a:gd name="adj" fmla="val 9524"/>
            </a:avLst>
          </a:prstGeom>
          <a:solidFill>
            <a:srgbClr val="111111"/>
          </a:solidFill>
          <a:ln w="3810">
            <a:solidFill>
              <a:srgbClr val="52525B"/>
            </a:solidFill>
            <a:prstDash val="solid"/>
          </a:ln>
        </p:spPr>
      </p:sp>
      <p:sp>
        <p:nvSpPr>
          <p:cNvPr id="36" name="Text 34"/>
          <p:cNvSpPr/>
          <p:nvPr/>
        </p:nvSpPr>
        <p:spPr>
          <a:xfrm>
            <a:off x="5166360" y="4114800"/>
            <a:ext cx="2560320"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Zustand + React Hook Form</a:t>
            </a:r>
            <a:endParaRPr lang="en-US" sz="900" dirty="0"/>
          </a:p>
        </p:txBody>
      </p:sp>
      <p:sp>
        <p:nvSpPr>
          <p:cNvPr id="37" name="Text 35"/>
          <p:cNvSpPr/>
          <p:nvPr/>
        </p:nvSpPr>
        <p:spPr>
          <a:xfrm>
            <a:off x="5166360" y="4297680"/>
            <a:ext cx="3200400" cy="164592"/>
          </a:xfrm>
          <a:prstGeom prst="rect">
            <a:avLst/>
          </a:prstGeom>
          <a:noFill/>
          <a:ln/>
        </p:spPr>
        <p:txBody>
          <a:bodyPr wrap="square" lIns="0" tIns="0" rIns="0" bIns="0" rtlCol="0" anchor="ctr"/>
          <a:lstStyle/>
          <a:p>
            <a:pPr indent="0" marL="0">
              <a:buNone/>
            </a:pPr>
            <a:r>
              <a:rPr lang="en-US" sz="750" dirty="0">
                <a:solidFill>
                  <a:srgbClr val="A1A1AA"/>
                </a:solidFill>
                <a:latin typeface="Arial" pitchFamily="34" charset="0"/>
                <a:ea typeface="Arial" pitchFamily="34" charset="-122"/>
                <a:cs typeface="Arial" pitchFamily="34" charset="-120"/>
              </a:rPr>
              <a:t>State Management</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5C00"/>
          </a:solidFill>
          <a:ln w="12700">
            <a:solidFill>
              <a:srgbClr val="FF5C00"/>
            </a:solidFill>
            <a:prstDash val="solid"/>
          </a:ln>
        </p:spPr>
      </p:sp>
      <p:sp>
        <p:nvSpPr>
          <p:cNvPr id="3" name="Text 1"/>
          <p:cNvSpPr/>
          <p:nvPr/>
        </p:nvSpPr>
        <p:spPr>
          <a:xfrm>
            <a:off x="457200" y="182880"/>
            <a:ext cx="8229600" cy="274320"/>
          </a:xfrm>
          <a:prstGeom prst="rect">
            <a:avLst/>
          </a:prstGeom>
          <a:noFill/>
          <a:ln/>
        </p:spPr>
        <p:txBody>
          <a:bodyPr wrap="square" lIns="0" tIns="0" rIns="0" bIns="0" rtlCol="0" anchor="ctr"/>
          <a:lstStyle/>
          <a:p>
            <a:pPr indent="0" marL="0">
              <a:buNone/>
            </a:pPr>
            <a:r>
              <a:rPr lang="en-US" sz="800" b="1" spc="200" kern="0" dirty="0">
                <a:solidFill>
                  <a:srgbClr val="FF5C00"/>
                </a:solidFill>
                <a:latin typeface="Arial" pitchFamily="34" charset="0"/>
                <a:ea typeface="Arial" pitchFamily="34" charset="-122"/>
                <a:cs typeface="Arial" pitchFamily="34" charset="-120"/>
              </a:rPr>
              <a:t>PROBLEM STATEMENT</a:t>
            </a:r>
            <a:endParaRPr lang="en-US" sz="800" dirty="0"/>
          </a:p>
        </p:txBody>
      </p:sp>
      <p:sp>
        <p:nvSpPr>
          <p:cNvPr id="4" name="Text 2"/>
          <p:cNvSpPr/>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The Gap That's Costing Engineering Teams</a:t>
            </a:r>
            <a:endParaRPr lang="en-US" sz="2600" dirty="0"/>
          </a:p>
        </p:txBody>
      </p:sp>
      <p:sp>
        <p:nvSpPr>
          <p:cNvPr id="5" name="Shape 3"/>
          <p:cNvSpPr/>
          <p:nvPr/>
        </p:nvSpPr>
        <p:spPr>
          <a:xfrm>
            <a:off x="457200" y="1005840"/>
            <a:ext cx="8229600" cy="0"/>
          </a:xfrm>
          <a:prstGeom prst="line">
            <a:avLst/>
          </a:prstGeom>
          <a:noFill/>
          <a:ln w="6350">
            <a:solidFill>
              <a:srgbClr val="52525B"/>
            </a:solidFill>
            <a:prstDash val="solid"/>
          </a:ln>
        </p:spPr>
      </p:sp>
      <p:sp>
        <p:nvSpPr>
          <p:cNvPr id="6" name="Shape 4"/>
          <p:cNvSpPr/>
          <p:nvPr/>
        </p:nvSpPr>
        <p:spPr>
          <a:xfrm>
            <a:off x="457200" y="1097280"/>
            <a:ext cx="8229600" cy="658368"/>
          </a:xfrm>
          <a:prstGeom prst="roundRect">
            <a:avLst>
              <a:gd name="adj" fmla="val 8333"/>
            </a:avLst>
          </a:prstGeom>
          <a:solidFill>
            <a:srgbClr val="1A0000"/>
          </a:solidFill>
          <a:ln w="12700">
            <a:solidFill>
              <a:srgbClr val="FF5C00"/>
            </a:solidFill>
            <a:prstDash val="solid"/>
          </a:ln>
          <a:effectLst>
            <a:outerShdw sx="100000" sy="100000" kx="0" ky="0" algn="bl" rotWithShape="0" blurRad="101600" dist="38100" dir="2700000">
              <a:srgbClr val="000000">
                <a:alpha val="35000"/>
              </a:srgbClr>
            </a:outerShdw>
          </a:effectLst>
        </p:spPr>
      </p:sp>
      <p:sp>
        <p:nvSpPr>
          <p:cNvPr id="7" name="Text 5"/>
          <p:cNvSpPr/>
          <p:nvPr/>
        </p:nvSpPr>
        <p:spPr>
          <a:xfrm>
            <a:off x="640080" y="1170432"/>
            <a:ext cx="7863840" cy="512064"/>
          </a:xfrm>
          <a:prstGeom prst="rect">
            <a:avLst/>
          </a:prstGeom>
          <a:no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AI coding tools (IBM Bob, Copilot) generate code 10× faster — but nothing checks whether that code is allowed by your organization's architecture decisions, security policies, or compliance rules.</a:t>
            </a:r>
            <a:endParaRPr lang="en-US" sz="1100" dirty="0"/>
          </a:p>
        </p:txBody>
      </p:sp>
      <p:sp>
        <p:nvSpPr>
          <p:cNvPr id="8" name="Shape 6"/>
          <p:cNvSpPr/>
          <p:nvPr/>
        </p:nvSpPr>
        <p:spPr>
          <a:xfrm>
            <a:off x="457200" y="1920240"/>
            <a:ext cx="2651760" cy="2743200"/>
          </a:xfrm>
          <a:prstGeom prst="roundRect">
            <a:avLst>
              <a:gd name="adj" fmla="val 2759"/>
            </a:avLst>
          </a:prstGeom>
          <a:solidFill>
            <a:srgbClr val="0A0A0A"/>
          </a:solidFill>
          <a:ln w="6350">
            <a:solidFill>
              <a:srgbClr val="52525B"/>
            </a:solidFill>
            <a:prstDash val="solid"/>
          </a:ln>
          <a:effectLst>
            <a:outerShdw sx="100000" sy="100000" kx="0" ky="0" algn="bl" rotWithShape="0" blurRad="101600" dist="38100" dir="2700000">
              <a:srgbClr val="000000">
                <a:alpha val="35000"/>
              </a:srgbClr>
            </a:outerShdw>
          </a:effectLst>
        </p:spPr>
      </p:sp>
      <p:sp>
        <p:nvSpPr>
          <p:cNvPr id="9" name="Shape 7"/>
          <p:cNvSpPr/>
          <p:nvPr/>
        </p:nvSpPr>
        <p:spPr>
          <a:xfrm>
            <a:off x="1280160" y="2057400"/>
            <a:ext cx="1005840" cy="502920"/>
          </a:xfrm>
          <a:prstGeom prst="roundRect">
            <a:avLst>
              <a:gd name="adj" fmla="val 10909"/>
            </a:avLst>
          </a:prstGeom>
          <a:solidFill>
            <a:srgbClr val="FF5C00"/>
          </a:solidFill>
          <a:ln w="12700">
            <a:solidFill>
              <a:srgbClr val="FF5C00"/>
            </a:solidFill>
            <a:prstDash val="solid"/>
          </a:ln>
        </p:spPr>
      </p:sp>
      <p:sp>
        <p:nvSpPr>
          <p:cNvPr id="10" name="Text 8"/>
          <p:cNvSpPr/>
          <p:nvPr/>
        </p:nvSpPr>
        <p:spPr>
          <a:xfrm>
            <a:off x="1280160" y="2057400"/>
            <a:ext cx="1005840" cy="502920"/>
          </a:xfrm>
          <a:prstGeom prst="rect">
            <a:avLst/>
          </a:prstGeom>
          <a:noFill/>
          <a:ln/>
        </p:spPr>
        <p:txBody>
          <a:bodyPr wrap="square" lIns="0" tIns="0" rIns="0" bIns="0" rtlCol="0" anchor="ctr"/>
          <a:lstStyle/>
          <a:p>
            <a:pPr algn="ctr" indent="0" marL="0">
              <a:buNone/>
            </a:pPr>
            <a:r>
              <a:rPr lang="en-US" sz="2000" b="1" dirty="0">
                <a:solidFill>
                  <a:srgbClr val="000000"/>
                </a:solidFill>
              </a:rPr>
              <a:t>⧗</a:t>
            </a:r>
            <a:endParaRPr lang="en-US" sz="2000" dirty="0"/>
          </a:p>
        </p:txBody>
      </p:sp>
      <p:sp>
        <p:nvSpPr>
          <p:cNvPr id="11" name="Text 9"/>
          <p:cNvSpPr/>
          <p:nvPr/>
        </p:nvSpPr>
        <p:spPr>
          <a:xfrm>
            <a:off x="594360" y="2679192"/>
            <a:ext cx="237744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Late-Cycle Rework</a:t>
            </a:r>
            <a:endParaRPr lang="en-US" sz="1100" dirty="0"/>
          </a:p>
        </p:txBody>
      </p:sp>
      <p:sp>
        <p:nvSpPr>
          <p:cNvPr id="12" name="Text 10"/>
          <p:cNvSpPr/>
          <p:nvPr/>
        </p:nvSpPr>
        <p:spPr>
          <a:xfrm>
            <a:off x="621792" y="3127248"/>
            <a:ext cx="2322576" cy="137160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Violations caught at PR review cost 4–8× more to fix. Context is lost, rework introduces new risk.</a:t>
            </a:r>
            <a:endParaRPr lang="en-US" sz="900" dirty="0"/>
          </a:p>
        </p:txBody>
      </p:sp>
      <p:sp>
        <p:nvSpPr>
          <p:cNvPr id="13" name="Shape 11"/>
          <p:cNvSpPr/>
          <p:nvPr/>
        </p:nvSpPr>
        <p:spPr>
          <a:xfrm>
            <a:off x="3264408" y="1920240"/>
            <a:ext cx="2651760" cy="2743200"/>
          </a:xfrm>
          <a:prstGeom prst="roundRect">
            <a:avLst>
              <a:gd name="adj" fmla="val 2759"/>
            </a:avLst>
          </a:prstGeom>
          <a:solidFill>
            <a:srgbClr val="0A0A0A"/>
          </a:solidFill>
          <a:ln w="6350">
            <a:solidFill>
              <a:srgbClr val="52525B"/>
            </a:solidFill>
            <a:prstDash val="solid"/>
          </a:ln>
          <a:effectLst>
            <a:outerShdw sx="100000" sy="100000" kx="0" ky="0" algn="bl" rotWithShape="0" blurRad="101600" dist="38100" dir="2700000">
              <a:srgbClr val="000000">
                <a:alpha val="35000"/>
              </a:srgbClr>
            </a:outerShdw>
          </a:effectLst>
        </p:spPr>
      </p:sp>
      <p:sp>
        <p:nvSpPr>
          <p:cNvPr id="14" name="Shape 12"/>
          <p:cNvSpPr/>
          <p:nvPr/>
        </p:nvSpPr>
        <p:spPr>
          <a:xfrm>
            <a:off x="4087368" y="2057400"/>
            <a:ext cx="1005840" cy="502920"/>
          </a:xfrm>
          <a:prstGeom prst="roundRect">
            <a:avLst>
              <a:gd name="adj" fmla="val 10909"/>
            </a:avLst>
          </a:prstGeom>
          <a:solidFill>
            <a:srgbClr val="FF007A"/>
          </a:solidFill>
          <a:ln w="12700">
            <a:solidFill>
              <a:srgbClr val="FF007A"/>
            </a:solidFill>
            <a:prstDash val="solid"/>
          </a:ln>
        </p:spPr>
      </p:sp>
      <p:sp>
        <p:nvSpPr>
          <p:cNvPr id="15" name="Text 13"/>
          <p:cNvSpPr/>
          <p:nvPr/>
        </p:nvSpPr>
        <p:spPr>
          <a:xfrm>
            <a:off x="4087368" y="2057400"/>
            <a:ext cx="1005840" cy="502920"/>
          </a:xfrm>
          <a:prstGeom prst="rect">
            <a:avLst/>
          </a:prstGeom>
          <a:noFill/>
          <a:ln/>
        </p:spPr>
        <p:txBody>
          <a:bodyPr wrap="square" lIns="0" tIns="0" rIns="0" bIns="0" rtlCol="0" anchor="ctr"/>
          <a:lstStyle/>
          <a:p>
            <a:pPr algn="ctr" indent="0" marL="0">
              <a:buNone/>
            </a:pPr>
            <a:r>
              <a:rPr lang="en-US" sz="2000" b="1" dirty="0">
                <a:solidFill>
                  <a:srgbClr val="000000"/>
                </a:solidFill>
              </a:rPr>
              <a:t>≠</a:t>
            </a:r>
            <a:endParaRPr lang="en-US" sz="2000" dirty="0"/>
          </a:p>
        </p:txBody>
      </p:sp>
      <p:sp>
        <p:nvSpPr>
          <p:cNvPr id="16" name="Text 14"/>
          <p:cNvSpPr/>
          <p:nvPr/>
        </p:nvSpPr>
        <p:spPr>
          <a:xfrm>
            <a:off x="3401568" y="2679192"/>
            <a:ext cx="237744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Inconsistent Enforcement</a:t>
            </a:r>
            <a:endParaRPr lang="en-US" sz="1100" dirty="0"/>
          </a:p>
        </p:txBody>
      </p:sp>
      <p:sp>
        <p:nvSpPr>
          <p:cNvPr id="17" name="Text 15"/>
          <p:cNvSpPr/>
          <p:nvPr/>
        </p:nvSpPr>
        <p:spPr>
          <a:xfrm>
            <a:off x="3429000" y="3127248"/>
            <a:ext cx="2322576" cy="137160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Whether a violation gets caught depends on which reviewer happens to remember the ADR. Not a system — tribal memory.</a:t>
            </a:r>
            <a:endParaRPr lang="en-US" sz="900" dirty="0"/>
          </a:p>
        </p:txBody>
      </p:sp>
      <p:sp>
        <p:nvSpPr>
          <p:cNvPr id="18" name="Shape 16"/>
          <p:cNvSpPr/>
          <p:nvPr/>
        </p:nvSpPr>
        <p:spPr>
          <a:xfrm>
            <a:off x="6071616" y="1920240"/>
            <a:ext cx="2651760" cy="2743200"/>
          </a:xfrm>
          <a:prstGeom prst="roundRect">
            <a:avLst>
              <a:gd name="adj" fmla="val 2759"/>
            </a:avLst>
          </a:prstGeom>
          <a:solidFill>
            <a:srgbClr val="0A0A0A"/>
          </a:solidFill>
          <a:ln w="6350">
            <a:solidFill>
              <a:srgbClr val="52525B"/>
            </a:solidFill>
            <a:prstDash val="solid"/>
          </a:ln>
          <a:effectLst>
            <a:outerShdw sx="100000" sy="100000" kx="0" ky="0" algn="bl" rotWithShape="0" blurRad="101600" dist="38100" dir="2700000">
              <a:srgbClr val="000000">
                <a:alpha val="35000"/>
              </a:srgbClr>
            </a:outerShdw>
          </a:effectLst>
        </p:spPr>
      </p:sp>
      <p:sp>
        <p:nvSpPr>
          <p:cNvPr id="19" name="Shape 17"/>
          <p:cNvSpPr/>
          <p:nvPr/>
        </p:nvSpPr>
        <p:spPr>
          <a:xfrm>
            <a:off x="6894576" y="2057400"/>
            <a:ext cx="1005840" cy="502920"/>
          </a:xfrm>
          <a:prstGeom prst="roundRect">
            <a:avLst>
              <a:gd name="adj" fmla="val 10909"/>
            </a:avLst>
          </a:prstGeom>
          <a:solidFill>
            <a:srgbClr val="E8A54B"/>
          </a:solidFill>
          <a:ln w="12700">
            <a:solidFill>
              <a:srgbClr val="E8A54B"/>
            </a:solidFill>
            <a:prstDash val="solid"/>
          </a:ln>
        </p:spPr>
      </p:sp>
      <p:sp>
        <p:nvSpPr>
          <p:cNvPr id="20" name="Text 18"/>
          <p:cNvSpPr/>
          <p:nvPr/>
        </p:nvSpPr>
        <p:spPr>
          <a:xfrm>
            <a:off x="6894576" y="2057400"/>
            <a:ext cx="1005840" cy="502920"/>
          </a:xfrm>
          <a:prstGeom prst="rect">
            <a:avLst/>
          </a:prstGeom>
          <a:noFill/>
          <a:ln/>
        </p:spPr>
        <p:txBody>
          <a:bodyPr wrap="square" lIns="0" tIns="0" rIns="0" bIns="0" rtlCol="0" anchor="ctr"/>
          <a:lstStyle/>
          <a:p>
            <a:pPr algn="ctr" indent="0" marL="0">
              <a:buNone/>
            </a:pPr>
            <a:r>
              <a:rPr lang="en-US" sz="2000" b="1" dirty="0">
                <a:solidFill>
                  <a:srgbClr val="000000"/>
                </a:solidFill>
              </a:rPr>
              <a:t>?</a:t>
            </a:r>
            <a:endParaRPr lang="en-US" sz="2000" dirty="0"/>
          </a:p>
        </p:txBody>
      </p:sp>
      <p:sp>
        <p:nvSpPr>
          <p:cNvPr id="21" name="Text 19"/>
          <p:cNvSpPr/>
          <p:nvPr/>
        </p:nvSpPr>
        <p:spPr>
          <a:xfrm>
            <a:off x="6208776" y="2679192"/>
            <a:ext cx="237744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No Audit Evidence</a:t>
            </a:r>
            <a:endParaRPr lang="en-US" sz="1100" dirty="0"/>
          </a:p>
        </p:txBody>
      </p:sp>
      <p:sp>
        <p:nvSpPr>
          <p:cNvPr id="22" name="Text 20"/>
          <p:cNvSpPr/>
          <p:nvPr/>
        </p:nvSpPr>
        <p:spPr>
          <a:xfrm>
            <a:off x="6236208" y="3127248"/>
            <a:ext cx="2322576" cy="137160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When a SOC2 auditor asks 'how do you enforce conformance,' the honest answer today is: 'a human, sometimes.'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FF00"/>
          </a:solidFill>
          <a:ln w="12700">
            <a:solidFill>
              <a:srgbClr val="E5FF00"/>
            </a:solidFill>
            <a:prstDash val="solid"/>
          </a:ln>
        </p:spPr>
      </p:sp>
      <p:sp>
        <p:nvSpPr>
          <p:cNvPr id="3" name="Text 1"/>
          <p:cNvSpPr/>
          <p:nvPr/>
        </p:nvSpPr>
        <p:spPr>
          <a:xfrm>
            <a:off x="457200" y="182880"/>
            <a:ext cx="8229600" cy="274320"/>
          </a:xfrm>
          <a:prstGeom prst="rect">
            <a:avLst/>
          </a:prstGeom>
          <a:noFill/>
          <a:ln/>
        </p:spPr>
        <p:txBody>
          <a:bodyPr wrap="square" lIns="0" tIns="0" rIns="0" bIns="0" rtlCol="0" anchor="ctr"/>
          <a:lstStyle/>
          <a:p>
            <a:pPr indent="0" marL="0">
              <a:buNone/>
            </a:pPr>
            <a:r>
              <a:rPr lang="en-US" sz="800" b="1" spc="200" kern="0" dirty="0">
                <a:solidFill>
                  <a:srgbClr val="E5FF00"/>
                </a:solidFill>
                <a:latin typeface="Arial" pitchFamily="34" charset="0"/>
                <a:ea typeface="Arial" pitchFamily="34" charset="-122"/>
                <a:cs typeface="Arial" pitchFamily="34" charset="-120"/>
              </a:rPr>
              <a:t>THE SOLUTION</a:t>
            </a:r>
            <a:endParaRPr lang="en-US" sz="800" dirty="0"/>
          </a:p>
        </p:txBody>
      </p:sp>
      <p:sp>
        <p:nvSpPr>
          <p:cNvPr id="4" name="Text 2"/>
          <p:cNvSpPr/>
          <p:nvPr/>
        </p:nvSpPr>
        <p:spPr>
          <a:xfrm>
            <a:off x="457200" y="45720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Sentinel Spec — Shift Left. Govern Everything.</a:t>
            </a:r>
            <a:endParaRPr lang="en-US" sz="2400" dirty="0"/>
          </a:p>
        </p:txBody>
      </p:sp>
      <p:sp>
        <p:nvSpPr>
          <p:cNvPr id="5" name="Shape 3"/>
          <p:cNvSpPr/>
          <p:nvPr/>
        </p:nvSpPr>
        <p:spPr>
          <a:xfrm>
            <a:off x="457200" y="1005840"/>
            <a:ext cx="8229600" cy="0"/>
          </a:xfrm>
          <a:prstGeom prst="line">
            <a:avLst/>
          </a:prstGeom>
          <a:noFill/>
          <a:ln w="6350">
            <a:solidFill>
              <a:srgbClr val="52525B"/>
            </a:solidFill>
            <a:prstDash val="solid"/>
          </a:ln>
        </p:spPr>
      </p:sp>
      <p:sp>
        <p:nvSpPr>
          <p:cNvPr id="6" name="Shape 4"/>
          <p:cNvSpPr/>
          <p:nvPr/>
        </p:nvSpPr>
        <p:spPr>
          <a:xfrm>
            <a:off x="457200" y="1097280"/>
            <a:ext cx="8229600" cy="749808"/>
          </a:xfrm>
          <a:prstGeom prst="roundRect">
            <a:avLst>
              <a:gd name="adj" fmla="val 7317"/>
            </a:avLst>
          </a:prstGeom>
          <a:solidFill>
            <a:srgbClr val="00001A"/>
          </a:solidFill>
          <a:ln w="12700">
            <a:solidFill>
              <a:srgbClr val="1B6CA8"/>
            </a:solidFill>
            <a:prstDash val="solid"/>
          </a:ln>
          <a:effectLst>
            <a:outerShdw sx="100000" sy="100000" kx="0" ky="0" algn="bl" rotWithShape="0" blurRad="101600" dist="38100" dir="2700000">
              <a:srgbClr val="000000">
                <a:alpha val="35000"/>
              </a:srgbClr>
            </a:outerShdw>
          </a:effectLst>
        </p:spPr>
      </p:sp>
      <p:sp>
        <p:nvSpPr>
          <p:cNvPr id="7" name="Text 5"/>
          <p:cNvSpPr/>
          <p:nvPr/>
        </p:nvSpPr>
        <p:spPr>
          <a:xfrm>
            <a:off x="640080" y="1170432"/>
            <a:ext cx="7863840" cy="603504"/>
          </a:xfrm>
          <a:prstGeom prst="rect">
            <a:avLst/>
          </a:prstGeom>
          <a:noFill/>
          <a:ln/>
        </p:spPr>
        <p:txBody>
          <a:bodyPr wrap="square" lIns="0" tIns="0" rIns="0" bIns="0" rtlCol="0" anchor="ctr"/>
          <a:lstStyle/>
          <a:p>
            <a:pPr algn="ctr" indent="0" marL="0">
              <a:buNone/>
            </a:pPr>
            <a:r>
              <a:rPr lang="en-US" sz="1050" dirty="0">
                <a:solidFill>
                  <a:srgbClr val="FFFFFF"/>
                </a:solidFill>
                <a:latin typeface="Arial" pitchFamily="34" charset="0"/>
                <a:ea typeface="Arial" pitchFamily="34" charset="-122"/>
                <a:cs typeface="Arial" pitchFamily="34" charset="-120"/>
              </a:rPr>
              <a:t>Sentinel Spec is a multi-agent reviewer that lives inside IBM Bob IDE. It enforces your organization's ADRs, security policies, and compliance rules at the moment of authorship — and produces an immutable watsonx.governance audit trail for every decision it makes.</a:t>
            </a:r>
            <a:endParaRPr lang="en-US" sz="1050" dirty="0"/>
          </a:p>
        </p:txBody>
      </p:sp>
      <p:sp>
        <p:nvSpPr>
          <p:cNvPr id="8" name="Shape 6"/>
          <p:cNvSpPr/>
          <p:nvPr/>
        </p:nvSpPr>
        <p:spPr>
          <a:xfrm>
            <a:off x="457200" y="2011680"/>
            <a:ext cx="1920240" cy="2697480"/>
          </a:xfrm>
          <a:prstGeom prst="roundRect">
            <a:avLst>
              <a:gd name="adj" fmla="val 3810"/>
            </a:avLst>
          </a:prstGeom>
          <a:solidFill>
            <a:srgbClr val="0A0A0A"/>
          </a:solidFill>
          <a:ln w="6350">
            <a:solidFill>
              <a:srgbClr val="52525B"/>
            </a:solidFill>
            <a:prstDash val="solid"/>
          </a:ln>
          <a:effectLst>
            <a:outerShdw sx="100000" sy="100000" kx="0" ky="0" algn="bl" rotWithShape="0" blurRad="101600" dist="38100" dir="2700000">
              <a:srgbClr val="000000">
                <a:alpha val="35000"/>
              </a:srgbClr>
            </a:outerShdw>
          </a:effectLst>
        </p:spPr>
      </p:sp>
      <p:sp>
        <p:nvSpPr>
          <p:cNvPr id="9" name="Shape 7"/>
          <p:cNvSpPr/>
          <p:nvPr/>
        </p:nvSpPr>
        <p:spPr>
          <a:xfrm>
            <a:off x="731520" y="2148840"/>
            <a:ext cx="1371600" cy="384048"/>
          </a:xfrm>
          <a:prstGeom prst="roundRect">
            <a:avLst>
              <a:gd name="adj" fmla="val 11905"/>
            </a:avLst>
          </a:prstGeom>
          <a:solidFill>
            <a:srgbClr val="FF007A"/>
          </a:solidFill>
          <a:ln w="12700">
            <a:solidFill>
              <a:srgbClr val="FF007A"/>
            </a:solidFill>
            <a:prstDash val="solid"/>
          </a:ln>
        </p:spPr>
      </p:sp>
      <p:sp>
        <p:nvSpPr>
          <p:cNvPr id="10" name="Text 8"/>
          <p:cNvSpPr/>
          <p:nvPr/>
        </p:nvSpPr>
        <p:spPr>
          <a:xfrm>
            <a:off x="731520" y="2148840"/>
            <a:ext cx="1371600" cy="384048"/>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01</a:t>
            </a:r>
            <a:endParaRPr lang="en-US" sz="1600" dirty="0"/>
          </a:p>
        </p:txBody>
      </p:sp>
      <p:sp>
        <p:nvSpPr>
          <p:cNvPr id="11" name="Text 9"/>
          <p:cNvSpPr/>
          <p:nvPr/>
        </p:nvSpPr>
        <p:spPr>
          <a:xfrm>
            <a:off x="566928" y="2633472"/>
            <a:ext cx="1700784"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Shift-Left Detection</a:t>
            </a:r>
            <a:endParaRPr lang="en-US" sz="1000" dirty="0"/>
          </a:p>
        </p:txBody>
      </p:sp>
      <p:sp>
        <p:nvSpPr>
          <p:cNvPr id="12" name="Text 10"/>
          <p:cNvSpPr/>
          <p:nvPr/>
        </p:nvSpPr>
        <p:spPr>
          <a:xfrm>
            <a:off x="566928" y="3072384"/>
            <a:ext cx="1700784" cy="1417320"/>
          </a:xfrm>
          <a:prstGeom prst="rect">
            <a:avLst/>
          </a:prstGeom>
          <a:noFill/>
          <a:ln/>
        </p:spPr>
        <p:txBody>
          <a:bodyPr wrap="square" lIns="0" tIns="0" rIns="0" bIns="0" rtlCol="0" anchor="ctr"/>
          <a:lstStyle/>
          <a:p>
            <a:pPr algn="ctr" indent="0" marL="0">
              <a:buNone/>
            </a:pPr>
            <a:r>
              <a:rPr lang="en-US" sz="850" dirty="0">
                <a:solidFill>
                  <a:srgbClr val="A1A1AA"/>
                </a:solidFill>
                <a:latin typeface="Arial" pitchFamily="34" charset="0"/>
                <a:ea typeface="Arial" pitchFamily="34" charset="-122"/>
                <a:cs typeface="Arial" pitchFamily="34" charset="-120"/>
              </a:rPr>
              <a:t>Finds violations inside the IDE before a PR is opened</a:t>
            </a:r>
            <a:endParaRPr lang="en-US" sz="850" dirty="0"/>
          </a:p>
        </p:txBody>
      </p:sp>
      <p:sp>
        <p:nvSpPr>
          <p:cNvPr id="13" name="Shape 11"/>
          <p:cNvSpPr/>
          <p:nvPr/>
        </p:nvSpPr>
        <p:spPr>
          <a:xfrm>
            <a:off x="2532888" y="2011680"/>
            <a:ext cx="1920240" cy="2697480"/>
          </a:xfrm>
          <a:prstGeom prst="roundRect">
            <a:avLst>
              <a:gd name="adj" fmla="val 3810"/>
            </a:avLst>
          </a:prstGeom>
          <a:solidFill>
            <a:srgbClr val="0A0A0A"/>
          </a:solidFill>
          <a:ln w="6350">
            <a:solidFill>
              <a:srgbClr val="52525B"/>
            </a:solidFill>
            <a:prstDash val="solid"/>
          </a:ln>
          <a:effectLst>
            <a:outerShdw sx="100000" sy="100000" kx="0" ky="0" algn="bl" rotWithShape="0" blurRad="101600" dist="38100" dir="2700000">
              <a:srgbClr val="000000">
                <a:alpha val="35000"/>
              </a:srgbClr>
            </a:outerShdw>
          </a:effectLst>
        </p:spPr>
      </p:sp>
      <p:sp>
        <p:nvSpPr>
          <p:cNvPr id="14" name="Shape 12"/>
          <p:cNvSpPr/>
          <p:nvPr/>
        </p:nvSpPr>
        <p:spPr>
          <a:xfrm>
            <a:off x="2807208" y="2148840"/>
            <a:ext cx="1371600" cy="384048"/>
          </a:xfrm>
          <a:prstGeom prst="roundRect">
            <a:avLst>
              <a:gd name="adj" fmla="val 11905"/>
            </a:avLst>
          </a:prstGeom>
          <a:solidFill>
            <a:srgbClr val="FF5C00"/>
          </a:solidFill>
          <a:ln w="12700">
            <a:solidFill>
              <a:srgbClr val="FF5C00"/>
            </a:solidFill>
            <a:prstDash val="solid"/>
          </a:ln>
        </p:spPr>
      </p:sp>
      <p:sp>
        <p:nvSpPr>
          <p:cNvPr id="15" name="Text 13"/>
          <p:cNvSpPr/>
          <p:nvPr/>
        </p:nvSpPr>
        <p:spPr>
          <a:xfrm>
            <a:off x="2807208" y="2148840"/>
            <a:ext cx="1371600" cy="384048"/>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02</a:t>
            </a:r>
            <a:endParaRPr lang="en-US" sz="1600" dirty="0"/>
          </a:p>
        </p:txBody>
      </p:sp>
      <p:sp>
        <p:nvSpPr>
          <p:cNvPr id="16" name="Text 14"/>
          <p:cNvSpPr/>
          <p:nvPr/>
        </p:nvSpPr>
        <p:spPr>
          <a:xfrm>
            <a:off x="2642616" y="2633472"/>
            <a:ext cx="1700784"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Adversarial Critic</a:t>
            </a:r>
            <a:endParaRPr lang="en-US" sz="1000" dirty="0"/>
          </a:p>
        </p:txBody>
      </p:sp>
      <p:sp>
        <p:nvSpPr>
          <p:cNvPr id="17" name="Text 15"/>
          <p:cNvSpPr/>
          <p:nvPr/>
        </p:nvSpPr>
        <p:spPr>
          <a:xfrm>
            <a:off x="2642616" y="3072384"/>
            <a:ext cx="1700784" cy="1417320"/>
          </a:xfrm>
          <a:prstGeom prst="rect">
            <a:avLst/>
          </a:prstGeom>
          <a:noFill/>
          <a:ln/>
        </p:spPr>
        <p:txBody>
          <a:bodyPr wrap="square" lIns="0" tIns="0" rIns="0" bIns="0" rtlCol="0" anchor="ctr"/>
          <a:lstStyle/>
          <a:p>
            <a:pPr algn="ctr" indent="0" marL="0">
              <a:buNone/>
            </a:pPr>
            <a:r>
              <a:rPr lang="en-US" sz="850" dirty="0">
                <a:solidFill>
                  <a:srgbClr val="A1A1AA"/>
                </a:solidFill>
                <a:latin typeface="Arial" pitchFamily="34" charset="0"/>
                <a:ea typeface="Arial" pitchFamily="34" charset="-122"/>
                <a:cs typeface="Arial" pitchFamily="34" charset="-120"/>
              </a:rPr>
              <a:t>Dual-agent: Classifier + Critic gate prevents false blocking</a:t>
            </a:r>
            <a:endParaRPr lang="en-US" sz="850" dirty="0"/>
          </a:p>
        </p:txBody>
      </p:sp>
      <p:sp>
        <p:nvSpPr>
          <p:cNvPr id="18" name="Shape 16"/>
          <p:cNvSpPr/>
          <p:nvPr/>
        </p:nvSpPr>
        <p:spPr>
          <a:xfrm>
            <a:off x="4608576" y="2011680"/>
            <a:ext cx="1920240" cy="2697480"/>
          </a:xfrm>
          <a:prstGeom prst="roundRect">
            <a:avLst>
              <a:gd name="adj" fmla="val 3810"/>
            </a:avLst>
          </a:prstGeom>
          <a:solidFill>
            <a:srgbClr val="0A0A0A"/>
          </a:solidFill>
          <a:ln w="6350">
            <a:solidFill>
              <a:srgbClr val="52525B"/>
            </a:solidFill>
            <a:prstDash val="solid"/>
          </a:ln>
          <a:effectLst>
            <a:outerShdw sx="100000" sy="100000" kx="0" ky="0" algn="bl" rotWithShape="0" blurRad="101600" dist="38100" dir="2700000">
              <a:srgbClr val="000000">
                <a:alpha val="35000"/>
              </a:srgbClr>
            </a:outerShdw>
          </a:effectLst>
        </p:spPr>
      </p:sp>
      <p:sp>
        <p:nvSpPr>
          <p:cNvPr id="19" name="Shape 17"/>
          <p:cNvSpPr/>
          <p:nvPr/>
        </p:nvSpPr>
        <p:spPr>
          <a:xfrm>
            <a:off x="4882896" y="2148840"/>
            <a:ext cx="1371600" cy="384048"/>
          </a:xfrm>
          <a:prstGeom prst="roundRect">
            <a:avLst>
              <a:gd name="adj" fmla="val 11905"/>
            </a:avLst>
          </a:prstGeom>
          <a:solidFill>
            <a:srgbClr val="E5FF00"/>
          </a:solidFill>
          <a:ln w="12700">
            <a:solidFill>
              <a:srgbClr val="E5FF00"/>
            </a:solidFill>
            <a:prstDash val="solid"/>
          </a:ln>
        </p:spPr>
      </p:sp>
      <p:sp>
        <p:nvSpPr>
          <p:cNvPr id="20" name="Text 18"/>
          <p:cNvSpPr/>
          <p:nvPr/>
        </p:nvSpPr>
        <p:spPr>
          <a:xfrm>
            <a:off x="4882896" y="2148840"/>
            <a:ext cx="1371600" cy="384048"/>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03</a:t>
            </a:r>
            <a:endParaRPr lang="en-US" sz="1600" dirty="0"/>
          </a:p>
        </p:txBody>
      </p:sp>
      <p:sp>
        <p:nvSpPr>
          <p:cNvPr id="21" name="Text 19"/>
          <p:cNvSpPr/>
          <p:nvPr/>
        </p:nvSpPr>
        <p:spPr>
          <a:xfrm>
            <a:off x="4718304" y="2633472"/>
            <a:ext cx="1700784"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CI Gate Enforcement</a:t>
            </a:r>
            <a:endParaRPr lang="en-US" sz="1000" dirty="0"/>
          </a:p>
        </p:txBody>
      </p:sp>
      <p:sp>
        <p:nvSpPr>
          <p:cNvPr id="22" name="Text 20"/>
          <p:cNvSpPr/>
          <p:nvPr/>
        </p:nvSpPr>
        <p:spPr>
          <a:xfrm>
            <a:off x="4718304" y="3072384"/>
            <a:ext cx="1700784" cy="1417320"/>
          </a:xfrm>
          <a:prstGeom prst="rect">
            <a:avLst/>
          </a:prstGeom>
          <a:noFill/>
          <a:ln/>
        </p:spPr>
        <p:txBody>
          <a:bodyPr wrap="square" lIns="0" tIns="0" rIns="0" bIns="0" rtlCol="0" anchor="ctr"/>
          <a:lstStyle/>
          <a:p>
            <a:pPr algn="ctr" indent="0" marL="0">
              <a:buNone/>
            </a:pPr>
            <a:r>
              <a:rPr lang="en-US" sz="850" dirty="0">
                <a:solidFill>
                  <a:srgbClr val="A1A1AA"/>
                </a:solidFill>
                <a:latin typeface="Arial" pitchFamily="34" charset="0"/>
                <a:ea typeface="Arial" pitchFamily="34" charset="-122"/>
                <a:cs typeface="Arial" pitchFamily="34" charset="-120"/>
              </a:rPr>
              <a:t>Same pipeline runs again at PR time — cannot be bypassed</a:t>
            </a:r>
            <a:endParaRPr lang="en-US" sz="850" dirty="0"/>
          </a:p>
        </p:txBody>
      </p:sp>
      <p:sp>
        <p:nvSpPr>
          <p:cNvPr id="23" name="Shape 21"/>
          <p:cNvSpPr/>
          <p:nvPr/>
        </p:nvSpPr>
        <p:spPr>
          <a:xfrm>
            <a:off x="6684264" y="2011680"/>
            <a:ext cx="1920240" cy="2697480"/>
          </a:xfrm>
          <a:prstGeom prst="roundRect">
            <a:avLst>
              <a:gd name="adj" fmla="val 3810"/>
            </a:avLst>
          </a:prstGeom>
          <a:solidFill>
            <a:srgbClr val="0A0A0A"/>
          </a:solidFill>
          <a:ln w="6350">
            <a:solidFill>
              <a:srgbClr val="52525B"/>
            </a:solidFill>
            <a:prstDash val="solid"/>
          </a:ln>
          <a:effectLst>
            <a:outerShdw sx="100000" sy="100000" kx="0" ky="0" algn="bl" rotWithShape="0" blurRad="101600" dist="38100" dir="2700000">
              <a:srgbClr val="000000">
                <a:alpha val="35000"/>
              </a:srgbClr>
            </a:outerShdw>
          </a:effectLst>
        </p:spPr>
      </p:sp>
      <p:sp>
        <p:nvSpPr>
          <p:cNvPr id="24" name="Shape 22"/>
          <p:cNvSpPr/>
          <p:nvPr/>
        </p:nvSpPr>
        <p:spPr>
          <a:xfrm>
            <a:off x="6958584" y="2148840"/>
            <a:ext cx="1371600" cy="384048"/>
          </a:xfrm>
          <a:prstGeom prst="roundRect">
            <a:avLst>
              <a:gd name="adj" fmla="val 11905"/>
            </a:avLst>
          </a:prstGeom>
          <a:solidFill>
            <a:srgbClr val="E8A54B"/>
          </a:solidFill>
          <a:ln w="12700">
            <a:solidFill>
              <a:srgbClr val="E8A54B"/>
            </a:solidFill>
            <a:prstDash val="solid"/>
          </a:ln>
        </p:spPr>
      </p:sp>
      <p:sp>
        <p:nvSpPr>
          <p:cNvPr id="25" name="Text 23"/>
          <p:cNvSpPr/>
          <p:nvPr/>
        </p:nvSpPr>
        <p:spPr>
          <a:xfrm>
            <a:off x="6958584" y="2148840"/>
            <a:ext cx="1371600" cy="384048"/>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04</a:t>
            </a:r>
            <a:endParaRPr lang="en-US" sz="1600" dirty="0"/>
          </a:p>
        </p:txBody>
      </p:sp>
      <p:sp>
        <p:nvSpPr>
          <p:cNvPr id="26" name="Text 24"/>
          <p:cNvSpPr/>
          <p:nvPr/>
        </p:nvSpPr>
        <p:spPr>
          <a:xfrm>
            <a:off x="6793992" y="2633472"/>
            <a:ext cx="1700784"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Immutable Audit Trail</a:t>
            </a:r>
            <a:endParaRPr lang="en-US" sz="1000" dirty="0"/>
          </a:p>
        </p:txBody>
      </p:sp>
      <p:sp>
        <p:nvSpPr>
          <p:cNvPr id="27" name="Text 25"/>
          <p:cNvSpPr/>
          <p:nvPr/>
        </p:nvSpPr>
        <p:spPr>
          <a:xfrm>
            <a:off x="6793992" y="3072384"/>
            <a:ext cx="1700784" cy="1417320"/>
          </a:xfrm>
          <a:prstGeom prst="rect">
            <a:avLst/>
          </a:prstGeom>
          <a:noFill/>
          <a:ln/>
        </p:spPr>
        <p:txBody>
          <a:bodyPr wrap="square" lIns="0" tIns="0" rIns="0" bIns="0" rtlCol="0" anchor="ctr"/>
          <a:lstStyle/>
          <a:p>
            <a:pPr algn="ctr" indent="0" marL="0">
              <a:buNone/>
            </a:pPr>
            <a:r>
              <a:rPr lang="en-US" sz="850" dirty="0">
                <a:solidFill>
                  <a:srgbClr val="A1A1AA"/>
                </a:solidFill>
                <a:latin typeface="Arial" pitchFamily="34" charset="0"/>
                <a:ea typeface="Arial" pitchFamily="34" charset="-122"/>
                <a:cs typeface="Arial" pitchFamily="34" charset="-120"/>
              </a:rPr>
              <a:t>Every decision logged to watsonx.governance for auditors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007A"/>
          </a:solidFill>
          <a:ln w="12700">
            <a:solidFill>
              <a:srgbClr val="FF007A"/>
            </a:solidFill>
            <a:prstDash val="solid"/>
          </a:ln>
        </p:spPr>
      </p:sp>
      <p:sp>
        <p:nvSpPr>
          <p:cNvPr id="3" name="Text 1"/>
          <p:cNvSpPr/>
          <p:nvPr/>
        </p:nvSpPr>
        <p:spPr>
          <a:xfrm>
            <a:off x="457200" y="182880"/>
            <a:ext cx="8229600" cy="274320"/>
          </a:xfrm>
          <a:prstGeom prst="rect">
            <a:avLst/>
          </a:prstGeom>
          <a:noFill/>
          <a:ln/>
        </p:spPr>
        <p:txBody>
          <a:bodyPr wrap="square" lIns="0" tIns="0" rIns="0" bIns="0" rtlCol="0" anchor="ctr"/>
          <a:lstStyle/>
          <a:p>
            <a:pPr indent="0" marL="0">
              <a:buNone/>
            </a:pPr>
            <a:r>
              <a:rPr lang="en-US" sz="800" b="1" spc="200" kern="0" dirty="0">
                <a:solidFill>
                  <a:srgbClr val="FF007A"/>
                </a:solidFill>
                <a:latin typeface="Arial" pitchFamily="34" charset="0"/>
                <a:ea typeface="Arial" pitchFamily="34" charset="-122"/>
                <a:cs typeface="Arial" pitchFamily="34" charset="-120"/>
              </a:rPr>
              <a:t>SYSTEM ARCHITECTURE</a:t>
            </a:r>
            <a:endParaRPr lang="en-US" sz="800" dirty="0"/>
          </a:p>
        </p:txBody>
      </p:sp>
      <p:sp>
        <p:nvSpPr>
          <p:cNvPr id="4" name="Text 2"/>
          <p:cNvSpPr/>
          <p:nvPr/>
        </p:nvSpPr>
        <p:spPr>
          <a:xfrm>
            <a:off x="457200" y="45720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Hexagonal Architecture · Three-Service Monorepo</a:t>
            </a:r>
            <a:endParaRPr lang="en-US" sz="2200" dirty="0"/>
          </a:p>
        </p:txBody>
      </p:sp>
      <p:sp>
        <p:nvSpPr>
          <p:cNvPr id="5" name="Shape 3"/>
          <p:cNvSpPr/>
          <p:nvPr/>
        </p:nvSpPr>
        <p:spPr>
          <a:xfrm>
            <a:off x="457200" y="914400"/>
            <a:ext cx="8229600" cy="0"/>
          </a:xfrm>
          <a:prstGeom prst="line">
            <a:avLst/>
          </a:prstGeom>
          <a:noFill/>
          <a:ln w="6350">
            <a:solidFill>
              <a:srgbClr val="52525B"/>
            </a:solidFill>
            <a:prstDash val="solid"/>
          </a:ln>
        </p:spPr>
      </p:sp>
      <p:sp>
        <p:nvSpPr>
          <p:cNvPr id="6" name="Shape 4"/>
          <p:cNvSpPr/>
          <p:nvPr/>
        </p:nvSpPr>
        <p:spPr>
          <a:xfrm>
            <a:off x="365760" y="1051560"/>
            <a:ext cx="2560320" cy="3291840"/>
          </a:xfrm>
          <a:prstGeom prst="roundRect">
            <a:avLst>
              <a:gd name="adj" fmla="val 2857"/>
            </a:avLst>
          </a:prstGeom>
          <a:solidFill>
            <a:srgbClr val="0A0A0A"/>
          </a:solidFill>
          <a:ln w="12700">
            <a:solidFill>
              <a:srgbClr val="FF5C00"/>
            </a:solidFill>
            <a:prstDash val="solid"/>
          </a:ln>
          <a:effectLst>
            <a:outerShdw sx="100000" sy="100000" kx="0" ky="0" algn="bl" rotWithShape="0" blurRad="101600" dist="38100" dir="2700000">
              <a:srgbClr val="000000">
                <a:alpha val="35000"/>
              </a:srgbClr>
            </a:outerShdw>
          </a:effectLst>
        </p:spPr>
      </p:sp>
      <p:sp>
        <p:nvSpPr>
          <p:cNvPr id="7" name="Shape 5"/>
          <p:cNvSpPr/>
          <p:nvPr/>
        </p:nvSpPr>
        <p:spPr>
          <a:xfrm>
            <a:off x="457200" y="1115568"/>
            <a:ext cx="2377440" cy="475488"/>
          </a:xfrm>
          <a:prstGeom prst="roundRect">
            <a:avLst>
              <a:gd name="adj" fmla="val 9615"/>
            </a:avLst>
          </a:prstGeom>
          <a:solidFill>
            <a:srgbClr val="FF5C00"/>
          </a:solidFill>
          <a:ln w="12700">
            <a:solidFill>
              <a:srgbClr val="FF5C00"/>
            </a:solidFill>
            <a:prstDash val="solid"/>
          </a:ln>
        </p:spPr>
      </p:sp>
      <p:sp>
        <p:nvSpPr>
          <p:cNvPr id="8" name="Text 6"/>
          <p:cNvSpPr/>
          <p:nvPr/>
        </p:nvSpPr>
        <p:spPr>
          <a:xfrm>
            <a:off x="457200" y="1115568"/>
            <a:ext cx="2377440" cy="274320"/>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Python Engine</a:t>
            </a:r>
            <a:endParaRPr lang="en-US" sz="1100" dirty="0"/>
          </a:p>
        </p:txBody>
      </p:sp>
      <p:sp>
        <p:nvSpPr>
          <p:cNvPr id="9" name="Text 7"/>
          <p:cNvSpPr/>
          <p:nvPr/>
        </p:nvSpPr>
        <p:spPr>
          <a:xfrm>
            <a:off x="457200" y="1371600"/>
            <a:ext cx="2377440" cy="201168"/>
          </a:xfrm>
          <a:prstGeom prst="rect">
            <a:avLst/>
          </a:prstGeom>
          <a:noFill/>
          <a:ln/>
        </p:spPr>
        <p:txBody>
          <a:bodyPr wrap="square" lIns="0" tIns="0" rIns="0" bIns="0" rtlCol="0" anchor="ctr"/>
          <a:lstStyle/>
          <a:p>
            <a:pPr algn="ctr" indent="0" marL="0">
              <a:buNone/>
            </a:pPr>
            <a:r>
              <a:rPr lang="en-US" sz="800" dirty="0">
                <a:solidFill>
                  <a:srgbClr val="000000"/>
                </a:solidFill>
                <a:latin typeface="Arial" pitchFamily="34" charset="0"/>
                <a:ea typeface="Arial" pitchFamily="34" charset="-122"/>
                <a:cs typeface="Arial" pitchFamily="34" charset="-120"/>
              </a:rPr>
              <a:t>FastAPI + Hexagonal Adapters</a:t>
            </a:r>
            <a:endParaRPr lang="en-US" sz="800" dirty="0"/>
          </a:p>
        </p:txBody>
      </p:sp>
      <p:sp>
        <p:nvSpPr>
          <p:cNvPr id="10" name="Text 8"/>
          <p:cNvSpPr/>
          <p:nvPr/>
        </p:nvSpPr>
        <p:spPr>
          <a:xfrm>
            <a:off x="548640" y="1737360"/>
            <a:ext cx="2286000" cy="420624"/>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  22-rule compliance matrix</a:t>
            </a:r>
            <a:endParaRPr lang="en-US" sz="900" dirty="0"/>
          </a:p>
        </p:txBody>
      </p:sp>
      <p:sp>
        <p:nvSpPr>
          <p:cNvPr id="11" name="Shape 9"/>
          <p:cNvSpPr/>
          <p:nvPr/>
        </p:nvSpPr>
        <p:spPr>
          <a:xfrm>
            <a:off x="548640" y="2157984"/>
            <a:ext cx="2194560" cy="0"/>
          </a:xfrm>
          <a:prstGeom prst="line">
            <a:avLst/>
          </a:prstGeom>
          <a:noFill/>
          <a:ln w="3810">
            <a:solidFill>
              <a:srgbClr val="52525B"/>
            </a:solidFill>
            <a:prstDash val="solid"/>
          </a:ln>
        </p:spPr>
      </p:sp>
      <p:sp>
        <p:nvSpPr>
          <p:cNvPr id="12" name="Text 10"/>
          <p:cNvSpPr/>
          <p:nvPr/>
        </p:nvSpPr>
        <p:spPr>
          <a:xfrm>
            <a:off x="548640" y="2249424"/>
            <a:ext cx="2286000" cy="420624"/>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  SSE streaming analysis</a:t>
            </a:r>
            <a:endParaRPr lang="en-US" sz="900" dirty="0"/>
          </a:p>
        </p:txBody>
      </p:sp>
      <p:sp>
        <p:nvSpPr>
          <p:cNvPr id="13" name="Shape 11"/>
          <p:cNvSpPr/>
          <p:nvPr/>
        </p:nvSpPr>
        <p:spPr>
          <a:xfrm>
            <a:off x="548640" y="2670048"/>
            <a:ext cx="2194560" cy="0"/>
          </a:xfrm>
          <a:prstGeom prst="line">
            <a:avLst/>
          </a:prstGeom>
          <a:noFill/>
          <a:ln w="3810">
            <a:solidFill>
              <a:srgbClr val="52525B"/>
            </a:solidFill>
            <a:prstDash val="solid"/>
          </a:ln>
        </p:spPr>
      </p:sp>
      <p:sp>
        <p:nvSpPr>
          <p:cNvPr id="14" name="Text 12"/>
          <p:cNvSpPr/>
          <p:nvPr/>
        </p:nvSpPr>
        <p:spPr>
          <a:xfrm>
            <a:off x="548640" y="2761488"/>
            <a:ext cx="2286000" cy="420624"/>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  MOCK_MODE adapter swap</a:t>
            </a:r>
            <a:endParaRPr lang="en-US" sz="900" dirty="0"/>
          </a:p>
        </p:txBody>
      </p:sp>
      <p:sp>
        <p:nvSpPr>
          <p:cNvPr id="15" name="Shape 13"/>
          <p:cNvSpPr/>
          <p:nvPr/>
        </p:nvSpPr>
        <p:spPr>
          <a:xfrm>
            <a:off x="548640" y="3182112"/>
            <a:ext cx="2194560" cy="0"/>
          </a:xfrm>
          <a:prstGeom prst="line">
            <a:avLst/>
          </a:prstGeom>
          <a:noFill/>
          <a:ln w="3810">
            <a:solidFill>
              <a:srgbClr val="52525B"/>
            </a:solidFill>
            <a:prstDash val="solid"/>
          </a:ln>
        </p:spPr>
      </p:sp>
      <p:sp>
        <p:nvSpPr>
          <p:cNvPr id="16" name="Text 14"/>
          <p:cNvSpPr/>
          <p:nvPr/>
        </p:nvSpPr>
        <p:spPr>
          <a:xfrm>
            <a:off x="548640" y="3273552"/>
            <a:ext cx="2286000" cy="420624"/>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  Granite via watsonx.ai</a:t>
            </a:r>
            <a:endParaRPr lang="en-US" sz="900" dirty="0"/>
          </a:p>
        </p:txBody>
      </p:sp>
      <p:sp>
        <p:nvSpPr>
          <p:cNvPr id="17" name="Shape 15"/>
          <p:cNvSpPr/>
          <p:nvPr/>
        </p:nvSpPr>
        <p:spPr>
          <a:xfrm>
            <a:off x="3200400" y="1051560"/>
            <a:ext cx="2560320" cy="3291840"/>
          </a:xfrm>
          <a:prstGeom prst="roundRect">
            <a:avLst>
              <a:gd name="adj" fmla="val 2857"/>
            </a:avLst>
          </a:prstGeom>
          <a:solidFill>
            <a:srgbClr val="0A0A0A"/>
          </a:solidFill>
          <a:ln w="12700">
            <a:solidFill>
              <a:srgbClr val="FF007A"/>
            </a:solidFill>
            <a:prstDash val="solid"/>
          </a:ln>
          <a:effectLst>
            <a:outerShdw sx="100000" sy="100000" kx="0" ky="0" algn="bl" rotWithShape="0" blurRad="101600" dist="38100" dir="2700000">
              <a:srgbClr val="000000">
                <a:alpha val="35000"/>
              </a:srgbClr>
            </a:outerShdw>
          </a:effectLst>
        </p:spPr>
      </p:sp>
      <p:sp>
        <p:nvSpPr>
          <p:cNvPr id="18" name="Shape 16"/>
          <p:cNvSpPr/>
          <p:nvPr/>
        </p:nvSpPr>
        <p:spPr>
          <a:xfrm>
            <a:off x="3291840" y="1115568"/>
            <a:ext cx="2377440" cy="475488"/>
          </a:xfrm>
          <a:prstGeom prst="roundRect">
            <a:avLst>
              <a:gd name="adj" fmla="val 9615"/>
            </a:avLst>
          </a:prstGeom>
          <a:solidFill>
            <a:srgbClr val="FF007A"/>
          </a:solidFill>
          <a:ln w="12700">
            <a:solidFill>
              <a:srgbClr val="FF007A"/>
            </a:solidFill>
            <a:prstDash val="solid"/>
          </a:ln>
        </p:spPr>
      </p:sp>
      <p:sp>
        <p:nvSpPr>
          <p:cNvPr id="19" name="Text 17"/>
          <p:cNvSpPr/>
          <p:nvPr/>
        </p:nvSpPr>
        <p:spPr>
          <a:xfrm>
            <a:off x="3291840" y="1115568"/>
            <a:ext cx="2377440" cy="274320"/>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Node.js Auth</a:t>
            </a:r>
            <a:endParaRPr lang="en-US" sz="1100" dirty="0"/>
          </a:p>
        </p:txBody>
      </p:sp>
      <p:sp>
        <p:nvSpPr>
          <p:cNvPr id="20" name="Text 18"/>
          <p:cNvSpPr/>
          <p:nvPr/>
        </p:nvSpPr>
        <p:spPr>
          <a:xfrm>
            <a:off x="3291840" y="1371600"/>
            <a:ext cx="2377440" cy="201168"/>
          </a:xfrm>
          <a:prstGeom prst="rect">
            <a:avLst/>
          </a:prstGeom>
          <a:noFill/>
          <a:ln/>
        </p:spPr>
        <p:txBody>
          <a:bodyPr wrap="square" lIns="0" tIns="0" rIns="0" bIns="0" rtlCol="0" anchor="ctr"/>
          <a:lstStyle/>
          <a:p>
            <a:pPr algn="ctr" indent="0" marL="0">
              <a:buNone/>
            </a:pPr>
            <a:r>
              <a:rPr lang="en-US" sz="800" dirty="0">
                <a:solidFill>
                  <a:srgbClr val="000000"/>
                </a:solidFill>
                <a:latin typeface="Arial" pitchFamily="34" charset="0"/>
                <a:ea typeface="Arial" pitchFamily="34" charset="-122"/>
                <a:cs typeface="Arial" pitchFamily="34" charset="-120"/>
              </a:rPr>
              <a:t>Express + Prisma + JWT</a:t>
            </a:r>
            <a:endParaRPr lang="en-US" sz="800" dirty="0"/>
          </a:p>
        </p:txBody>
      </p:sp>
      <p:sp>
        <p:nvSpPr>
          <p:cNvPr id="21" name="Text 19"/>
          <p:cNvSpPr/>
          <p:nvPr/>
        </p:nvSpPr>
        <p:spPr>
          <a:xfrm>
            <a:off x="3383280" y="1737360"/>
            <a:ext cx="2286000" cy="420624"/>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  JWT + refresh tokens</a:t>
            </a:r>
            <a:endParaRPr lang="en-US" sz="900" dirty="0"/>
          </a:p>
        </p:txBody>
      </p:sp>
      <p:sp>
        <p:nvSpPr>
          <p:cNvPr id="22" name="Shape 20"/>
          <p:cNvSpPr/>
          <p:nvPr/>
        </p:nvSpPr>
        <p:spPr>
          <a:xfrm>
            <a:off x="3383280" y="2157984"/>
            <a:ext cx="2194560" cy="0"/>
          </a:xfrm>
          <a:prstGeom prst="line">
            <a:avLst/>
          </a:prstGeom>
          <a:noFill/>
          <a:ln w="3810">
            <a:solidFill>
              <a:srgbClr val="52525B"/>
            </a:solidFill>
            <a:prstDash val="solid"/>
          </a:ln>
        </p:spPr>
      </p:sp>
      <p:sp>
        <p:nvSpPr>
          <p:cNvPr id="23" name="Text 21"/>
          <p:cNvSpPr/>
          <p:nvPr/>
        </p:nvSpPr>
        <p:spPr>
          <a:xfrm>
            <a:off x="3383280" y="2249424"/>
            <a:ext cx="2286000" cy="420624"/>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  Google OAuth 2.0</a:t>
            </a:r>
            <a:endParaRPr lang="en-US" sz="900" dirty="0"/>
          </a:p>
        </p:txBody>
      </p:sp>
      <p:sp>
        <p:nvSpPr>
          <p:cNvPr id="24" name="Shape 22"/>
          <p:cNvSpPr/>
          <p:nvPr/>
        </p:nvSpPr>
        <p:spPr>
          <a:xfrm>
            <a:off x="3383280" y="2670048"/>
            <a:ext cx="2194560" cy="0"/>
          </a:xfrm>
          <a:prstGeom prst="line">
            <a:avLst/>
          </a:prstGeom>
          <a:noFill/>
          <a:ln w="3810">
            <a:solidFill>
              <a:srgbClr val="52525B"/>
            </a:solidFill>
            <a:prstDash val="solid"/>
          </a:ln>
        </p:spPr>
      </p:sp>
      <p:sp>
        <p:nvSpPr>
          <p:cNvPr id="25" name="Text 23"/>
          <p:cNvSpPr/>
          <p:nvPr/>
        </p:nvSpPr>
        <p:spPr>
          <a:xfrm>
            <a:off x="3383280" y="2761488"/>
            <a:ext cx="2286000" cy="420624"/>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  Session &amp; findings ledger</a:t>
            </a:r>
            <a:endParaRPr lang="en-US" sz="900" dirty="0"/>
          </a:p>
        </p:txBody>
      </p:sp>
      <p:sp>
        <p:nvSpPr>
          <p:cNvPr id="26" name="Shape 24"/>
          <p:cNvSpPr/>
          <p:nvPr/>
        </p:nvSpPr>
        <p:spPr>
          <a:xfrm>
            <a:off x="3383280" y="3182112"/>
            <a:ext cx="2194560" cy="0"/>
          </a:xfrm>
          <a:prstGeom prst="line">
            <a:avLst/>
          </a:prstGeom>
          <a:noFill/>
          <a:ln w="3810">
            <a:solidFill>
              <a:srgbClr val="52525B"/>
            </a:solidFill>
            <a:prstDash val="solid"/>
          </a:ln>
        </p:spPr>
      </p:sp>
      <p:sp>
        <p:nvSpPr>
          <p:cNvPr id="27" name="Text 25"/>
          <p:cNvSpPr/>
          <p:nvPr/>
        </p:nvSpPr>
        <p:spPr>
          <a:xfrm>
            <a:off x="3383280" y="3273552"/>
            <a:ext cx="2286000" cy="420624"/>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  PostgreSQL via Prisma</a:t>
            </a:r>
            <a:endParaRPr lang="en-US" sz="900" dirty="0"/>
          </a:p>
        </p:txBody>
      </p:sp>
      <p:sp>
        <p:nvSpPr>
          <p:cNvPr id="28" name="Shape 26"/>
          <p:cNvSpPr/>
          <p:nvPr/>
        </p:nvSpPr>
        <p:spPr>
          <a:xfrm>
            <a:off x="6035040" y="1051560"/>
            <a:ext cx="2560320" cy="3291840"/>
          </a:xfrm>
          <a:prstGeom prst="roundRect">
            <a:avLst>
              <a:gd name="adj" fmla="val 2857"/>
            </a:avLst>
          </a:prstGeom>
          <a:solidFill>
            <a:srgbClr val="0A0A0A"/>
          </a:solidFill>
          <a:ln w="12700">
            <a:solidFill>
              <a:srgbClr val="E5FF00"/>
            </a:solidFill>
            <a:prstDash val="solid"/>
          </a:ln>
          <a:effectLst>
            <a:outerShdw sx="100000" sy="100000" kx="0" ky="0" algn="bl" rotWithShape="0" blurRad="101600" dist="38100" dir="2700000">
              <a:srgbClr val="000000">
                <a:alpha val="35000"/>
              </a:srgbClr>
            </a:outerShdw>
          </a:effectLst>
        </p:spPr>
      </p:sp>
      <p:sp>
        <p:nvSpPr>
          <p:cNvPr id="29" name="Shape 27"/>
          <p:cNvSpPr/>
          <p:nvPr/>
        </p:nvSpPr>
        <p:spPr>
          <a:xfrm>
            <a:off x="6126480" y="1115568"/>
            <a:ext cx="2377440" cy="475488"/>
          </a:xfrm>
          <a:prstGeom prst="roundRect">
            <a:avLst>
              <a:gd name="adj" fmla="val 9615"/>
            </a:avLst>
          </a:prstGeom>
          <a:solidFill>
            <a:srgbClr val="E5FF00"/>
          </a:solidFill>
          <a:ln w="12700">
            <a:solidFill>
              <a:srgbClr val="E5FF00"/>
            </a:solidFill>
            <a:prstDash val="solid"/>
          </a:ln>
        </p:spPr>
      </p:sp>
      <p:sp>
        <p:nvSpPr>
          <p:cNvPr id="30" name="Text 28"/>
          <p:cNvSpPr/>
          <p:nvPr/>
        </p:nvSpPr>
        <p:spPr>
          <a:xfrm>
            <a:off x="6126480" y="1115568"/>
            <a:ext cx="2377440" cy="274320"/>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Next.js Frontend</a:t>
            </a:r>
            <a:endParaRPr lang="en-US" sz="1100" dirty="0"/>
          </a:p>
        </p:txBody>
      </p:sp>
      <p:sp>
        <p:nvSpPr>
          <p:cNvPr id="31" name="Text 29"/>
          <p:cNvSpPr/>
          <p:nvPr/>
        </p:nvSpPr>
        <p:spPr>
          <a:xfrm>
            <a:off x="6126480" y="1371600"/>
            <a:ext cx="2377440" cy="201168"/>
          </a:xfrm>
          <a:prstGeom prst="rect">
            <a:avLst/>
          </a:prstGeom>
          <a:noFill/>
          <a:ln/>
        </p:spPr>
        <p:txBody>
          <a:bodyPr wrap="square" lIns="0" tIns="0" rIns="0" bIns="0" rtlCol="0" anchor="ctr"/>
          <a:lstStyle/>
          <a:p>
            <a:pPr algn="ctr" indent="0" marL="0">
              <a:buNone/>
            </a:pPr>
            <a:r>
              <a:rPr lang="en-US" sz="800" dirty="0">
                <a:solidFill>
                  <a:srgbClr val="000000"/>
                </a:solidFill>
                <a:latin typeface="Arial" pitchFamily="34" charset="0"/>
                <a:ea typeface="Arial" pitchFamily="34" charset="-122"/>
                <a:cs typeface="Arial" pitchFamily="34" charset="-120"/>
              </a:rPr>
              <a:t>TypeScript + Tailwind + Zustand</a:t>
            </a:r>
            <a:endParaRPr lang="en-US" sz="800" dirty="0"/>
          </a:p>
        </p:txBody>
      </p:sp>
      <p:sp>
        <p:nvSpPr>
          <p:cNvPr id="32" name="Text 30"/>
          <p:cNvSpPr/>
          <p:nvPr/>
        </p:nvSpPr>
        <p:spPr>
          <a:xfrm>
            <a:off x="6217920" y="1737360"/>
            <a:ext cx="2286000" cy="420624"/>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  6-page application</a:t>
            </a:r>
            <a:endParaRPr lang="en-US" sz="900" dirty="0"/>
          </a:p>
        </p:txBody>
      </p:sp>
      <p:sp>
        <p:nvSpPr>
          <p:cNvPr id="33" name="Shape 31"/>
          <p:cNvSpPr/>
          <p:nvPr/>
        </p:nvSpPr>
        <p:spPr>
          <a:xfrm>
            <a:off x="6217920" y="2157984"/>
            <a:ext cx="2194560" cy="0"/>
          </a:xfrm>
          <a:prstGeom prst="line">
            <a:avLst/>
          </a:prstGeom>
          <a:noFill/>
          <a:ln w="3810">
            <a:solidFill>
              <a:srgbClr val="52525B"/>
            </a:solidFill>
            <a:prstDash val="solid"/>
          </a:ln>
        </p:spPr>
      </p:sp>
      <p:sp>
        <p:nvSpPr>
          <p:cNvPr id="34" name="Text 32"/>
          <p:cNvSpPr/>
          <p:nvPr/>
        </p:nvSpPr>
        <p:spPr>
          <a:xfrm>
            <a:off x="6217920" y="2249424"/>
            <a:ext cx="2286000" cy="420624"/>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  Route guard middleware</a:t>
            </a:r>
            <a:endParaRPr lang="en-US" sz="900" dirty="0"/>
          </a:p>
        </p:txBody>
      </p:sp>
      <p:sp>
        <p:nvSpPr>
          <p:cNvPr id="35" name="Shape 33"/>
          <p:cNvSpPr/>
          <p:nvPr/>
        </p:nvSpPr>
        <p:spPr>
          <a:xfrm>
            <a:off x="6217920" y="2670048"/>
            <a:ext cx="2194560" cy="0"/>
          </a:xfrm>
          <a:prstGeom prst="line">
            <a:avLst/>
          </a:prstGeom>
          <a:noFill/>
          <a:ln w="3810">
            <a:solidFill>
              <a:srgbClr val="52525B"/>
            </a:solidFill>
            <a:prstDash val="solid"/>
          </a:ln>
        </p:spPr>
      </p:sp>
      <p:sp>
        <p:nvSpPr>
          <p:cNvPr id="36" name="Text 34"/>
          <p:cNvSpPr/>
          <p:nvPr/>
        </p:nvSpPr>
        <p:spPr>
          <a:xfrm>
            <a:off x="6217920" y="2761488"/>
            <a:ext cx="2286000" cy="420624"/>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  Streaming chat canvas</a:t>
            </a:r>
            <a:endParaRPr lang="en-US" sz="900" dirty="0"/>
          </a:p>
        </p:txBody>
      </p:sp>
      <p:sp>
        <p:nvSpPr>
          <p:cNvPr id="37" name="Shape 35"/>
          <p:cNvSpPr/>
          <p:nvPr/>
        </p:nvSpPr>
        <p:spPr>
          <a:xfrm>
            <a:off x="6217920" y="3182112"/>
            <a:ext cx="2194560" cy="0"/>
          </a:xfrm>
          <a:prstGeom prst="line">
            <a:avLst/>
          </a:prstGeom>
          <a:noFill/>
          <a:ln w="3810">
            <a:solidFill>
              <a:srgbClr val="52525B"/>
            </a:solidFill>
            <a:prstDash val="solid"/>
          </a:ln>
        </p:spPr>
      </p:sp>
      <p:sp>
        <p:nvSpPr>
          <p:cNvPr id="38" name="Text 36"/>
          <p:cNvSpPr/>
          <p:nvPr/>
        </p:nvSpPr>
        <p:spPr>
          <a:xfrm>
            <a:off x="6217920" y="3273552"/>
            <a:ext cx="2286000" cy="420624"/>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  Real-time audit console</a:t>
            </a:r>
            <a:endParaRPr lang="en-US" sz="900" dirty="0"/>
          </a:p>
        </p:txBody>
      </p:sp>
      <p:sp>
        <p:nvSpPr>
          <p:cNvPr id="39" name="Shape 37"/>
          <p:cNvSpPr/>
          <p:nvPr/>
        </p:nvSpPr>
        <p:spPr>
          <a:xfrm>
            <a:off x="3090672" y="2697480"/>
            <a:ext cx="219456" cy="0"/>
          </a:xfrm>
          <a:prstGeom prst="line">
            <a:avLst/>
          </a:prstGeom>
          <a:noFill/>
          <a:ln w="19050">
            <a:solidFill>
              <a:srgbClr val="A1A1AA"/>
            </a:solidFill>
            <a:prstDash val="dash"/>
          </a:ln>
        </p:spPr>
      </p:sp>
      <p:sp>
        <p:nvSpPr>
          <p:cNvPr id="40" name="Shape 38"/>
          <p:cNvSpPr/>
          <p:nvPr/>
        </p:nvSpPr>
        <p:spPr>
          <a:xfrm>
            <a:off x="5925312" y="2697480"/>
            <a:ext cx="219456" cy="0"/>
          </a:xfrm>
          <a:prstGeom prst="line">
            <a:avLst/>
          </a:prstGeom>
          <a:noFill/>
          <a:ln w="19050">
            <a:solidFill>
              <a:srgbClr val="A1A1AA"/>
            </a:solidFill>
            <a:prstDash val="dash"/>
          </a:ln>
        </p:spPr>
      </p:sp>
      <p:sp>
        <p:nvSpPr>
          <p:cNvPr id="41" name="Shape 39"/>
          <p:cNvSpPr/>
          <p:nvPr/>
        </p:nvSpPr>
        <p:spPr>
          <a:xfrm>
            <a:off x="365760" y="4434840"/>
            <a:ext cx="8412480" cy="502920"/>
          </a:xfrm>
          <a:prstGeom prst="roundRect">
            <a:avLst>
              <a:gd name="adj" fmla="val 9091"/>
            </a:avLst>
          </a:prstGeom>
          <a:solidFill>
            <a:srgbClr val="111111"/>
          </a:solidFill>
          <a:ln w="10160">
            <a:solidFill>
              <a:srgbClr val="1B6CA8"/>
            </a:solidFill>
            <a:prstDash val="solid"/>
          </a:ln>
        </p:spPr>
      </p:sp>
      <p:sp>
        <p:nvSpPr>
          <p:cNvPr id="42" name="Text 40"/>
          <p:cNvSpPr/>
          <p:nvPr/>
        </p:nvSpPr>
        <p:spPr>
          <a:xfrm>
            <a:off x="502920" y="4462272"/>
            <a:ext cx="8229600" cy="448056"/>
          </a:xfrm>
          <a:prstGeom prst="rect">
            <a:avLst/>
          </a:prstGeom>
          <a:noFill/>
          <a:ln/>
        </p:spPr>
        <p:txBody>
          <a:bodyPr wrap="square" lIns="0" tIns="0" rIns="0" bIns="0" rtlCol="0" anchor="ctr"/>
          <a:lstStyle/>
          <a:p>
            <a:pPr indent="0" marL="0">
              <a:buNone/>
            </a:pPr>
            <a:r>
              <a:rPr lang="en-US" sz="850" dirty="0">
                <a:solidFill>
                  <a:srgbClr val="A1A1AA"/>
                </a:solidFill>
                <a:latin typeface="Arial" pitchFamily="34" charset="0"/>
                <a:ea typeface="Arial" pitchFamily="34" charset="-122"/>
                <a:cs typeface="Arial" pitchFamily="34" charset="-120"/>
              </a:rPr>
              <a:t>Hexagonal Architecture: Domain core never imports IBM SDKs directly — only Ports (Python Protocols). Two Adapters per Port: IBM Active (watsonx.ai, Cloud DBs) and MOCK_MODE (Ollama, local pgvector). Swap via MOCK_MODE=true — zero code changes.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5C00"/>
          </a:solidFill>
          <a:ln w="12700">
            <a:solidFill>
              <a:srgbClr val="FF5C00"/>
            </a:solidFill>
            <a:prstDash val="solid"/>
          </a:ln>
        </p:spPr>
      </p:sp>
      <p:sp>
        <p:nvSpPr>
          <p:cNvPr id="3" name="Text 1"/>
          <p:cNvSpPr/>
          <p:nvPr/>
        </p:nvSpPr>
        <p:spPr>
          <a:xfrm>
            <a:off x="457200" y="182880"/>
            <a:ext cx="8229600" cy="274320"/>
          </a:xfrm>
          <a:prstGeom prst="rect">
            <a:avLst/>
          </a:prstGeom>
          <a:noFill/>
          <a:ln/>
        </p:spPr>
        <p:txBody>
          <a:bodyPr wrap="square" lIns="0" tIns="0" rIns="0" bIns="0" rtlCol="0" anchor="ctr"/>
          <a:lstStyle/>
          <a:p>
            <a:pPr indent="0" marL="0">
              <a:buNone/>
            </a:pPr>
            <a:r>
              <a:rPr lang="en-US" sz="800" b="1" spc="200" kern="0" dirty="0">
                <a:solidFill>
                  <a:srgbClr val="FF5C00"/>
                </a:solidFill>
                <a:latin typeface="Arial" pitchFamily="34" charset="0"/>
                <a:ea typeface="Arial" pitchFamily="34" charset="-122"/>
                <a:cs typeface="Arial" pitchFamily="34" charset="-120"/>
              </a:rPr>
              <a:t>AGENTIC PIPELINE</a:t>
            </a:r>
            <a:endParaRPr lang="en-US" sz="800" dirty="0"/>
          </a:p>
        </p:txBody>
      </p:sp>
      <p:sp>
        <p:nvSpPr>
          <p:cNvPr id="4" name="Text 2"/>
          <p:cNvSpPr/>
          <p:nvPr/>
        </p:nvSpPr>
        <p:spPr>
          <a:xfrm>
            <a:off x="457200" y="45720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Four-Agent Deterministic DAG — Runs Twice</a:t>
            </a:r>
            <a:endParaRPr lang="en-US" sz="2200" dirty="0"/>
          </a:p>
        </p:txBody>
      </p:sp>
      <p:sp>
        <p:nvSpPr>
          <p:cNvPr id="5" name="Shape 3"/>
          <p:cNvSpPr/>
          <p:nvPr/>
        </p:nvSpPr>
        <p:spPr>
          <a:xfrm>
            <a:off x="457200" y="914400"/>
            <a:ext cx="8229600" cy="0"/>
          </a:xfrm>
          <a:prstGeom prst="line">
            <a:avLst/>
          </a:prstGeom>
          <a:noFill/>
          <a:ln w="6350">
            <a:solidFill>
              <a:srgbClr val="52525B"/>
            </a:solidFill>
            <a:prstDash val="solid"/>
          </a:ln>
        </p:spPr>
      </p:sp>
      <p:sp>
        <p:nvSpPr>
          <p:cNvPr id="6" name="Shape 4"/>
          <p:cNvSpPr/>
          <p:nvPr/>
        </p:nvSpPr>
        <p:spPr>
          <a:xfrm>
            <a:off x="365760" y="987552"/>
            <a:ext cx="1828800" cy="329184"/>
          </a:xfrm>
          <a:prstGeom prst="roundRect">
            <a:avLst>
              <a:gd name="adj" fmla="val 11111"/>
            </a:avLst>
          </a:prstGeom>
          <a:solidFill>
            <a:srgbClr val="FF007A"/>
          </a:solidFill>
          <a:ln w="12700">
            <a:solidFill>
              <a:srgbClr val="FF007A"/>
            </a:solidFill>
            <a:prstDash val="solid"/>
          </a:ln>
        </p:spPr>
      </p:sp>
      <p:sp>
        <p:nvSpPr>
          <p:cNvPr id="7" name="Text 5"/>
          <p:cNvSpPr/>
          <p:nvPr/>
        </p:nvSpPr>
        <p:spPr>
          <a:xfrm>
            <a:off x="365760" y="987552"/>
            <a:ext cx="182880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IDE-TIME (advisory)</a:t>
            </a:r>
            <a:endParaRPr lang="en-US" sz="800" dirty="0"/>
          </a:p>
        </p:txBody>
      </p:sp>
      <p:sp>
        <p:nvSpPr>
          <p:cNvPr id="8" name="Shape 6"/>
          <p:cNvSpPr/>
          <p:nvPr/>
        </p:nvSpPr>
        <p:spPr>
          <a:xfrm>
            <a:off x="6949440" y="987552"/>
            <a:ext cx="1828800" cy="329184"/>
          </a:xfrm>
          <a:prstGeom prst="roundRect">
            <a:avLst>
              <a:gd name="adj" fmla="val 11111"/>
            </a:avLst>
          </a:prstGeom>
          <a:solidFill>
            <a:srgbClr val="E5FF00"/>
          </a:solidFill>
          <a:ln w="12700">
            <a:solidFill>
              <a:srgbClr val="E5FF00"/>
            </a:solidFill>
            <a:prstDash val="solid"/>
          </a:ln>
        </p:spPr>
      </p:sp>
      <p:sp>
        <p:nvSpPr>
          <p:cNvPr id="9" name="Text 7"/>
          <p:cNvSpPr/>
          <p:nvPr/>
        </p:nvSpPr>
        <p:spPr>
          <a:xfrm>
            <a:off x="6949440" y="987552"/>
            <a:ext cx="1828800" cy="329184"/>
          </a:xfrm>
          <a:prstGeom prst="rect">
            <a:avLst/>
          </a:prstGeom>
          <a:noFill/>
          <a:ln/>
        </p:spPr>
        <p:txBody>
          <a:bodyPr wrap="square" lIns="0" tIns="0" rIns="0" bIns="0" rtlCol="0" anchor="ctr"/>
          <a:lstStyle/>
          <a:p>
            <a:pPr algn="ctr" indent="0" marL="0">
              <a:buNone/>
            </a:pPr>
            <a:r>
              <a:rPr lang="en-US" sz="800" b="1" dirty="0">
                <a:solidFill>
                  <a:srgbClr val="000000"/>
                </a:solidFill>
                <a:latin typeface="Arial" pitchFamily="34" charset="0"/>
                <a:ea typeface="Arial" pitchFamily="34" charset="-122"/>
                <a:cs typeface="Arial" pitchFamily="34" charset="-120"/>
              </a:rPr>
              <a:t>CI-TIME (enforcing)</a:t>
            </a:r>
            <a:endParaRPr lang="en-US" sz="800" dirty="0"/>
          </a:p>
        </p:txBody>
      </p:sp>
      <p:sp>
        <p:nvSpPr>
          <p:cNvPr id="10" name="Shape 8"/>
          <p:cNvSpPr/>
          <p:nvPr/>
        </p:nvSpPr>
        <p:spPr>
          <a:xfrm>
            <a:off x="502920" y="1463040"/>
            <a:ext cx="1828800" cy="2926080"/>
          </a:xfrm>
          <a:prstGeom prst="roundRect">
            <a:avLst>
              <a:gd name="adj" fmla="val 4000"/>
            </a:avLst>
          </a:prstGeom>
          <a:solidFill>
            <a:srgbClr val="0A0A0A"/>
          </a:solidFill>
          <a:ln w="15240">
            <a:solidFill>
              <a:srgbClr val="1B6CA8"/>
            </a:solidFill>
            <a:prstDash val="solid"/>
          </a:ln>
          <a:effectLst>
            <a:outerShdw sx="100000" sy="100000" kx="0" ky="0" algn="bl" rotWithShape="0" blurRad="101600" dist="38100" dir="2700000">
              <a:srgbClr val="000000">
                <a:alpha val="35000"/>
              </a:srgbClr>
            </a:outerShdw>
          </a:effectLst>
        </p:spPr>
      </p:sp>
      <p:sp>
        <p:nvSpPr>
          <p:cNvPr id="11" name="Shape 9"/>
          <p:cNvSpPr/>
          <p:nvPr/>
        </p:nvSpPr>
        <p:spPr>
          <a:xfrm>
            <a:off x="731520" y="1572768"/>
            <a:ext cx="1371600" cy="457200"/>
          </a:xfrm>
          <a:prstGeom prst="roundRect">
            <a:avLst>
              <a:gd name="adj" fmla="val 10000"/>
            </a:avLst>
          </a:prstGeom>
          <a:solidFill>
            <a:srgbClr val="1B6CA8"/>
          </a:solidFill>
          <a:ln w="12700">
            <a:solidFill>
              <a:srgbClr val="1B6CA8"/>
            </a:solidFill>
            <a:prstDash val="solid"/>
          </a:ln>
        </p:spPr>
      </p:sp>
      <p:sp>
        <p:nvSpPr>
          <p:cNvPr id="12" name="Text 10"/>
          <p:cNvSpPr/>
          <p:nvPr/>
        </p:nvSpPr>
        <p:spPr>
          <a:xfrm>
            <a:off x="731520" y="1572768"/>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01</a:t>
            </a:r>
            <a:endParaRPr lang="en-US" sz="1800" dirty="0"/>
          </a:p>
        </p:txBody>
      </p:sp>
      <p:sp>
        <p:nvSpPr>
          <p:cNvPr id="13" name="Text 11"/>
          <p:cNvSpPr/>
          <p:nvPr/>
        </p:nvSpPr>
        <p:spPr>
          <a:xfrm>
            <a:off x="594360" y="2139696"/>
            <a:ext cx="164592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Policy</a:t>
            </a:r>
            <a:endParaRPr lang="en-US" sz="1050" dirty="0"/>
          </a:p>
          <a:p>
            <a:pPr algn="ctr" indent="0" marL="0">
              <a:buNone/>
            </a:pPr>
            <a:r>
              <a:rPr lang="en-US" sz="1050" b="1" dirty="0">
                <a:solidFill>
                  <a:srgbClr val="FFFFFF"/>
                </a:solidFill>
                <a:latin typeface="Arial" pitchFamily="34" charset="0"/>
                <a:ea typeface="Arial" pitchFamily="34" charset="-122"/>
                <a:cs typeface="Arial" pitchFamily="34" charset="-120"/>
              </a:rPr>
              <a:t>Retrieval</a:t>
            </a:r>
            <a:endParaRPr lang="en-US" sz="1050" dirty="0"/>
          </a:p>
        </p:txBody>
      </p:sp>
      <p:sp>
        <p:nvSpPr>
          <p:cNvPr id="14" name="Text 12"/>
          <p:cNvSpPr/>
          <p:nvPr/>
        </p:nvSpPr>
        <p:spPr>
          <a:xfrm>
            <a:off x="594360" y="2697480"/>
            <a:ext cx="1645920" cy="59436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RAG over ADR/</a:t>
            </a:r>
            <a:endParaRPr lang="en-US" sz="900" dirty="0"/>
          </a:p>
          <a:p>
            <a:pPr algn="ctr" indent="0" marL="0">
              <a:buNone/>
            </a:pPr>
            <a:r>
              <a:rPr lang="en-US" sz="900" dirty="0">
                <a:solidFill>
                  <a:srgbClr val="A1A1AA"/>
                </a:solidFill>
                <a:latin typeface="Arial" pitchFamily="34" charset="0"/>
                <a:ea typeface="Arial" pitchFamily="34" charset="-122"/>
                <a:cs typeface="Arial" pitchFamily="34" charset="-120"/>
              </a:rPr>
              <a:t>policy vector store</a:t>
            </a:r>
            <a:endParaRPr lang="en-US" sz="900" dirty="0"/>
          </a:p>
        </p:txBody>
      </p:sp>
      <p:sp>
        <p:nvSpPr>
          <p:cNvPr id="15" name="Shape 13"/>
          <p:cNvSpPr/>
          <p:nvPr/>
        </p:nvSpPr>
        <p:spPr>
          <a:xfrm>
            <a:off x="2587752" y="1463040"/>
            <a:ext cx="1828800" cy="2926080"/>
          </a:xfrm>
          <a:prstGeom prst="roundRect">
            <a:avLst>
              <a:gd name="adj" fmla="val 4000"/>
            </a:avLst>
          </a:prstGeom>
          <a:solidFill>
            <a:srgbClr val="0A0A0A"/>
          </a:solidFill>
          <a:ln w="15240">
            <a:solidFill>
              <a:srgbClr val="FF5C00"/>
            </a:solidFill>
            <a:prstDash val="solid"/>
          </a:ln>
          <a:effectLst>
            <a:outerShdw sx="100000" sy="100000" kx="0" ky="0" algn="bl" rotWithShape="0" blurRad="101600" dist="38100" dir="2700000">
              <a:srgbClr val="000000">
                <a:alpha val="35000"/>
              </a:srgbClr>
            </a:outerShdw>
          </a:effectLst>
        </p:spPr>
      </p:sp>
      <p:sp>
        <p:nvSpPr>
          <p:cNvPr id="16" name="Shape 14"/>
          <p:cNvSpPr/>
          <p:nvPr/>
        </p:nvSpPr>
        <p:spPr>
          <a:xfrm>
            <a:off x="2816352" y="1572768"/>
            <a:ext cx="1371600" cy="457200"/>
          </a:xfrm>
          <a:prstGeom prst="roundRect">
            <a:avLst>
              <a:gd name="adj" fmla="val 10000"/>
            </a:avLst>
          </a:prstGeom>
          <a:solidFill>
            <a:srgbClr val="FF5C00"/>
          </a:solidFill>
          <a:ln w="12700">
            <a:solidFill>
              <a:srgbClr val="FF5C00"/>
            </a:solidFill>
            <a:prstDash val="solid"/>
          </a:ln>
        </p:spPr>
      </p:sp>
      <p:sp>
        <p:nvSpPr>
          <p:cNvPr id="17" name="Text 15"/>
          <p:cNvSpPr/>
          <p:nvPr/>
        </p:nvSpPr>
        <p:spPr>
          <a:xfrm>
            <a:off x="2816352" y="1572768"/>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02</a:t>
            </a:r>
            <a:endParaRPr lang="en-US" sz="1800" dirty="0"/>
          </a:p>
        </p:txBody>
      </p:sp>
      <p:sp>
        <p:nvSpPr>
          <p:cNvPr id="18" name="Text 16"/>
          <p:cNvSpPr/>
          <p:nvPr/>
        </p:nvSpPr>
        <p:spPr>
          <a:xfrm>
            <a:off x="2679192" y="2139696"/>
            <a:ext cx="164592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Violation</a:t>
            </a:r>
            <a:endParaRPr lang="en-US" sz="1050" dirty="0"/>
          </a:p>
          <a:p>
            <a:pPr algn="ctr" indent="0" marL="0">
              <a:buNone/>
            </a:pPr>
            <a:r>
              <a:rPr lang="en-US" sz="1050" b="1" dirty="0">
                <a:solidFill>
                  <a:srgbClr val="FFFFFF"/>
                </a:solidFill>
                <a:latin typeface="Arial" pitchFamily="34" charset="0"/>
                <a:ea typeface="Arial" pitchFamily="34" charset="-122"/>
                <a:cs typeface="Arial" pitchFamily="34" charset="-120"/>
              </a:rPr>
              <a:t>Classifier</a:t>
            </a:r>
            <a:endParaRPr lang="en-US" sz="1050" dirty="0"/>
          </a:p>
        </p:txBody>
      </p:sp>
      <p:sp>
        <p:nvSpPr>
          <p:cNvPr id="19" name="Text 17"/>
          <p:cNvSpPr/>
          <p:nvPr/>
        </p:nvSpPr>
        <p:spPr>
          <a:xfrm>
            <a:off x="2679192" y="2697480"/>
            <a:ext cx="1645920" cy="59436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Granite: cite or</a:t>
            </a:r>
            <a:endParaRPr lang="en-US" sz="900" dirty="0"/>
          </a:p>
          <a:p>
            <a:pPr algn="ctr" indent="0" marL="0">
              <a:buNone/>
            </a:pPr>
            <a:r>
              <a:rPr lang="en-US" sz="900" dirty="0">
                <a:solidFill>
                  <a:srgbClr val="A1A1AA"/>
                </a:solidFill>
                <a:latin typeface="Arial" pitchFamily="34" charset="0"/>
                <a:ea typeface="Arial" pitchFamily="34" charset="-122"/>
                <a:cs typeface="Arial" pitchFamily="34" charset="-120"/>
              </a:rPr>
              <a:t>downgrade to review</a:t>
            </a:r>
            <a:endParaRPr lang="en-US" sz="900" dirty="0"/>
          </a:p>
        </p:txBody>
      </p:sp>
      <p:sp>
        <p:nvSpPr>
          <p:cNvPr id="20" name="Shape 18"/>
          <p:cNvSpPr/>
          <p:nvPr/>
        </p:nvSpPr>
        <p:spPr>
          <a:xfrm>
            <a:off x="4672584" y="1463040"/>
            <a:ext cx="1828800" cy="2926080"/>
          </a:xfrm>
          <a:prstGeom prst="roundRect">
            <a:avLst>
              <a:gd name="adj" fmla="val 4000"/>
            </a:avLst>
          </a:prstGeom>
          <a:solidFill>
            <a:srgbClr val="0A0A0A"/>
          </a:solidFill>
          <a:ln w="15240">
            <a:solidFill>
              <a:srgbClr val="FF007A"/>
            </a:solidFill>
            <a:prstDash val="solid"/>
          </a:ln>
          <a:effectLst>
            <a:outerShdw sx="100000" sy="100000" kx="0" ky="0" algn="bl" rotWithShape="0" blurRad="101600" dist="38100" dir="2700000">
              <a:srgbClr val="000000">
                <a:alpha val="35000"/>
              </a:srgbClr>
            </a:outerShdw>
          </a:effectLst>
        </p:spPr>
      </p:sp>
      <p:sp>
        <p:nvSpPr>
          <p:cNvPr id="21" name="Shape 19"/>
          <p:cNvSpPr/>
          <p:nvPr/>
        </p:nvSpPr>
        <p:spPr>
          <a:xfrm>
            <a:off x="4901184" y="1572768"/>
            <a:ext cx="1371600" cy="457200"/>
          </a:xfrm>
          <a:prstGeom prst="roundRect">
            <a:avLst>
              <a:gd name="adj" fmla="val 10000"/>
            </a:avLst>
          </a:prstGeom>
          <a:solidFill>
            <a:srgbClr val="FF007A"/>
          </a:solidFill>
          <a:ln w="12700">
            <a:solidFill>
              <a:srgbClr val="FF007A"/>
            </a:solidFill>
            <a:prstDash val="solid"/>
          </a:ln>
        </p:spPr>
      </p:sp>
      <p:sp>
        <p:nvSpPr>
          <p:cNvPr id="22" name="Text 20"/>
          <p:cNvSpPr/>
          <p:nvPr/>
        </p:nvSpPr>
        <p:spPr>
          <a:xfrm>
            <a:off x="4901184" y="1572768"/>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03</a:t>
            </a:r>
            <a:endParaRPr lang="en-US" sz="1800" dirty="0"/>
          </a:p>
        </p:txBody>
      </p:sp>
      <p:sp>
        <p:nvSpPr>
          <p:cNvPr id="23" name="Text 21"/>
          <p:cNvSpPr/>
          <p:nvPr/>
        </p:nvSpPr>
        <p:spPr>
          <a:xfrm>
            <a:off x="4764024" y="2139696"/>
            <a:ext cx="164592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Adversarial</a:t>
            </a:r>
            <a:endParaRPr lang="en-US" sz="1050" dirty="0"/>
          </a:p>
          <a:p>
            <a:pPr algn="ctr" indent="0" marL="0">
              <a:buNone/>
            </a:pPr>
            <a:r>
              <a:rPr lang="en-US" sz="1050" b="1" dirty="0">
                <a:solidFill>
                  <a:srgbClr val="FFFFFF"/>
                </a:solidFill>
                <a:latin typeface="Arial" pitchFamily="34" charset="0"/>
                <a:ea typeface="Arial" pitchFamily="34" charset="-122"/>
                <a:cs typeface="Arial" pitchFamily="34" charset="-120"/>
              </a:rPr>
              <a:t>Critic</a:t>
            </a:r>
            <a:endParaRPr lang="en-US" sz="1050" dirty="0"/>
          </a:p>
        </p:txBody>
      </p:sp>
      <p:sp>
        <p:nvSpPr>
          <p:cNvPr id="24" name="Text 22"/>
          <p:cNvSpPr/>
          <p:nvPr/>
        </p:nvSpPr>
        <p:spPr>
          <a:xfrm>
            <a:off x="4764024" y="2697480"/>
            <a:ext cx="1645920" cy="59436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Entailment check:</a:t>
            </a:r>
            <a:endParaRPr lang="en-US" sz="900" dirty="0"/>
          </a:p>
          <a:p>
            <a:pPr algn="ctr" indent="0" marL="0">
              <a:buNone/>
            </a:pPr>
            <a:r>
              <a:rPr lang="en-US" sz="900" dirty="0">
                <a:solidFill>
                  <a:srgbClr val="A1A1AA"/>
                </a:solidFill>
                <a:latin typeface="Arial" pitchFamily="34" charset="0"/>
                <a:ea typeface="Arial" pitchFamily="34" charset="-122"/>
                <a:cs typeface="Arial" pitchFamily="34" charset="-120"/>
              </a:rPr>
              <a:t>citation must prove claim</a:t>
            </a:r>
            <a:endParaRPr lang="en-US" sz="900" dirty="0"/>
          </a:p>
        </p:txBody>
      </p:sp>
      <p:sp>
        <p:nvSpPr>
          <p:cNvPr id="25" name="Shape 23"/>
          <p:cNvSpPr/>
          <p:nvPr/>
        </p:nvSpPr>
        <p:spPr>
          <a:xfrm>
            <a:off x="4764024" y="3383280"/>
            <a:ext cx="1645920" cy="749808"/>
          </a:xfrm>
          <a:prstGeom prst="roundRect">
            <a:avLst>
              <a:gd name="adj" fmla="val 6098"/>
            </a:avLst>
          </a:prstGeom>
          <a:solidFill>
            <a:srgbClr val="1A0000"/>
          </a:solidFill>
          <a:ln w="10160">
            <a:solidFill>
              <a:srgbClr val="E8A54B"/>
            </a:solidFill>
            <a:prstDash val="solid"/>
          </a:ln>
        </p:spPr>
      </p:sp>
      <p:sp>
        <p:nvSpPr>
          <p:cNvPr id="26" name="Text 24"/>
          <p:cNvSpPr/>
          <p:nvPr/>
        </p:nvSpPr>
        <p:spPr>
          <a:xfrm>
            <a:off x="4809744" y="3419856"/>
            <a:ext cx="1554480" cy="676656"/>
          </a:xfrm>
          <a:prstGeom prst="rect">
            <a:avLst/>
          </a:prstGeom>
          <a:noFill/>
          <a:ln/>
        </p:spPr>
        <p:txBody>
          <a:bodyPr wrap="square" lIns="0" tIns="0" rIns="0" bIns="0" rtlCol="0" anchor="ctr"/>
          <a:lstStyle/>
          <a:p>
            <a:pPr algn="ctr" indent="0" marL="0">
              <a:buNone/>
            </a:pPr>
            <a:r>
              <a:rPr lang="en-US" sz="750" dirty="0">
                <a:solidFill>
                  <a:srgbClr val="E8A54B"/>
                </a:solidFill>
                <a:latin typeface="Arial" pitchFamily="34" charset="0"/>
                <a:ea typeface="Arial" pitchFamily="34" charset="-122"/>
                <a:cs typeface="Arial" pitchFamily="34" charset="-120"/>
              </a:rPr>
              <a:t>HIGH ≥85% → BLOCKING</a:t>
            </a:r>
            <a:endParaRPr lang="en-US" sz="750" dirty="0"/>
          </a:p>
          <a:p>
            <a:pPr algn="ctr" indent="0" marL="0">
              <a:buNone/>
            </a:pPr>
            <a:r>
              <a:rPr lang="en-US" sz="750" dirty="0">
                <a:solidFill>
                  <a:srgbClr val="E8A54B"/>
                </a:solidFill>
                <a:latin typeface="Arial" pitchFamily="34" charset="0"/>
                <a:ea typeface="Arial" pitchFamily="34" charset="-122"/>
                <a:cs typeface="Arial" pitchFamily="34" charset="-120"/>
              </a:rPr>
              <a:t>MED 50-84% → WARNING</a:t>
            </a:r>
            <a:endParaRPr lang="en-US" sz="750" dirty="0"/>
          </a:p>
          <a:p>
            <a:pPr algn="ctr" indent="0" marL="0">
              <a:buNone/>
            </a:pPr>
            <a:r>
              <a:rPr lang="en-US" sz="750" dirty="0">
                <a:solidFill>
                  <a:srgbClr val="E8A54B"/>
                </a:solidFill>
                <a:latin typeface="Arial" pitchFamily="34" charset="0"/>
                <a:ea typeface="Arial" pitchFamily="34" charset="-122"/>
                <a:cs typeface="Arial" pitchFamily="34" charset="-120"/>
              </a:rPr>
              <a:t>LOW &lt;50% → LOG ONLY</a:t>
            </a:r>
            <a:endParaRPr lang="en-US" sz="750" dirty="0"/>
          </a:p>
        </p:txBody>
      </p:sp>
      <p:sp>
        <p:nvSpPr>
          <p:cNvPr id="27" name="Shape 25"/>
          <p:cNvSpPr/>
          <p:nvPr/>
        </p:nvSpPr>
        <p:spPr>
          <a:xfrm>
            <a:off x="6757416" y="1463040"/>
            <a:ext cx="1828800" cy="2926080"/>
          </a:xfrm>
          <a:prstGeom prst="roundRect">
            <a:avLst>
              <a:gd name="adj" fmla="val 4000"/>
            </a:avLst>
          </a:prstGeom>
          <a:solidFill>
            <a:srgbClr val="0A0A0A"/>
          </a:solidFill>
          <a:ln w="15240">
            <a:solidFill>
              <a:srgbClr val="E5FF00"/>
            </a:solidFill>
            <a:prstDash val="solid"/>
          </a:ln>
          <a:effectLst>
            <a:outerShdw sx="100000" sy="100000" kx="0" ky="0" algn="bl" rotWithShape="0" blurRad="101600" dist="38100" dir="2700000">
              <a:srgbClr val="000000">
                <a:alpha val="35000"/>
              </a:srgbClr>
            </a:outerShdw>
          </a:effectLst>
        </p:spPr>
      </p:sp>
      <p:sp>
        <p:nvSpPr>
          <p:cNvPr id="28" name="Shape 26"/>
          <p:cNvSpPr/>
          <p:nvPr/>
        </p:nvSpPr>
        <p:spPr>
          <a:xfrm>
            <a:off x="6986016" y="1572768"/>
            <a:ext cx="1371600" cy="457200"/>
          </a:xfrm>
          <a:prstGeom prst="roundRect">
            <a:avLst>
              <a:gd name="adj" fmla="val 10000"/>
            </a:avLst>
          </a:prstGeom>
          <a:solidFill>
            <a:srgbClr val="E5FF00"/>
          </a:solidFill>
          <a:ln w="12700">
            <a:solidFill>
              <a:srgbClr val="E5FF00"/>
            </a:solidFill>
            <a:prstDash val="solid"/>
          </a:ln>
        </p:spPr>
      </p:sp>
      <p:sp>
        <p:nvSpPr>
          <p:cNvPr id="29" name="Text 27"/>
          <p:cNvSpPr/>
          <p:nvPr/>
        </p:nvSpPr>
        <p:spPr>
          <a:xfrm>
            <a:off x="6986016" y="1572768"/>
            <a:ext cx="1371600" cy="45720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04</a:t>
            </a:r>
            <a:endParaRPr lang="en-US" sz="1800" dirty="0"/>
          </a:p>
        </p:txBody>
      </p:sp>
      <p:sp>
        <p:nvSpPr>
          <p:cNvPr id="30" name="Text 28"/>
          <p:cNvSpPr/>
          <p:nvPr/>
        </p:nvSpPr>
        <p:spPr>
          <a:xfrm>
            <a:off x="6848856" y="2139696"/>
            <a:ext cx="164592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Remediation</a:t>
            </a:r>
            <a:endParaRPr lang="en-US" sz="1050" dirty="0"/>
          </a:p>
          <a:p>
            <a:pPr algn="ctr" indent="0" marL="0">
              <a:buNone/>
            </a:pPr>
            <a:r>
              <a:rPr lang="en-US" sz="1050" b="1" dirty="0">
                <a:solidFill>
                  <a:srgbClr val="FFFFFF"/>
                </a:solidFill>
                <a:latin typeface="Arial" pitchFamily="34" charset="0"/>
                <a:ea typeface="Arial" pitchFamily="34" charset="-122"/>
                <a:cs typeface="Arial" pitchFamily="34" charset="-120"/>
              </a:rPr>
              <a:t>Explainer</a:t>
            </a:r>
            <a:endParaRPr lang="en-US" sz="1050" dirty="0"/>
          </a:p>
        </p:txBody>
      </p:sp>
      <p:sp>
        <p:nvSpPr>
          <p:cNvPr id="31" name="Text 29"/>
          <p:cNvSpPr/>
          <p:nvPr/>
        </p:nvSpPr>
        <p:spPr>
          <a:xfrm>
            <a:off x="6848856" y="2697480"/>
            <a:ext cx="1645920" cy="59436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Diff suggestion +</a:t>
            </a:r>
            <a:endParaRPr lang="en-US" sz="900" dirty="0"/>
          </a:p>
          <a:p>
            <a:pPr algn="ctr" indent="0" marL="0">
              <a:buNone/>
            </a:pPr>
            <a:r>
              <a:rPr lang="en-US" sz="900" dirty="0">
                <a:solidFill>
                  <a:srgbClr val="A1A1AA"/>
                </a:solidFill>
                <a:latin typeface="Arial" pitchFamily="34" charset="0"/>
                <a:ea typeface="Arial" pitchFamily="34" charset="-122"/>
                <a:cs typeface="Arial" pitchFamily="34" charset="-120"/>
              </a:rPr>
              <a:t>Bob Findings output</a:t>
            </a:r>
            <a:endParaRPr lang="en-US" sz="900" dirty="0"/>
          </a:p>
        </p:txBody>
      </p:sp>
      <p:sp>
        <p:nvSpPr>
          <p:cNvPr id="32" name="Shape 30"/>
          <p:cNvSpPr/>
          <p:nvPr/>
        </p:nvSpPr>
        <p:spPr>
          <a:xfrm>
            <a:off x="2331720" y="2926080"/>
            <a:ext cx="256032" cy="0"/>
          </a:xfrm>
          <a:prstGeom prst="line">
            <a:avLst/>
          </a:prstGeom>
          <a:noFill/>
          <a:ln w="19050">
            <a:solidFill>
              <a:srgbClr val="A1A1AA"/>
            </a:solidFill>
            <a:prstDash val="solid"/>
          </a:ln>
        </p:spPr>
      </p:sp>
      <p:sp>
        <p:nvSpPr>
          <p:cNvPr id="33" name="Text 31"/>
          <p:cNvSpPr/>
          <p:nvPr/>
        </p:nvSpPr>
        <p:spPr>
          <a:xfrm>
            <a:off x="2313432" y="2816352"/>
            <a:ext cx="292608" cy="219456"/>
          </a:xfrm>
          <a:prstGeom prst="rect">
            <a:avLst/>
          </a:prstGeom>
          <a:noFill/>
          <a:ln/>
        </p:spPr>
        <p:txBody>
          <a:bodyPr wrap="square" lIns="0" tIns="0" rIns="0" bIns="0" rtlCol="0" anchor="ctr"/>
          <a:lstStyle/>
          <a:p>
            <a:pPr algn="ctr" indent="0" marL="0">
              <a:buNone/>
            </a:pPr>
            <a:r>
              <a:rPr lang="en-US" sz="1100" dirty="0">
                <a:solidFill>
                  <a:srgbClr val="A1A1AA"/>
                </a:solidFill>
                <a:latin typeface="Arial" pitchFamily="34" charset="0"/>
                <a:ea typeface="Arial" pitchFamily="34" charset="-122"/>
                <a:cs typeface="Arial" pitchFamily="34" charset="-120"/>
              </a:rPr>
              <a:t>→</a:t>
            </a:r>
            <a:endParaRPr lang="en-US" sz="1100" dirty="0"/>
          </a:p>
        </p:txBody>
      </p:sp>
      <p:sp>
        <p:nvSpPr>
          <p:cNvPr id="34" name="Shape 32"/>
          <p:cNvSpPr/>
          <p:nvPr/>
        </p:nvSpPr>
        <p:spPr>
          <a:xfrm>
            <a:off x="4416552" y="2926080"/>
            <a:ext cx="256032" cy="0"/>
          </a:xfrm>
          <a:prstGeom prst="line">
            <a:avLst/>
          </a:prstGeom>
          <a:noFill/>
          <a:ln w="19050">
            <a:solidFill>
              <a:srgbClr val="A1A1AA"/>
            </a:solidFill>
            <a:prstDash val="solid"/>
          </a:ln>
        </p:spPr>
      </p:sp>
      <p:sp>
        <p:nvSpPr>
          <p:cNvPr id="35" name="Text 33"/>
          <p:cNvSpPr/>
          <p:nvPr/>
        </p:nvSpPr>
        <p:spPr>
          <a:xfrm>
            <a:off x="4398264" y="2816352"/>
            <a:ext cx="292608" cy="219456"/>
          </a:xfrm>
          <a:prstGeom prst="rect">
            <a:avLst/>
          </a:prstGeom>
          <a:noFill/>
          <a:ln/>
        </p:spPr>
        <p:txBody>
          <a:bodyPr wrap="square" lIns="0" tIns="0" rIns="0" bIns="0" rtlCol="0" anchor="ctr"/>
          <a:lstStyle/>
          <a:p>
            <a:pPr algn="ctr" indent="0" marL="0">
              <a:buNone/>
            </a:pPr>
            <a:r>
              <a:rPr lang="en-US" sz="1100" dirty="0">
                <a:solidFill>
                  <a:srgbClr val="A1A1AA"/>
                </a:solidFill>
                <a:latin typeface="Arial" pitchFamily="34" charset="0"/>
                <a:ea typeface="Arial" pitchFamily="34" charset="-122"/>
                <a:cs typeface="Arial" pitchFamily="34" charset="-120"/>
              </a:rPr>
              <a:t>→</a:t>
            </a:r>
            <a:endParaRPr lang="en-US" sz="1100" dirty="0"/>
          </a:p>
        </p:txBody>
      </p:sp>
      <p:sp>
        <p:nvSpPr>
          <p:cNvPr id="36" name="Shape 34"/>
          <p:cNvSpPr/>
          <p:nvPr/>
        </p:nvSpPr>
        <p:spPr>
          <a:xfrm>
            <a:off x="6501384" y="2926080"/>
            <a:ext cx="256032" cy="0"/>
          </a:xfrm>
          <a:prstGeom prst="line">
            <a:avLst/>
          </a:prstGeom>
          <a:noFill/>
          <a:ln w="19050">
            <a:solidFill>
              <a:srgbClr val="A1A1AA"/>
            </a:solidFill>
            <a:prstDash val="solid"/>
          </a:ln>
        </p:spPr>
      </p:sp>
      <p:sp>
        <p:nvSpPr>
          <p:cNvPr id="37" name="Text 35"/>
          <p:cNvSpPr/>
          <p:nvPr/>
        </p:nvSpPr>
        <p:spPr>
          <a:xfrm>
            <a:off x="6483096" y="2816352"/>
            <a:ext cx="292608" cy="219456"/>
          </a:xfrm>
          <a:prstGeom prst="rect">
            <a:avLst/>
          </a:prstGeom>
          <a:noFill/>
          <a:ln/>
        </p:spPr>
        <p:txBody>
          <a:bodyPr wrap="square" lIns="0" tIns="0" rIns="0" bIns="0" rtlCol="0" anchor="ctr"/>
          <a:lstStyle/>
          <a:p>
            <a:pPr algn="ctr" indent="0" marL="0">
              <a:buNone/>
            </a:pPr>
            <a:r>
              <a:rPr lang="en-US" sz="1100" dirty="0">
                <a:solidFill>
                  <a:srgbClr val="A1A1AA"/>
                </a:solidFill>
                <a:latin typeface="Arial" pitchFamily="34" charset="0"/>
                <a:ea typeface="Arial" pitchFamily="34" charset="-122"/>
                <a:cs typeface="Arial" pitchFamily="34" charset="-120"/>
              </a:rPr>
              <a: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B6CA8"/>
          </a:solidFill>
          <a:ln w="12700">
            <a:solidFill>
              <a:srgbClr val="1B6CA8"/>
            </a:solidFill>
            <a:prstDash val="solid"/>
          </a:ln>
        </p:spPr>
      </p:sp>
      <p:sp>
        <p:nvSpPr>
          <p:cNvPr id="3" name="Text 1"/>
          <p:cNvSpPr/>
          <p:nvPr/>
        </p:nvSpPr>
        <p:spPr>
          <a:xfrm>
            <a:off x="457200" y="182880"/>
            <a:ext cx="8229600" cy="274320"/>
          </a:xfrm>
          <a:prstGeom prst="rect">
            <a:avLst/>
          </a:prstGeom>
          <a:noFill/>
          <a:ln/>
        </p:spPr>
        <p:txBody>
          <a:bodyPr wrap="square" lIns="0" tIns="0" rIns="0" bIns="0" rtlCol="0" anchor="ctr"/>
          <a:lstStyle/>
          <a:p>
            <a:pPr indent="0" marL="0">
              <a:buNone/>
            </a:pPr>
            <a:r>
              <a:rPr lang="en-US" sz="800" b="1" spc="200" kern="0" dirty="0">
                <a:solidFill>
                  <a:srgbClr val="4A9EE0"/>
                </a:solidFill>
                <a:latin typeface="Arial" pitchFamily="34" charset="0"/>
                <a:ea typeface="Arial" pitchFamily="34" charset="-122"/>
                <a:cs typeface="Arial" pitchFamily="34" charset="-120"/>
              </a:rPr>
              <a:t>IBM SERVICES UTILIZED</a:t>
            </a:r>
            <a:endParaRPr lang="en-US" sz="800" dirty="0"/>
          </a:p>
        </p:txBody>
      </p:sp>
      <p:sp>
        <p:nvSpPr>
          <p:cNvPr id="4" name="Text 2"/>
          <p:cNvSpPr/>
          <p:nvPr/>
        </p:nvSpPr>
        <p:spPr>
          <a:xfrm>
            <a:off x="457200" y="45720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Full IBM Ecosystem Integration</a:t>
            </a:r>
            <a:endParaRPr lang="en-US" sz="2200" dirty="0"/>
          </a:p>
        </p:txBody>
      </p:sp>
      <p:sp>
        <p:nvSpPr>
          <p:cNvPr id="5" name="Shape 3"/>
          <p:cNvSpPr/>
          <p:nvPr/>
        </p:nvSpPr>
        <p:spPr>
          <a:xfrm>
            <a:off x="457200" y="914400"/>
            <a:ext cx="8229600" cy="0"/>
          </a:xfrm>
          <a:prstGeom prst="line">
            <a:avLst/>
          </a:prstGeom>
          <a:noFill/>
          <a:ln w="6350">
            <a:solidFill>
              <a:srgbClr val="52525B"/>
            </a:solidFill>
            <a:prstDash val="solid"/>
          </a:ln>
        </p:spPr>
      </p:sp>
      <p:sp>
        <p:nvSpPr>
          <p:cNvPr id="6" name="Shape 4"/>
          <p:cNvSpPr/>
          <p:nvPr/>
        </p:nvSpPr>
        <p:spPr>
          <a:xfrm>
            <a:off x="411480" y="1051560"/>
            <a:ext cx="4160520" cy="1143000"/>
          </a:xfrm>
          <a:prstGeom prst="roundRect">
            <a:avLst>
              <a:gd name="adj" fmla="val 5600"/>
            </a:avLst>
          </a:prstGeom>
          <a:solidFill>
            <a:srgbClr val="0A0A0A"/>
          </a:solidFill>
          <a:ln w="10160">
            <a:solidFill>
              <a:srgbClr val="FF007A"/>
            </a:solidFill>
            <a:prstDash val="solid"/>
          </a:ln>
          <a:effectLst>
            <a:outerShdw sx="100000" sy="100000" kx="0" ky="0" algn="bl" rotWithShape="0" blurRad="101600" dist="38100" dir="2700000">
              <a:srgbClr val="000000">
                <a:alpha val="35000"/>
              </a:srgbClr>
            </a:outerShdw>
          </a:effectLst>
        </p:spPr>
      </p:sp>
      <p:sp>
        <p:nvSpPr>
          <p:cNvPr id="7" name="Text 5"/>
          <p:cNvSpPr/>
          <p:nvPr/>
        </p:nvSpPr>
        <p:spPr>
          <a:xfrm>
            <a:off x="548640" y="1143000"/>
            <a:ext cx="3200400" cy="256032"/>
          </a:xfrm>
          <a:prstGeom prst="rect">
            <a:avLst/>
          </a:prstGeom>
          <a:noFill/>
          <a:ln/>
        </p:spPr>
        <p:txBody>
          <a:bodyPr wrap="square" lIns="0" tIns="0" rIns="0" bIns="0" rtlCol="0" anchor="ctr"/>
          <a:lstStyle/>
          <a:p>
            <a:pPr indent="0" marL="0">
              <a:buNone/>
            </a:pPr>
            <a:r>
              <a:rPr lang="en-US" sz="1050" b="1" dirty="0">
                <a:solidFill>
                  <a:srgbClr val="FF007A"/>
                </a:solidFill>
                <a:latin typeface="Arial" pitchFamily="34" charset="0"/>
                <a:ea typeface="Arial" pitchFamily="34" charset="-122"/>
                <a:cs typeface="Arial" pitchFamily="34" charset="-120"/>
              </a:rPr>
              <a:t>IBM Bob IDE</a:t>
            </a:r>
            <a:endParaRPr lang="en-US" sz="1050" dirty="0"/>
          </a:p>
        </p:txBody>
      </p:sp>
      <p:sp>
        <p:nvSpPr>
          <p:cNvPr id="8" name="Text 6"/>
          <p:cNvSpPr/>
          <p:nvPr/>
        </p:nvSpPr>
        <p:spPr>
          <a:xfrm>
            <a:off x="548640" y="1380744"/>
            <a:ext cx="3840480" cy="182880"/>
          </a:xfrm>
          <a:prstGeom prst="rect">
            <a:avLst/>
          </a:prstGeom>
          <a:noFill/>
          <a:ln/>
        </p:spPr>
        <p:txBody>
          <a:bodyPr wrap="square" lIns="0" tIns="0" rIns="0" bIns="0" rtlCol="0" anchor="ctr"/>
          <a:lstStyle/>
          <a:p>
            <a:pPr indent="0" marL="0">
              <a:buNone/>
            </a:pPr>
            <a:r>
              <a:rPr lang="en-US" sz="700" b="1" spc="50" kern="0" dirty="0">
                <a:solidFill>
                  <a:srgbClr val="A1A1AA"/>
                </a:solidFill>
                <a:latin typeface="Arial" pitchFamily="34" charset="0"/>
                <a:ea typeface="Arial" pitchFamily="34" charset="-122"/>
                <a:cs typeface="Arial" pitchFamily="34" charset="-120"/>
              </a:rPr>
              <a:t>PRIMARY DEVELOPER SURFACE</a:t>
            </a:r>
            <a:endParaRPr lang="en-US" sz="700" dirty="0"/>
          </a:p>
        </p:txBody>
      </p:sp>
      <p:sp>
        <p:nvSpPr>
          <p:cNvPr id="9" name="Text 7"/>
          <p:cNvSpPr/>
          <p:nvPr/>
        </p:nvSpPr>
        <p:spPr>
          <a:xfrm>
            <a:off x="548640" y="1563624"/>
            <a:ext cx="3840480" cy="548640"/>
          </a:xfrm>
          <a:prstGeom prst="rect">
            <a:avLst/>
          </a:prstGeom>
          <a:noFill/>
          <a:ln/>
        </p:spPr>
        <p:txBody>
          <a:bodyPr wrap="square" lIns="0" tIns="0" rIns="0" bIns="0" rtlCol="0" anchor="ctr"/>
          <a:lstStyle/>
          <a:p>
            <a:pPr indent="0" marL="0">
              <a:buNone/>
            </a:pPr>
            <a:r>
              <a:rPr lang="en-US" sz="800" dirty="0">
                <a:solidFill>
                  <a:srgbClr val="A1A1AA"/>
                </a:solidFill>
                <a:latin typeface="Arial" pitchFamily="34" charset="0"/>
                <a:ea typeface="Arial" pitchFamily="34" charset="-122"/>
                <a:cs typeface="Arial" pitchFamily="34" charset="-120"/>
              </a:rPr>
              <a:t>Sentinel Spec ships as an MCP server. Findings surface natively in Bob Findings panel — zero new UI to learn. Bob Plan mode injects ADR context before code is even generated.</a:t>
            </a:r>
            <a:endParaRPr lang="en-US" sz="800" dirty="0"/>
          </a:p>
        </p:txBody>
      </p:sp>
      <p:sp>
        <p:nvSpPr>
          <p:cNvPr id="10" name="Shape 8"/>
          <p:cNvSpPr/>
          <p:nvPr/>
        </p:nvSpPr>
        <p:spPr>
          <a:xfrm>
            <a:off x="411480" y="2313432"/>
            <a:ext cx="4160520" cy="1143000"/>
          </a:xfrm>
          <a:prstGeom prst="roundRect">
            <a:avLst>
              <a:gd name="adj" fmla="val 5600"/>
            </a:avLst>
          </a:prstGeom>
          <a:solidFill>
            <a:srgbClr val="0A0A0A"/>
          </a:solidFill>
          <a:ln w="10160">
            <a:solidFill>
              <a:srgbClr val="FF5C00"/>
            </a:solidFill>
            <a:prstDash val="solid"/>
          </a:ln>
          <a:effectLst>
            <a:outerShdw sx="100000" sy="100000" kx="0" ky="0" algn="bl" rotWithShape="0" blurRad="101600" dist="38100" dir="2700000">
              <a:srgbClr val="000000">
                <a:alpha val="35000"/>
              </a:srgbClr>
            </a:outerShdw>
          </a:effectLst>
        </p:spPr>
      </p:sp>
      <p:sp>
        <p:nvSpPr>
          <p:cNvPr id="11" name="Text 9"/>
          <p:cNvSpPr/>
          <p:nvPr/>
        </p:nvSpPr>
        <p:spPr>
          <a:xfrm>
            <a:off x="548640" y="2404872"/>
            <a:ext cx="3200400" cy="256032"/>
          </a:xfrm>
          <a:prstGeom prst="rect">
            <a:avLst/>
          </a:prstGeom>
          <a:noFill/>
          <a:ln/>
        </p:spPr>
        <p:txBody>
          <a:bodyPr wrap="square" lIns="0" tIns="0" rIns="0" bIns="0" rtlCol="0" anchor="ctr"/>
          <a:lstStyle/>
          <a:p>
            <a:pPr indent="0" marL="0">
              <a:buNone/>
            </a:pPr>
            <a:r>
              <a:rPr lang="en-US" sz="1050" b="1" dirty="0">
                <a:solidFill>
                  <a:srgbClr val="FF5C00"/>
                </a:solidFill>
                <a:latin typeface="Arial" pitchFamily="34" charset="0"/>
                <a:ea typeface="Arial" pitchFamily="34" charset="-122"/>
                <a:cs typeface="Arial" pitchFamily="34" charset="-120"/>
              </a:rPr>
              <a:t>IBM Granite (watsonx.ai)</a:t>
            </a:r>
            <a:endParaRPr lang="en-US" sz="1050" dirty="0"/>
          </a:p>
        </p:txBody>
      </p:sp>
      <p:sp>
        <p:nvSpPr>
          <p:cNvPr id="12" name="Text 10"/>
          <p:cNvSpPr/>
          <p:nvPr/>
        </p:nvSpPr>
        <p:spPr>
          <a:xfrm>
            <a:off x="548640" y="2642616"/>
            <a:ext cx="3840480" cy="182880"/>
          </a:xfrm>
          <a:prstGeom prst="rect">
            <a:avLst/>
          </a:prstGeom>
          <a:noFill/>
          <a:ln/>
        </p:spPr>
        <p:txBody>
          <a:bodyPr wrap="square" lIns="0" tIns="0" rIns="0" bIns="0" rtlCol="0" anchor="ctr"/>
          <a:lstStyle/>
          <a:p>
            <a:pPr indent="0" marL="0">
              <a:buNone/>
            </a:pPr>
            <a:r>
              <a:rPr lang="en-US" sz="700" b="1" spc="50" kern="0" dirty="0">
                <a:solidFill>
                  <a:srgbClr val="A1A1AA"/>
                </a:solidFill>
                <a:latin typeface="Arial" pitchFamily="34" charset="0"/>
                <a:ea typeface="Arial" pitchFamily="34" charset="-122"/>
                <a:cs typeface="Arial" pitchFamily="34" charset="-120"/>
              </a:rPr>
              <a:t>CLASSIFIER + ADVERSARIAL CRITIC LLMS</a:t>
            </a:r>
            <a:endParaRPr lang="en-US" sz="700" dirty="0"/>
          </a:p>
        </p:txBody>
      </p:sp>
      <p:sp>
        <p:nvSpPr>
          <p:cNvPr id="13" name="Text 11"/>
          <p:cNvSpPr/>
          <p:nvPr/>
        </p:nvSpPr>
        <p:spPr>
          <a:xfrm>
            <a:off x="548640" y="2825496"/>
            <a:ext cx="3840480" cy="548640"/>
          </a:xfrm>
          <a:prstGeom prst="rect">
            <a:avLst/>
          </a:prstGeom>
          <a:noFill/>
          <a:ln/>
        </p:spPr>
        <p:txBody>
          <a:bodyPr wrap="square" lIns="0" tIns="0" rIns="0" bIns="0" rtlCol="0" anchor="ctr"/>
          <a:lstStyle/>
          <a:p>
            <a:pPr indent="0" marL="0">
              <a:buNone/>
            </a:pPr>
            <a:r>
              <a:rPr lang="en-US" sz="800" dirty="0">
                <a:solidFill>
                  <a:srgbClr val="A1A1AA"/>
                </a:solidFill>
                <a:latin typeface="Arial" pitchFamily="34" charset="0"/>
                <a:ea typeface="Arial" pitchFamily="34" charset="-122"/>
                <a:cs typeface="Arial" pitchFamily="34" charset="-120"/>
              </a:rPr>
              <a:t>Granite-3-8b-instruct powers both agents. Custom system prompts with inline JSON schema constraints. Low temperature (0.05) for the Critic agent to maximize adversarial precision.</a:t>
            </a:r>
            <a:endParaRPr lang="en-US" sz="800" dirty="0"/>
          </a:p>
        </p:txBody>
      </p:sp>
      <p:sp>
        <p:nvSpPr>
          <p:cNvPr id="14" name="Shape 12"/>
          <p:cNvSpPr/>
          <p:nvPr/>
        </p:nvSpPr>
        <p:spPr>
          <a:xfrm>
            <a:off x="411480" y="3575304"/>
            <a:ext cx="4160520" cy="1143000"/>
          </a:xfrm>
          <a:prstGeom prst="roundRect">
            <a:avLst>
              <a:gd name="adj" fmla="val 5600"/>
            </a:avLst>
          </a:prstGeom>
          <a:solidFill>
            <a:srgbClr val="0A0A0A"/>
          </a:solidFill>
          <a:ln w="10160">
            <a:solidFill>
              <a:srgbClr val="E5FF00"/>
            </a:solidFill>
            <a:prstDash val="solid"/>
          </a:ln>
          <a:effectLst>
            <a:outerShdw sx="100000" sy="100000" kx="0" ky="0" algn="bl" rotWithShape="0" blurRad="101600" dist="38100" dir="2700000">
              <a:srgbClr val="000000">
                <a:alpha val="35000"/>
              </a:srgbClr>
            </a:outerShdw>
          </a:effectLst>
        </p:spPr>
      </p:sp>
      <p:sp>
        <p:nvSpPr>
          <p:cNvPr id="15" name="Text 13"/>
          <p:cNvSpPr/>
          <p:nvPr/>
        </p:nvSpPr>
        <p:spPr>
          <a:xfrm>
            <a:off x="548640" y="3666744"/>
            <a:ext cx="3200400" cy="256032"/>
          </a:xfrm>
          <a:prstGeom prst="rect">
            <a:avLst/>
          </a:prstGeom>
          <a:noFill/>
          <a:ln/>
        </p:spPr>
        <p:txBody>
          <a:bodyPr wrap="square" lIns="0" tIns="0" rIns="0" bIns="0" rtlCol="0" anchor="ctr"/>
          <a:lstStyle/>
          <a:p>
            <a:pPr indent="0" marL="0">
              <a:buNone/>
            </a:pPr>
            <a:r>
              <a:rPr lang="en-US" sz="1050" b="1" dirty="0">
                <a:solidFill>
                  <a:srgbClr val="E5FF00"/>
                </a:solidFill>
                <a:latin typeface="Arial" pitchFamily="34" charset="0"/>
                <a:ea typeface="Arial" pitchFamily="34" charset="-122"/>
                <a:cs typeface="Arial" pitchFamily="34" charset="-120"/>
              </a:rPr>
              <a:t>watsonx Orchestrate</a:t>
            </a:r>
            <a:endParaRPr lang="en-US" sz="1050" dirty="0"/>
          </a:p>
        </p:txBody>
      </p:sp>
      <p:sp>
        <p:nvSpPr>
          <p:cNvPr id="16" name="Text 14"/>
          <p:cNvSpPr/>
          <p:nvPr/>
        </p:nvSpPr>
        <p:spPr>
          <a:xfrm>
            <a:off x="548640" y="3904488"/>
            <a:ext cx="3840480" cy="182880"/>
          </a:xfrm>
          <a:prstGeom prst="rect">
            <a:avLst/>
          </a:prstGeom>
          <a:noFill/>
          <a:ln/>
        </p:spPr>
        <p:txBody>
          <a:bodyPr wrap="square" lIns="0" tIns="0" rIns="0" bIns="0" rtlCol="0" anchor="ctr"/>
          <a:lstStyle/>
          <a:p>
            <a:pPr indent="0" marL="0">
              <a:buNone/>
            </a:pPr>
            <a:r>
              <a:rPr lang="en-US" sz="700" b="1" spc="50" kern="0" dirty="0">
                <a:solidFill>
                  <a:srgbClr val="A1A1AA"/>
                </a:solidFill>
                <a:latin typeface="Arial" pitchFamily="34" charset="0"/>
                <a:ea typeface="Arial" pitchFamily="34" charset="-122"/>
                <a:cs typeface="Arial" pitchFamily="34" charset="-120"/>
              </a:rPr>
              <a:t>AGENT CONTROL PLANE (CI-TIME)</a:t>
            </a:r>
            <a:endParaRPr lang="en-US" sz="700" dirty="0"/>
          </a:p>
        </p:txBody>
      </p:sp>
      <p:sp>
        <p:nvSpPr>
          <p:cNvPr id="17" name="Text 15"/>
          <p:cNvSpPr/>
          <p:nvPr/>
        </p:nvSpPr>
        <p:spPr>
          <a:xfrm>
            <a:off x="548640" y="4087368"/>
            <a:ext cx="3840480" cy="548640"/>
          </a:xfrm>
          <a:prstGeom prst="rect">
            <a:avLst/>
          </a:prstGeom>
          <a:noFill/>
          <a:ln/>
        </p:spPr>
        <p:txBody>
          <a:bodyPr wrap="square" lIns="0" tIns="0" rIns="0" bIns="0" rtlCol="0" anchor="ctr"/>
          <a:lstStyle/>
          <a:p>
            <a:pPr indent="0" marL="0">
              <a:buNone/>
            </a:pPr>
            <a:r>
              <a:rPr lang="en-US" sz="800" dirty="0">
                <a:solidFill>
                  <a:srgbClr val="A1A1AA"/>
                </a:solidFill>
                <a:latin typeface="Arial" pitchFamily="34" charset="0"/>
                <a:ea typeface="Arial" pitchFamily="34" charset="-122"/>
                <a:cs typeface="Arial" pitchFamily="34" charset="-120"/>
              </a:rPr>
              <a:t>Hosts the full 4-agent DAG for headless CI invocation. Bob generates the MCP tooling; Orchestrate hosts and schedules it. Same pipeline as IDE-time — defense in depth.</a:t>
            </a:r>
            <a:endParaRPr lang="en-US" sz="800" dirty="0"/>
          </a:p>
        </p:txBody>
      </p:sp>
      <p:sp>
        <p:nvSpPr>
          <p:cNvPr id="18" name="Shape 16"/>
          <p:cNvSpPr/>
          <p:nvPr/>
        </p:nvSpPr>
        <p:spPr>
          <a:xfrm>
            <a:off x="4800600" y="1051560"/>
            <a:ext cx="4160520" cy="1143000"/>
          </a:xfrm>
          <a:prstGeom prst="roundRect">
            <a:avLst>
              <a:gd name="adj" fmla="val 5600"/>
            </a:avLst>
          </a:prstGeom>
          <a:solidFill>
            <a:srgbClr val="0A0A0A"/>
          </a:solidFill>
          <a:ln w="10160">
            <a:solidFill>
              <a:srgbClr val="E8A54B"/>
            </a:solidFill>
            <a:prstDash val="solid"/>
          </a:ln>
          <a:effectLst>
            <a:outerShdw sx="100000" sy="100000" kx="0" ky="0" algn="bl" rotWithShape="0" blurRad="101600" dist="38100" dir="2700000">
              <a:srgbClr val="000000">
                <a:alpha val="35000"/>
              </a:srgbClr>
            </a:outerShdw>
          </a:effectLst>
        </p:spPr>
      </p:sp>
      <p:sp>
        <p:nvSpPr>
          <p:cNvPr id="19" name="Text 17"/>
          <p:cNvSpPr/>
          <p:nvPr/>
        </p:nvSpPr>
        <p:spPr>
          <a:xfrm>
            <a:off x="4937760" y="1143000"/>
            <a:ext cx="3200400" cy="256032"/>
          </a:xfrm>
          <a:prstGeom prst="rect">
            <a:avLst/>
          </a:prstGeom>
          <a:noFill/>
          <a:ln/>
        </p:spPr>
        <p:txBody>
          <a:bodyPr wrap="square" lIns="0" tIns="0" rIns="0" bIns="0" rtlCol="0" anchor="ctr"/>
          <a:lstStyle/>
          <a:p>
            <a:pPr indent="0" marL="0">
              <a:buNone/>
            </a:pPr>
            <a:r>
              <a:rPr lang="en-US" sz="1050" b="1" dirty="0">
                <a:solidFill>
                  <a:srgbClr val="E8A54B"/>
                </a:solidFill>
                <a:latin typeface="Arial" pitchFamily="34" charset="0"/>
                <a:ea typeface="Arial" pitchFamily="34" charset="-122"/>
                <a:cs typeface="Arial" pitchFamily="34" charset="-120"/>
              </a:rPr>
              <a:t>watsonx.governance</a:t>
            </a:r>
            <a:endParaRPr lang="en-US" sz="1050" dirty="0"/>
          </a:p>
        </p:txBody>
      </p:sp>
      <p:sp>
        <p:nvSpPr>
          <p:cNvPr id="20" name="Text 18"/>
          <p:cNvSpPr/>
          <p:nvPr/>
        </p:nvSpPr>
        <p:spPr>
          <a:xfrm>
            <a:off x="4937760" y="1380744"/>
            <a:ext cx="3840480" cy="182880"/>
          </a:xfrm>
          <a:prstGeom prst="rect">
            <a:avLst/>
          </a:prstGeom>
          <a:noFill/>
          <a:ln/>
        </p:spPr>
        <p:txBody>
          <a:bodyPr wrap="square" lIns="0" tIns="0" rIns="0" bIns="0" rtlCol="0" anchor="ctr"/>
          <a:lstStyle/>
          <a:p>
            <a:pPr indent="0" marL="0">
              <a:buNone/>
            </a:pPr>
            <a:r>
              <a:rPr lang="en-US" sz="700" b="1" spc="50" kern="0" dirty="0">
                <a:solidFill>
                  <a:srgbClr val="A1A1AA"/>
                </a:solidFill>
                <a:latin typeface="Arial" pitchFamily="34" charset="0"/>
                <a:ea typeface="Arial" pitchFamily="34" charset="-122"/>
                <a:cs typeface="Arial" pitchFamily="34" charset="-120"/>
              </a:rPr>
              <a:t>IMMUTABLE AUDIT TRAIL + LINEAGE</a:t>
            </a:r>
            <a:endParaRPr lang="en-US" sz="700" dirty="0"/>
          </a:p>
        </p:txBody>
      </p:sp>
      <p:sp>
        <p:nvSpPr>
          <p:cNvPr id="21" name="Text 19"/>
          <p:cNvSpPr/>
          <p:nvPr/>
        </p:nvSpPr>
        <p:spPr>
          <a:xfrm>
            <a:off x="4937760" y="1563624"/>
            <a:ext cx="3840480" cy="548640"/>
          </a:xfrm>
          <a:prstGeom prst="rect">
            <a:avLst/>
          </a:prstGeom>
          <a:noFill/>
          <a:ln/>
        </p:spPr>
        <p:txBody>
          <a:bodyPr wrap="square" lIns="0" tIns="0" rIns="0" bIns="0" rtlCol="0" anchor="ctr"/>
          <a:lstStyle/>
          <a:p>
            <a:pPr indent="0" marL="0">
              <a:buNone/>
            </a:pPr>
            <a:r>
              <a:rPr lang="en-US" sz="800" dirty="0">
                <a:solidFill>
                  <a:srgbClr val="A1A1AA"/>
                </a:solidFill>
                <a:latin typeface="Arial" pitchFamily="34" charset="0"/>
                <a:ea typeface="Arial" pitchFamily="34" charset="-122"/>
                <a:cs typeface="Arial" pitchFamily="34" charset="-120"/>
              </a:rPr>
              <a:t>Every classification, citation, confidence score, and human override logged as a governance lineage record. Directly queryable as SOC2/ISO27001 audit evidence. AI Factsheets per analysis.</a:t>
            </a:r>
            <a:endParaRPr lang="en-US" sz="800" dirty="0"/>
          </a:p>
        </p:txBody>
      </p:sp>
      <p:sp>
        <p:nvSpPr>
          <p:cNvPr id="22" name="Shape 20"/>
          <p:cNvSpPr/>
          <p:nvPr/>
        </p:nvSpPr>
        <p:spPr>
          <a:xfrm>
            <a:off x="4800600" y="2313432"/>
            <a:ext cx="4160520" cy="1143000"/>
          </a:xfrm>
          <a:prstGeom prst="roundRect">
            <a:avLst>
              <a:gd name="adj" fmla="val 5600"/>
            </a:avLst>
          </a:prstGeom>
          <a:solidFill>
            <a:srgbClr val="0A0A0A"/>
          </a:solidFill>
          <a:ln w="10160">
            <a:solidFill>
              <a:srgbClr val="4A9EE0"/>
            </a:solidFill>
            <a:prstDash val="solid"/>
          </a:ln>
          <a:effectLst>
            <a:outerShdw sx="100000" sy="100000" kx="0" ky="0" algn="bl" rotWithShape="0" blurRad="101600" dist="38100" dir="2700000">
              <a:srgbClr val="000000">
                <a:alpha val="35000"/>
              </a:srgbClr>
            </a:outerShdw>
          </a:effectLst>
        </p:spPr>
      </p:sp>
      <p:sp>
        <p:nvSpPr>
          <p:cNvPr id="23" name="Text 21"/>
          <p:cNvSpPr/>
          <p:nvPr/>
        </p:nvSpPr>
        <p:spPr>
          <a:xfrm>
            <a:off x="4937760" y="2404872"/>
            <a:ext cx="3200400" cy="256032"/>
          </a:xfrm>
          <a:prstGeom prst="rect">
            <a:avLst/>
          </a:prstGeom>
          <a:noFill/>
          <a:ln/>
        </p:spPr>
        <p:txBody>
          <a:bodyPr wrap="square" lIns="0" tIns="0" rIns="0" bIns="0" rtlCol="0" anchor="ctr"/>
          <a:lstStyle/>
          <a:p>
            <a:pPr indent="0" marL="0">
              <a:buNone/>
            </a:pPr>
            <a:r>
              <a:rPr lang="en-US" sz="1050" b="1" dirty="0">
                <a:solidFill>
                  <a:srgbClr val="4A9EE0"/>
                </a:solidFill>
                <a:latin typeface="Arial" pitchFamily="34" charset="0"/>
                <a:ea typeface="Arial" pitchFamily="34" charset="-122"/>
                <a:cs typeface="Arial" pitchFamily="34" charset="-120"/>
              </a:rPr>
              <a:t>IBM Cloud Object Storage</a:t>
            </a:r>
            <a:endParaRPr lang="en-US" sz="1050" dirty="0"/>
          </a:p>
        </p:txBody>
      </p:sp>
      <p:sp>
        <p:nvSpPr>
          <p:cNvPr id="24" name="Text 22"/>
          <p:cNvSpPr/>
          <p:nvPr/>
        </p:nvSpPr>
        <p:spPr>
          <a:xfrm>
            <a:off x="4937760" y="2642616"/>
            <a:ext cx="3840480" cy="182880"/>
          </a:xfrm>
          <a:prstGeom prst="rect">
            <a:avLst/>
          </a:prstGeom>
          <a:noFill/>
          <a:ln/>
        </p:spPr>
        <p:txBody>
          <a:bodyPr wrap="square" lIns="0" tIns="0" rIns="0" bIns="0" rtlCol="0" anchor="ctr"/>
          <a:lstStyle/>
          <a:p>
            <a:pPr indent="0" marL="0">
              <a:buNone/>
            </a:pPr>
            <a:r>
              <a:rPr lang="en-US" sz="700" b="1" spc="50" kern="0" dirty="0">
                <a:solidFill>
                  <a:srgbClr val="A1A1AA"/>
                </a:solidFill>
                <a:latin typeface="Arial" pitchFamily="34" charset="0"/>
                <a:ea typeface="Arial" pitchFamily="34" charset="-122"/>
                <a:cs typeface="Arial" pitchFamily="34" charset="-120"/>
              </a:rPr>
              <a:t>POLICY DOCUMENT CORPUS</a:t>
            </a:r>
            <a:endParaRPr lang="en-US" sz="700" dirty="0"/>
          </a:p>
        </p:txBody>
      </p:sp>
      <p:sp>
        <p:nvSpPr>
          <p:cNvPr id="25" name="Text 23"/>
          <p:cNvSpPr/>
          <p:nvPr/>
        </p:nvSpPr>
        <p:spPr>
          <a:xfrm>
            <a:off x="4937760" y="2825496"/>
            <a:ext cx="3840480" cy="548640"/>
          </a:xfrm>
          <a:prstGeom prst="rect">
            <a:avLst/>
          </a:prstGeom>
          <a:noFill/>
          <a:ln/>
        </p:spPr>
        <p:txBody>
          <a:bodyPr wrap="square" lIns="0" tIns="0" rIns="0" bIns="0" rtlCol="0" anchor="ctr"/>
          <a:lstStyle/>
          <a:p>
            <a:pPr indent="0" marL="0">
              <a:buNone/>
            </a:pPr>
            <a:r>
              <a:rPr lang="en-US" sz="800" dirty="0">
                <a:solidFill>
                  <a:srgbClr val="A1A1AA"/>
                </a:solidFill>
                <a:latin typeface="Arial" pitchFamily="34" charset="0"/>
                <a:ea typeface="Arial" pitchFamily="34" charset="-122"/>
                <a:cs typeface="Arial" pitchFamily="34" charset="-120"/>
              </a:rPr>
              <a:t>Source of truth for all ADR and policy documents. Watson Discovery indexes from here. Per-tenant bucket prefixes enforce data isolation boundaries.</a:t>
            </a:r>
            <a:endParaRPr lang="en-US" sz="800" dirty="0"/>
          </a:p>
        </p:txBody>
      </p:sp>
      <p:sp>
        <p:nvSpPr>
          <p:cNvPr id="26" name="Shape 24"/>
          <p:cNvSpPr/>
          <p:nvPr/>
        </p:nvSpPr>
        <p:spPr>
          <a:xfrm>
            <a:off x="4800600" y="3575304"/>
            <a:ext cx="4160520" cy="1143000"/>
          </a:xfrm>
          <a:prstGeom prst="roundRect">
            <a:avLst>
              <a:gd name="adj" fmla="val 5600"/>
            </a:avLst>
          </a:prstGeom>
          <a:solidFill>
            <a:srgbClr val="0A0A0A"/>
          </a:solidFill>
          <a:ln w="10160">
            <a:solidFill>
              <a:srgbClr val="A1A1AA"/>
            </a:solidFill>
            <a:prstDash val="solid"/>
          </a:ln>
          <a:effectLst>
            <a:outerShdw sx="100000" sy="100000" kx="0" ky="0" algn="bl" rotWithShape="0" blurRad="101600" dist="38100" dir="2700000">
              <a:srgbClr val="000000">
                <a:alpha val="35000"/>
              </a:srgbClr>
            </a:outerShdw>
          </a:effectLst>
        </p:spPr>
      </p:sp>
      <p:sp>
        <p:nvSpPr>
          <p:cNvPr id="27" name="Text 25"/>
          <p:cNvSpPr/>
          <p:nvPr/>
        </p:nvSpPr>
        <p:spPr>
          <a:xfrm>
            <a:off x="4937760" y="3666744"/>
            <a:ext cx="3200400" cy="256032"/>
          </a:xfrm>
          <a:prstGeom prst="rect">
            <a:avLst/>
          </a:prstGeom>
          <a:noFill/>
          <a:ln/>
        </p:spPr>
        <p:txBody>
          <a:bodyPr wrap="square" lIns="0" tIns="0" rIns="0" bIns="0" rtlCol="0" anchor="ctr"/>
          <a:lstStyle/>
          <a:p>
            <a:pPr indent="0" marL="0">
              <a:buNone/>
            </a:pPr>
            <a:r>
              <a:rPr lang="en-US" sz="1050" b="1" dirty="0">
                <a:solidFill>
                  <a:srgbClr val="A1A1AA"/>
                </a:solidFill>
                <a:latin typeface="Arial" pitchFamily="34" charset="0"/>
                <a:ea typeface="Arial" pitchFamily="34" charset="-122"/>
                <a:cs typeface="Arial" pitchFamily="34" charset="-120"/>
              </a:rPr>
              <a:t>IBM Event Streams</a:t>
            </a:r>
            <a:endParaRPr lang="en-US" sz="1050" dirty="0"/>
          </a:p>
        </p:txBody>
      </p:sp>
      <p:sp>
        <p:nvSpPr>
          <p:cNvPr id="28" name="Text 26"/>
          <p:cNvSpPr/>
          <p:nvPr/>
        </p:nvSpPr>
        <p:spPr>
          <a:xfrm>
            <a:off x="4937760" y="3904488"/>
            <a:ext cx="3840480" cy="182880"/>
          </a:xfrm>
          <a:prstGeom prst="rect">
            <a:avLst/>
          </a:prstGeom>
          <a:noFill/>
          <a:ln/>
        </p:spPr>
        <p:txBody>
          <a:bodyPr wrap="square" lIns="0" tIns="0" rIns="0" bIns="0" rtlCol="0" anchor="ctr"/>
          <a:lstStyle/>
          <a:p>
            <a:pPr indent="0" marL="0">
              <a:buNone/>
            </a:pPr>
            <a:r>
              <a:rPr lang="en-US" sz="700" b="1" spc="50" kern="0" dirty="0">
                <a:solidFill>
                  <a:srgbClr val="A1A1AA"/>
                </a:solidFill>
                <a:latin typeface="Arial" pitchFamily="34" charset="0"/>
                <a:ea typeface="Arial" pitchFamily="34" charset="-122"/>
                <a:cs typeface="Arial" pitchFamily="34" charset="-120"/>
              </a:rPr>
              <a:t>TELEMETRY &amp; AUDIT BUS</a:t>
            </a:r>
            <a:endParaRPr lang="en-US" sz="700" dirty="0"/>
          </a:p>
        </p:txBody>
      </p:sp>
      <p:sp>
        <p:nvSpPr>
          <p:cNvPr id="29" name="Text 27"/>
          <p:cNvSpPr/>
          <p:nvPr/>
        </p:nvSpPr>
        <p:spPr>
          <a:xfrm>
            <a:off x="4937760" y="4087368"/>
            <a:ext cx="3840480" cy="548640"/>
          </a:xfrm>
          <a:prstGeom prst="rect">
            <a:avLst/>
          </a:prstGeom>
          <a:noFill/>
          <a:ln/>
        </p:spPr>
        <p:txBody>
          <a:bodyPr wrap="square" lIns="0" tIns="0" rIns="0" bIns="0" rtlCol="0" anchor="ctr"/>
          <a:lstStyle/>
          <a:p>
            <a:pPr indent="0" marL="0">
              <a:buNone/>
            </a:pPr>
            <a:r>
              <a:rPr lang="en-US" sz="800" dirty="0">
                <a:solidFill>
                  <a:srgbClr val="A1A1AA"/>
                </a:solidFill>
                <a:latin typeface="Arial" pitchFamily="34" charset="0"/>
                <a:ea typeface="Arial" pitchFamily="34" charset="-122"/>
                <a:cs typeface="Arial" pitchFamily="34" charset="-120"/>
              </a:rPr>
              <a:t>Kafka-compatible event bus carrying violation/remediation events from both trigger points (IDE-time and CI-time) into governance and analytics layers.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007A"/>
          </a:solidFill>
          <a:ln w="12700">
            <a:solidFill>
              <a:srgbClr val="FF007A"/>
            </a:solidFill>
            <a:prstDash val="solid"/>
          </a:ln>
        </p:spPr>
      </p:sp>
      <p:sp>
        <p:nvSpPr>
          <p:cNvPr id="3" name="Text 1"/>
          <p:cNvSpPr/>
          <p:nvPr/>
        </p:nvSpPr>
        <p:spPr>
          <a:xfrm>
            <a:off x="457200" y="182880"/>
            <a:ext cx="8229600" cy="274320"/>
          </a:xfrm>
          <a:prstGeom prst="rect">
            <a:avLst/>
          </a:prstGeom>
          <a:noFill/>
          <a:ln/>
        </p:spPr>
        <p:txBody>
          <a:bodyPr wrap="square" lIns="0" tIns="0" rIns="0" bIns="0" rtlCol="0" anchor="ctr"/>
          <a:lstStyle/>
          <a:p>
            <a:pPr indent="0" marL="0">
              <a:buNone/>
            </a:pPr>
            <a:r>
              <a:rPr lang="en-US" sz="800" b="1" spc="200" kern="0" dirty="0">
                <a:solidFill>
                  <a:srgbClr val="FF007A"/>
                </a:solidFill>
                <a:latin typeface="Arial" pitchFamily="34" charset="0"/>
                <a:ea typeface="Arial" pitchFamily="34" charset="-122"/>
                <a:cs typeface="Arial" pitchFamily="34" charset="-120"/>
              </a:rPr>
              <a:t>IBM BOB IDE INTEGRATION</a:t>
            </a:r>
            <a:endParaRPr lang="en-US" sz="800" dirty="0"/>
          </a:p>
        </p:txBody>
      </p:sp>
      <p:sp>
        <p:nvSpPr>
          <p:cNvPr id="4" name="Text 2"/>
          <p:cNvSpPr/>
          <p:nvPr/>
        </p:nvSpPr>
        <p:spPr>
          <a:xfrm>
            <a:off x="457200" y="457200"/>
            <a:ext cx="8229600" cy="457200"/>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Native, Zero-Context-Switch Developer Experience</a:t>
            </a:r>
            <a:endParaRPr lang="en-US" sz="2100" dirty="0"/>
          </a:p>
        </p:txBody>
      </p:sp>
      <p:sp>
        <p:nvSpPr>
          <p:cNvPr id="5" name="Shape 3"/>
          <p:cNvSpPr/>
          <p:nvPr/>
        </p:nvSpPr>
        <p:spPr>
          <a:xfrm>
            <a:off x="457200" y="914400"/>
            <a:ext cx="8229600" cy="0"/>
          </a:xfrm>
          <a:prstGeom prst="line">
            <a:avLst/>
          </a:prstGeom>
          <a:noFill/>
          <a:ln w="6350">
            <a:solidFill>
              <a:srgbClr val="52525B"/>
            </a:solidFill>
            <a:prstDash val="solid"/>
          </a:ln>
        </p:spPr>
      </p:sp>
      <p:sp>
        <p:nvSpPr>
          <p:cNvPr id="6" name="Shape 4"/>
          <p:cNvSpPr/>
          <p:nvPr/>
        </p:nvSpPr>
        <p:spPr>
          <a:xfrm>
            <a:off x="365760" y="1005840"/>
            <a:ext cx="4114800" cy="3840480"/>
          </a:xfrm>
          <a:prstGeom prst="roundRect">
            <a:avLst>
              <a:gd name="adj" fmla="val 1905"/>
            </a:avLst>
          </a:prstGeom>
          <a:solidFill>
            <a:srgbClr val="0D0D0D"/>
          </a:solidFill>
          <a:ln w="10160">
            <a:solidFill>
              <a:srgbClr val="52525B"/>
            </a:solidFill>
            <a:prstDash val="solid"/>
          </a:ln>
          <a:effectLst>
            <a:outerShdw sx="100000" sy="100000" kx="0" ky="0" algn="bl" rotWithShape="0" blurRad="101600" dist="38100" dir="2700000">
              <a:srgbClr val="000000">
                <a:alpha val="35000"/>
              </a:srgbClr>
            </a:outerShdw>
          </a:effectLst>
        </p:spPr>
      </p:sp>
      <p:sp>
        <p:nvSpPr>
          <p:cNvPr id="7" name="Shape 5"/>
          <p:cNvSpPr/>
          <p:nvPr/>
        </p:nvSpPr>
        <p:spPr>
          <a:xfrm>
            <a:off x="365760" y="1005840"/>
            <a:ext cx="4114800" cy="347472"/>
          </a:xfrm>
          <a:prstGeom prst="rect">
            <a:avLst/>
          </a:prstGeom>
          <a:solidFill>
            <a:srgbClr val="111111"/>
          </a:solidFill>
          <a:ln w="6350">
            <a:solidFill>
              <a:srgbClr val="52525B"/>
            </a:solidFill>
            <a:prstDash val="solid"/>
          </a:ln>
        </p:spPr>
      </p:sp>
      <p:sp>
        <p:nvSpPr>
          <p:cNvPr id="8" name="Shape 6"/>
          <p:cNvSpPr/>
          <p:nvPr/>
        </p:nvSpPr>
        <p:spPr>
          <a:xfrm>
            <a:off x="411480" y="1005840"/>
            <a:ext cx="1280160" cy="347472"/>
          </a:xfrm>
          <a:prstGeom prst="rect">
            <a:avLst/>
          </a:prstGeom>
          <a:solidFill>
            <a:srgbClr val="111111"/>
          </a:solidFill>
          <a:ln w="6350">
            <a:solidFill>
              <a:srgbClr val="52525B"/>
            </a:solidFill>
            <a:prstDash val="solid"/>
          </a:ln>
        </p:spPr>
      </p:sp>
      <p:sp>
        <p:nvSpPr>
          <p:cNvPr id="9" name="Text 7"/>
          <p:cNvSpPr/>
          <p:nvPr/>
        </p:nvSpPr>
        <p:spPr>
          <a:xfrm>
            <a:off x="411480" y="1042416"/>
            <a:ext cx="1280160" cy="274320"/>
          </a:xfrm>
          <a:prstGeom prst="rect">
            <a:avLst/>
          </a:prstGeom>
          <a:noFill/>
          <a:ln/>
        </p:spPr>
        <p:txBody>
          <a:bodyPr wrap="square" lIns="0" tIns="0" rIns="0" bIns="0" rtlCol="0" anchor="ctr"/>
          <a:lstStyle/>
          <a:p>
            <a:pPr algn="ctr" indent="0" marL="0">
              <a:buNone/>
            </a:pPr>
            <a:r>
              <a:rPr lang="en-US" sz="800" dirty="0">
                <a:solidFill>
                  <a:srgbClr val="A1A1AA"/>
                </a:solidFill>
                <a:latin typeface="Arial" pitchFamily="34" charset="0"/>
                <a:ea typeface="Arial" pitchFamily="34" charset="-122"/>
                <a:cs typeface="Arial" pitchFamily="34" charset="-120"/>
              </a:rPr>
              <a:t>Explorer</a:t>
            </a:r>
            <a:endParaRPr lang="en-US" sz="800" dirty="0"/>
          </a:p>
        </p:txBody>
      </p:sp>
      <p:sp>
        <p:nvSpPr>
          <p:cNvPr id="10" name="Shape 8"/>
          <p:cNvSpPr/>
          <p:nvPr/>
        </p:nvSpPr>
        <p:spPr>
          <a:xfrm>
            <a:off x="1709928" y="1005840"/>
            <a:ext cx="1280160" cy="347472"/>
          </a:xfrm>
          <a:prstGeom prst="rect">
            <a:avLst/>
          </a:prstGeom>
          <a:solidFill>
            <a:srgbClr val="1A0000"/>
          </a:solidFill>
          <a:ln w="12700">
            <a:solidFill>
              <a:srgbClr val="FF007A"/>
            </a:solidFill>
            <a:prstDash val="solid"/>
          </a:ln>
        </p:spPr>
      </p:sp>
      <p:sp>
        <p:nvSpPr>
          <p:cNvPr id="11" name="Text 9"/>
          <p:cNvSpPr/>
          <p:nvPr/>
        </p:nvSpPr>
        <p:spPr>
          <a:xfrm>
            <a:off x="1709928" y="1042416"/>
            <a:ext cx="1280160" cy="274320"/>
          </a:xfrm>
          <a:prstGeom prst="rect">
            <a:avLst/>
          </a:prstGeom>
          <a:noFill/>
          <a:ln/>
        </p:spPr>
        <p:txBody>
          <a:bodyPr wrap="square" lIns="0" tIns="0" rIns="0" bIns="0" rtlCol="0" anchor="ctr"/>
          <a:lstStyle/>
          <a:p>
            <a:pPr algn="ctr" indent="0" marL="0">
              <a:buNone/>
            </a:pPr>
            <a:r>
              <a:rPr lang="en-US" sz="800" b="1" dirty="0">
                <a:solidFill>
                  <a:srgbClr val="FF007A"/>
                </a:solidFill>
                <a:latin typeface="Arial" pitchFamily="34" charset="0"/>
                <a:ea typeface="Arial" pitchFamily="34" charset="-122"/>
                <a:cs typeface="Arial" pitchFamily="34" charset="-120"/>
              </a:rPr>
              <a:t>Bob Findings</a:t>
            </a:r>
            <a:endParaRPr lang="en-US" sz="800" dirty="0"/>
          </a:p>
        </p:txBody>
      </p:sp>
      <p:sp>
        <p:nvSpPr>
          <p:cNvPr id="12" name="Shape 10"/>
          <p:cNvSpPr/>
          <p:nvPr/>
        </p:nvSpPr>
        <p:spPr>
          <a:xfrm>
            <a:off x="3008376" y="1005840"/>
            <a:ext cx="1280160" cy="347472"/>
          </a:xfrm>
          <a:prstGeom prst="rect">
            <a:avLst/>
          </a:prstGeom>
          <a:solidFill>
            <a:srgbClr val="111111"/>
          </a:solidFill>
          <a:ln w="6350">
            <a:solidFill>
              <a:srgbClr val="52525B"/>
            </a:solidFill>
            <a:prstDash val="solid"/>
          </a:ln>
        </p:spPr>
      </p:sp>
      <p:sp>
        <p:nvSpPr>
          <p:cNvPr id="13" name="Text 11"/>
          <p:cNvSpPr/>
          <p:nvPr/>
        </p:nvSpPr>
        <p:spPr>
          <a:xfrm>
            <a:off x="3008376" y="1042416"/>
            <a:ext cx="1280160" cy="274320"/>
          </a:xfrm>
          <a:prstGeom prst="rect">
            <a:avLst/>
          </a:prstGeom>
          <a:noFill/>
          <a:ln/>
        </p:spPr>
        <p:txBody>
          <a:bodyPr wrap="square" lIns="0" tIns="0" rIns="0" bIns="0" rtlCol="0" anchor="ctr"/>
          <a:lstStyle/>
          <a:p>
            <a:pPr algn="ctr" indent="0" marL="0">
              <a:buNone/>
            </a:pPr>
            <a:r>
              <a:rPr lang="en-US" sz="800" dirty="0">
                <a:solidFill>
                  <a:srgbClr val="A1A1AA"/>
                </a:solidFill>
                <a:latin typeface="Arial" pitchFamily="34" charset="0"/>
                <a:ea typeface="Arial" pitchFamily="34" charset="-122"/>
                <a:cs typeface="Arial" pitchFamily="34" charset="-120"/>
              </a:rPr>
              <a:t>Terminal</a:t>
            </a:r>
            <a:endParaRPr lang="en-US" sz="800" dirty="0"/>
          </a:p>
        </p:txBody>
      </p:sp>
      <p:sp>
        <p:nvSpPr>
          <p:cNvPr id="14" name="Text 12"/>
          <p:cNvSpPr/>
          <p:nvPr/>
        </p:nvSpPr>
        <p:spPr>
          <a:xfrm>
            <a:off x="438912" y="1463040"/>
            <a:ext cx="274320" cy="256032"/>
          </a:xfrm>
          <a:prstGeom prst="rect">
            <a:avLst/>
          </a:prstGeom>
          <a:noFill/>
          <a:ln/>
        </p:spPr>
        <p:txBody>
          <a:bodyPr wrap="square" lIns="0" tIns="0" rIns="0" bIns="0" rtlCol="0" anchor="ctr"/>
          <a:lstStyle/>
          <a:p>
            <a:pPr indent="0" marL="0">
              <a:buNone/>
            </a:pPr>
            <a:r>
              <a:rPr lang="en-US" sz="850" dirty="0">
                <a:solidFill>
                  <a:srgbClr val="52525B"/>
                </a:solidFill>
                <a:latin typeface="Courier New" pitchFamily="34" charset="0"/>
                <a:ea typeface="Courier New" pitchFamily="34" charset="-122"/>
                <a:cs typeface="Courier New" pitchFamily="34" charset="-120"/>
              </a:rPr>
              <a:t> 1</a:t>
            </a:r>
            <a:endParaRPr lang="en-US" sz="850" dirty="0"/>
          </a:p>
        </p:txBody>
      </p:sp>
      <p:sp>
        <p:nvSpPr>
          <p:cNvPr id="15" name="Text 13"/>
          <p:cNvSpPr/>
          <p:nvPr/>
        </p:nvSpPr>
        <p:spPr>
          <a:xfrm>
            <a:off x="749808" y="1463040"/>
            <a:ext cx="3566160" cy="256032"/>
          </a:xfrm>
          <a:prstGeom prst="rect">
            <a:avLst/>
          </a:prstGeom>
          <a:noFill/>
          <a:ln/>
        </p:spPr>
        <p:txBody>
          <a:bodyPr wrap="square" lIns="0" tIns="0" rIns="0" bIns="0"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def process_payment(user_id, amount):</a:t>
            </a:r>
            <a:endParaRPr lang="en-US" sz="850" dirty="0"/>
          </a:p>
        </p:txBody>
      </p:sp>
      <p:sp>
        <p:nvSpPr>
          <p:cNvPr id="16" name="Text 14"/>
          <p:cNvSpPr/>
          <p:nvPr/>
        </p:nvSpPr>
        <p:spPr>
          <a:xfrm>
            <a:off x="438912" y="1755648"/>
            <a:ext cx="274320" cy="256032"/>
          </a:xfrm>
          <a:prstGeom prst="rect">
            <a:avLst/>
          </a:prstGeom>
          <a:noFill/>
          <a:ln/>
        </p:spPr>
        <p:txBody>
          <a:bodyPr wrap="square" lIns="0" tIns="0" rIns="0" bIns="0" rtlCol="0" anchor="ctr"/>
          <a:lstStyle/>
          <a:p>
            <a:pPr indent="0" marL="0">
              <a:buNone/>
            </a:pPr>
            <a:r>
              <a:rPr lang="en-US" sz="850" dirty="0">
                <a:solidFill>
                  <a:srgbClr val="52525B"/>
                </a:solidFill>
                <a:latin typeface="Courier New" pitchFamily="34" charset="0"/>
                <a:ea typeface="Courier New" pitchFamily="34" charset="-122"/>
                <a:cs typeface="Courier New" pitchFamily="34" charset="-120"/>
              </a:rPr>
              <a:t> 2</a:t>
            </a:r>
            <a:endParaRPr lang="en-US" sz="850" dirty="0"/>
          </a:p>
        </p:txBody>
      </p:sp>
      <p:sp>
        <p:nvSpPr>
          <p:cNvPr id="17" name="Text 15"/>
          <p:cNvSpPr/>
          <p:nvPr/>
        </p:nvSpPr>
        <p:spPr>
          <a:xfrm>
            <a:off x="749808" y="1755648"/>
            <a:ext cx="3566160" cy="256032"/>
          </a:xfrm>
          <a:prstGeom prst="rect">
            <a:avLst/>
          </a:prstGeom>
          <a:noFill/>
          <a:ln/>
        </p:spPr>
        <p:txBody>
          <a:bodyPr wrap="square" lIns="0" tIns="0" rIns="0" bIns="0" rtlCol="0" anchor="ctr"/>
          <a:lstStyle/>
          <a:p>
            <a:pPr indent="0" marL="0">
              <a:buNone/>
            </a:pPr>
            <a:r>
              <a:rPr lang="en-US" sz="850" dirty="0">
                <a:solidFill>
                  <a:srgbClr val="52525B"/>
                </a:solidFill>
                <a:latin typeface="Courier New" pitchFamily="34" charset="0"/>
                <a:ea typeface="Courier New" pitchFamily="34" charset="-122"/>
                <a:cs typeface="Courier New" pitchFamily="34" charset="-120"/>
              </a:rPr>
              <a:t>    # Process via billing gateway</a:t>
            </a:r>
            <a:endParaRPr lang="en-US" sz="850" dirty="0"/>
          </a:p>
        </p:txBody>
      </p:sp>
      <p:sp>
        <p:nvSpPr>
          <p:cNvPr id="18" name="Shape 16"/>
          <p:cNvSpPr/>
          <p:nvPr/>
        </p:nvSpPr>
        <p:spPr>
          <a:xfrm>
            <a:off x="365760" y="2029968"/>
            <a:ext cx="4114800" cy="292608"/>
          </a:xfrm>
          <a:prstGeom prst="rect">
            <a:avLst/>
          </a:prstGeom>
          <a:solidFill>
            <a:srgbClr val="1A0A00"/>
          </a:solidFill>
          <a:ln w="12700">
            <a:solidFill>
              <a:srgbClr val="000000">
                <a:alpha val="0"/>
              </a:srgbClr>
            </a:solidFill>
            <a:prstDash val="solid"/>
          </a:ln>
        </p:spPr>
      </p:sp>
      <p:sp>
        <p:nvSpPr>
          <p:cNvPr id="19" name="Text 17"/>
          <p:cNvSpPr/>
          <p:nvPr/>
        </p:nvSpPr>
        <p:spPr>
          <a:xfrm>
            <a:off x="438912" y="2048256"/>
            <a:ext cx="274320" cy="256032"/>
          </a:xfrm>
          <a:prstGeom prst="rect">
            <a:avLst/>
          </a:prstGeom>
          <a:noFill/>
          <a:ln/>
        </p:spPr>
        <p:txBody>
          <a:bodyPr wrap="square" lIns="0" tIns="0" rIns="0" bIns="0" rtlCol="0" anchor="ctr"/>
          <a:lstStyle/>
          <a:p>
            <a:pPr indent="0" marL="0">
              <a:buNone/>
            </a:pPr>
            <a:r>
              <a:rPr lang="en-US" sz="850" dirty="0">
                <a:solidFill>
                  <a:srgbClr val="52525B"/>
                </a:solidFill>
                <a:latin typeface="Courier New" pitchFamily="34" charset="0"/>
                <a:ea typeface="Courier New" pitchFamily="34" charset="-122"/>
                <a:cs typeface="Courier New" pitchFamily="34" charset="-120"/>
              </a:rPr>
              <a:t> 3</a:t>
            </a:r>
            <a:endParaRPr lang="en-US" sz="850" dirty="0"/>
          </a:p>
        </p:txBody>
      </p:sp>
      <p:sp>
        <p:nvSpPr>
          <p:cNvPr id="20" name="Text 18"/>
          <p:cNvSpPr/>
          <p:nvPr/>
        </p:nvSpPr>
        <p:spPr>
          <a:xfrm>
            <a:off x="749808" y="2048256"/>
            <a:ext cx="3566160" cy="256032"/>
          </a:xfrm>
          <a:prstGeom prst="rect">
            <a:avLst/>
          </a:prstGeom>
          <a:noFill/>
          <a:ln/>
        </p:spPr>
        <p:txBody>
          <a:bodyPr wrap="square" lIns="0" tIns="0" rIns="0" bIns="0" rtlCol="0" anchor="ctr"/>
          <a:lstStyle/>
          <a:p>
            <a:pPr indent="0" marL="0">
              <a:buNone/>
            </a:pPr>
            <a:r>
              <a:rPr lang="en-US" sz="850" dirty="0">
                <a:solidFill>
                  <a:srgbClr val="E8A54B"/>
                </a:solidFill>
                <a:latin typeface="Courier New" pitchFamily="34" charset="0"/>
                <a:ea typeface="Courier New" pitchFamily="34" charset="-122"/>
                <a:cs typeface="Courier New" pitchFamily="34" charset="-120"/>
              </a:rPr>
              <a:t>    legacy_billing.charge(</a:t>
            </a:r>
            <a:endParaRPr lang="en-US" sz="850" dirty="0"/>
          </a:p>
        </p:txBody>
      </p:sp>
      <p:sp>
        <p:nvSpPr>
          <p:cNvPr id="21" name="Shape 19"/>
          <p:cNvSpPr/>
          <p:nvPr/>
        </p:nvSpPr>
        <p:spPr>
          <a:xfrm>
            <a:off x="365760" y="2322576"/>
            <a:ext cx="4114800" cy="292608"/>
          </a:xfrm>
          <a:prstGeom prst="rect">
            <a:avLst/>
          </a:prstGeom>
          <a:solidFill>
            <a:srgbClr val="1A0A00"/>
          </a:solidFill>
          <a:ln w="12700">
            <a:solidFill>
              <a:srgbClr val="000000">
                <a:alpha val="0"/>
              </a:srgbClr>
            </a:solidFill>
            <a:prstDash val="solid"/>
          </a:ln>
        </p:spPr>
      </p:sp>
      <p:sp>
        <p:nvSpPr>
          <p:cNvPr id="22" name="Text 20"/>
          <p:cNvSpPr/>
          <p:nvPr/>
        </p:nvSpPr>
        <p:spPr>
          <a:xfrm>
            <a:off x="438912" y="2340864"/>
            <a:ext cx="274320" cy="256032"/>
          </a:xfrm>
          <a:prstGeom prst="rect">
            <a:avLst/>
          </a:prstGeom>
          <a:noFill/>
          <a:ln/>
        </p:spPr>
        <p:txBody>
          <a:bodyPr wrap="square" lIns="0" tIns="0" rIns="0" bIns="0" rtlCol="0" anchor="ctr"/>
          <a:lstStyle/>
          <a:p>
            <a:pPr indent="0" marL="0">
              <a:buNone/>
            </a:pPr>
            <a:r>
              <a:rPr lang="en-US" sz="850" dirty="0">
                <a:solidFill>
                  <a:srgbClr val="52525B"/>
                </a:solidFill>
                <a:latin typeface="Courier New" pitchFamily="34" charset="0"/>
                <a:ea typeface="Courier New" pitchFamily="34" charset="-122"/>
                <a:cs typeface="Courier New" pitchFamily="34" charset="-120"/>
              </a:rPr>
              <a:t> 4</a:t>
            </a:r>
            <a:endParaRPr lang="en-US" sz="850" dirty="0"/>
          </a:p>
        </p:txBody>
      </p:sp>
      <p:sp>
        <p:nvSpPr>
          <p:cNvPr id="23" name="Text 21"/>
          <p:cNvSpPr/>
          <p:nvPr/>
        </p:nvSpPr>
        <p:spPr>
          <a:xfrm>
            <a:off x="749808" y="2340864"/>
            <a:ext cx="3566160" cy="256032"/>
          </a:xfrm>
          <a:prstGeom prst="rect">
            <a:avLst/>
          </a:prstGeom>
          <a:noFill/>
          <a:ln/>
        </p:spPr>
        <p:txBody>
          <a:bodyPr wrap="square" lIns="0" tIns="0" rIns="0" bIns="0" rtlCol="0" anchor="ctr"/>
          <a:lstStyle/>
          <a:p>
            <a:pPr indent="0" marL="0">
              <a:buNone/>
            </a:pPr>
            <a:r>
              <a:rPr lang="en-US" sz="850" dirty="0">
                <a:solidFill>
                  <a:srgbClr val="E8A54B"/>
                </a:solidFill>
                <a:latin typeface="Courier New" pitchFamily="34" charset="0"/>
                <a:ea typeface="Courier New" pitchFamily="34" charset="-122"/>
                <a:cs typeface="Courier New" pitchFamily="34" charset="-120"/>
              </a:rPr>
              <a:t>        user_id, amount)</a:t>
            </a:r>
            <a:endParaRPr lang="en-US" sz="850" dirty="0"/>
          </a:p>
        </p:txBody>
      </p:sp>
      <p:sp>
        <p:nvSpPr>
          <p:cNvPr id="24" name="Text 22"/>
          <p:cNvSpPr/>
          <p:nvPr/>
        </p:nvSpPr>
        <p:spPr>
          <a:xfrm>
            <a:off x="438912" y="2633472"/>
            <a:ext cx="274320" cy="256032"/>
          </a:xfrm>
          <a:prstGeom prst="rect">
            <a:avLst/>
          </a:prstGeom>
          <a:noFill/>
          <a:ln/>
        </p:spPr>
        <p:txBody>
          <a:bodyPr wrap="square" lIns="0" tIns="0" rIns="0" bIns="0" rtlCol="0" anchor="ctr"/>
          <a:lstStyle/>
          <a:p>
            <a:pPr indent="0" marL="0">
              <a:buNone/>
            </a:pPr>
            <a:r>
              <a:rPr lang="en-US" sz="850" dirty="0">
                <a:solidFill>
                  <a:srgbClr val="52525B"/>
                </a:solidFill>
                <a:latin typeface="Courier New" pitchFamily="34" charset="0"/>
                <a:ea typeface="Courier New" pitchFamily="34" charset="-122"/>
                <a:cs typeface="Courier New" pitchFamily="34" charset="-120"/>
              </a:rPr>
              <a:t> 5</a:t>
            </a:r>
            <a:endParaRPr lang="en-US" sz="850" dirty="0"/>
          </a:p>
        </p:txBody>
      </p:sp>
      <p:sp>
        <p:nvSpPr>
          <p:cNvPr id="25" name="Text 23"/>
          <p:cNvSpPr/>
          <p:nvPr/>
        </p:nvSpPr>
        <p:spPr>
          <a:xfrm>
            <a:off x="749808" y="2633472"/>
            <a:ext cx="3566160" cy="256032"/>
          </a:xfrm>
          <a:prstGeom prst="rect">
            <a:avLst/>
          </a:prstGeom>
          <a:noFill/>
          <a:ln/>
        </p:spPr>
        <p:txBody>
          <a:bodyPr wrap="square" lIns="0" tIns="0" rIns="0" bIns="0"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    return {"status": "ok"}</a:t>
            </a:r>
            <a:endParaRPr lang="en-US" sz="850" dirty="0"/>
          </a:p>
        </p:txBody>
      </p:sp>
      <p:sp>
        <p:nvSpPr>
          <p:cNvPr id="26" name="Shape 24"/>
          <p:cNvSpPr/>
          <p:nvPr/>
        </p:nvSpPr>
        <p:spPr>
          <a:xfrm>
            <a:off x="457200" y="2935224"/>
            <a:ext cx="3840480" cy="1554480"/>
          </a:xfrm>
          <a:prstGeom prst="roundRect">
            <a:avLst>
              <a:gd name="adj" fmla="val 4118"/>
            </a:avLst>
          </a:prstGeom>
          <a:solidFill>
            <a:srgbClr val="120800"/>
          </a:solidFill>
          <a:ln w="12700">
            <a:solidFill>
              <a:srgbClr val="E8A54B"/>
            </a:solidFill>
            <a:prstDash val="solid"/>
          </a:ln>
          <a:effectLst>
            <a:outerShdw sx="100000" sy="100000" kx="0" ky="0" algn="bl" rotWithShape="0" blurRad="101600" dist="38100" dir="2700000">
              <a:srgbClr val="000000">
                <a:alpha val="35000"/>
              </a:srgbClr>
            </a:outerShdw>
          </a:effectLst>
        </p:spPr>
      </p:sp>
      <p:sp>
        <p:nvSpPr>
          <p:cNvPr id="27" name="Text 25"/>
          <p:cNvSpPr/>
          <p:nvPr/>
        </p:nvSpPr>
        <p:spPr>
          <a:xfrm>
            <a:off x="594360" y="3017520"/>
            <a:ext cx="3566160" cy="256032"/>
          </a:xfrm>
          <a:prstGeom prst="rect">
            <a:avLst/>
          </a:prstGeom>
          <a:noFill/>
          <a:ln/>
        </p:spPr>
        <p:txBody>
          <a:bodyPr wrap="square" lIns="0" tIns="0" rIns="0" bIns="0" rtlCol="0" anchor="ctr"/>
          <a:lstStyle/>
          <a:p>
            <a:pPr indent="0" marL="0">
              <a:buNone/>
            </a:pPr>
            <a:r>
              <a:rPr lang="en-US" sz="900" b="1" dirty="0">
                <a:solidFill>
                  <a:srgbClr val="E8A54B"/>
                </a:solidFill>
                <a:latin typeface="Courier New" pitchFamily="34" charset="0"/>
                <a:ea typeface="Courier New" pitchFamily="34" charset="-122"/>
                <a:cs typeface="Courier New" pitchFamily="34" charset="-120"/>
              </a:rPr>
              <a:t>⚠  POLICY VIOLATION · HIGH · 94% confidence</a:t>
            </a:r>
            <a:endParaRPr lang="en-US" sz="900" dirty="0"/>
          </a:p>
        </p:txBody>
      </p:sp>
      <p:sp>
        <p:nvSpPr>
          <p:cNvPr id="28" name="Text 26"/>
          <p:cNvSpPr/>
          <p:nvPr/>
        </p:nvSpPr>
        <p:spPr>
          <a:xfrm>
            <a:off x="594360" y="3273552"/>
            <a:ext cx="3566160" cy="201168"/>
          </a:xfrm>
          <a:prstGeom prst="rect">
            <a:avLst/>
          </a:prstGeom>
          <a:noFill/>
          <a:ln/>
        </p:spPr>
        <p:txBody>
          <a:bodyPr wrap="square" lIns="0" tIns="0" rIns="0" bIns="0" rtlCol="0" anchor="ctr"/>
          <a:lstStyle/>
          <a:p>
            <a:pPr indent="0" marL="0">
              <a:buNone/>
            </a:pPr>
            <a:r>
              <a:rPr lang="en-US" sz="750" dirty="0">
                <a:solidFill>
                  <a:srgbClr val="52525B"/>
                </a:solidFill>
                <a:latin typeface="Courier New" pitchFamily="34" charset="0"/>
                <a:ea typeface="Courier New" pitchFamily="34" charset="-122"/>
                <a:cs typeface="Courier New" pitchFamily="34" charset="-120"/>
              </a:rPr>
              <a:t>sentinel://finding/f3a9c-... · ADR-0042</a:t>
            </a:r>
            <a:endParaRPr lang="en-US" sz="750" dirty="0"/>
          </a:p>
        </p:txBody>
      </p:sp>
      <p:sp>
        <p:nvSpPr>
          <p:cNvPr id="29" name="Text 27"/>
          <p:cNvSpPr/>
          <p:nvPr/>
        </p:nvSpPr>
        <p:spPr>
          <a:xfrm>
            <a:off x="594360" y="3474720"/>
            <a:ext cx="3566160" cy="402336"/>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Direct call to legacy_billing.charge() bypasses</a:t>
            </a:r>
            <a:endParaRPr lang="en-US" sz="900" dirty="0"/>
          </a:p>
          <a:p>
            <a:pPr indent="0" marL="0">
              <a:buNone/>
            </a:pPr>
            <a:r>
              <a:rPr lang="en-US" sz="900" dirty="0">
                <a:solidFill>
                  <a:srgbClr val="FFFFFF"/>
                </a:solidFill>
                <a:latin typeface="Arial" pitchFamily="34" charset="0"/>
                <a:ea typeface="Arial" pitchFamily="34" charset="-122"/>
                <a:cs typeface="Arial" pitchFamily="34" charset="-120"/>
              </a:rPr>
              <a:t>idempotency gateway. See ADR-0042 §3.</a:t>
            </a:r>
            <a:endParaRPr lang="en-US" sz="900" dirty="0"/>
          </a:p>
        </p:txBody>
      </p:sp>
      <p:sp>
        <p:nvSpPr>
          <p:cNvPr id="30" name="Text 28"/>
          <p:cNvSpPr/>
          <p:nvPr/>
        </p:nvSpPr>
        <p:spPr>
          <a:xfrm>
            <a:off x="594360" y="3913632"/>
            <a:ext cx="3566160" cy="201168"/>
          </a:xfrm>
          <a:prstGeom prst="rect">
            <a:avLst/>
          </a:prstGeom>
          <a:noFill/>
          <a:ln/>
        </p:spPr>
        <p:txBody>
          <a:bodyPr wrap="square" lIns="0" tIns="0" rIns="0" bIns="0" rtlCol="0" anchor="ctr"/>
          <a:lstStyle/>
          <a:p>
            <a:pPr indent="0" marL="0">
              <a:buNone/>
            </a:pPr>
            <a:r>
              <a:rPr lang="en-US" sz="850" dirty="0">
                <a:solidFill>
                  <a:srgbClr val="22C55E"/>
                </a:solidFill>
                <a:latin typeface="Courier New" pitchFamily="34" charset="0"/>
                <a:ea typeface="Courier New" pitchFamily="34" charset="-122"/>
                <a:cs typeface="Courier New" pitchFamily="34" charset="-120"/>
              </a:rPr>
              <a:t>→ Replace with: idempotency_gateway.process_charge()</a:t>
            </a:r>
            <a:endParaRPr lang="en-US" sz="850" dirty="0"/>
          </a:p>
        </p:txBody>
      </p:sp>
      <p:sp>
        <p:nvSpPr>
          <p:cNvPr id="31" name="Text 29"/>
          <p:cNvSpPr/>
          <p:nvPr/>
        </p:nvSpPr>
        <p:spPr>
          <a:xfrm>
            <a:off x="594360" y="4133088"/>
            <a:ext cx="3566160" cy="201168"/>
          </a:xfrm>
          <a:prstGeom prst="rect">
            <a:avLst/>
          </a:prstGeom>
          <a:noFill/>
          <a:ln/>
        </p:spPr>
        <p:txBody>
          <a:bodyPr wrap="square" lIns="0" tIns="0" rIns="0" bIns="0" rtlCol="0" anchor="ctr"/>
          <a:lstStyle/>
          <a:p>
            <a:pPr indent="0" marL="0">
              <a:buNone/>
            </a:pPr>
            <a:r>
              <a:rPr lang="en-US" sz="750" dirty="0">
                <a:solidFill>
                  <a:srgbClr val="52525B"/>
                </a:solidFill>
                <a:latin typeface="Courier New" pitchFamily="34" charset="0"/>
                <a:ea typeface="Courier New" pitchFamily="34" charset="-122"/>
                <a:cs typeface="Courier New" pitchFamily="34" charset="-120"/>
              </a:rPr>
              <a:t>logged to watsonx.governance · trace_id: a3f9c-...</a:t>
            </a:r>
            <a:endParaRPr lang="en-US" sz="750" dirty="0"/>
          </a:p>
        </p:txBody>
      </p:sp>
      <p:sp>
        <p:nvSpPr>
          <p:cNvPr id="32" name="Shape 30"/>
          <p:cNvSpPr/>
          <p:nvPr/>
        </p:nvSpPr>
        <p:spPr>
          <a:xfrm>
            <a:off x="4754880" y="1051560"/>
            <a:ext cx="4114800" cy="548640"/>
          </a:xfrm>
          <a:prstGeom prst="roundRect">
            <a:avLst>
              <a:gd name="adj" fmla="val 10000"/>
            </a:avLst>
          </a:prstGeom>
          <a:solidFill>
            <a:srgbClr val="0A0A0A"/>
          </a:solidFill>
          <a:ln w="6350">
            <a:solidFill>
              <a:srgbClr val="52525B"/>
            </a:solidFill>
            <a:prstDash val="solid"/>
          </a:ln>
          <a:effectLst>
            <a:outerShdw sx="100000" sy="100000" kx="0" ky="0" algn="bl" rotWithShape="0" blurRad="101600" dist="38100" dir="2700000">
              <a:srgbClr val="000000">
                <a:alpha val="35000"/>
              </a:srgbClr>
            </a:outerShdw>
          </a:effectLst>
        </p:spPr>
      </p:sp>
      <p:sp>
        <p:nvSpPr>
          <p:cNvPr id="33" name="Text 31"/>
          <p:cNvSpPr/>
          <p:nvPr/>
        </p:nvSpPr>
        <p:spPr>
          <a:xfrm>
            <a:off x="4919472" y="1106424"/>
            <a:ext cx="3749040" cy="201168"/>
          </a:xfrm>
          <a:prstGeom prst="rect">
            <a:avLst/>
          </a:prstGeom>
          <a:noFill/>
          <a:ln/>
        </p:spPr>
        <p:txBody>
          <a:bodyPr wrap="square" lIns="0" tIns="0" rIns="0" bIns="0" rtlCol="0" anchor="ctr"/>
          <a:lstStyle/>
          <a:p>
            <a:pPr indent="0" marL="0">
              <a:buNone/>
            </a:pPr>
            <a:r>
              <a:rPr lang="en-US" sz="950" b="1" dirty="0">
                <a:solidFill>
                  <a:srgbClr val="FF007A"/>
                </a:solidFill>
                <a:latin typeface="Arial" pitchFamily="34" charset="0"/>
                <a:ea typeface="Arial" pitchFamily="34" charset="-122"/>
                <a:cs typeface="Arial" pitchFamily="34" charset="-120"/>
              </a:rPr>
              <a:t>Bob Findings Panel</a:t>
            </a:r>
            <a:endParaRPr lang="en-US" sz="950" dirty="0"/>
          </a:p>
        </p:txBody>
      </p:sp>
      <p:sp>
        <p:nvSpPr>
          <p:cNvPr id="34" name="Text 32"/>
          <p:cNvSpPr/>
          <p:nvPr/>
        </p:nvSpPr>
        <p:spPr>
          <a:xfrm>
            <a:off x="4919472" y="1325880"/>
            <a:ext cx="3749040" cy="237744"/>
          </a:xfrm>
          <a:prstGeom prst="rect">
            <a:avLst/>
          </a:prstGeom>
          <a:noFill/>
          <a:ln/>
        </p:spPr>
        <p:txBody>
          <a:bodyPr wrap="square" lIns="0" tIns="0" rIns="0" bIns="0" rtlCol="0" anchor="ctr"/>
          <a:lstStyle/>
          <a:p>
            <a:pPr indent="0" marL="0">
              <a:buNone/>
            </a:pPr>
            <a:r>
              <a:rPr lang="en-US" sz="800" dirty="0">
                <a:solidFill>
                  <a:srgbClr val="A1A1AA"/>
                </a:solidFill>
                <a:latin typeface="Arial" pitchFamily="34" charset="0"/>
                <a:ea typeface="Arial" pitchFamily="34" charset="-122"/>
                <a:cs typeface="Arial" pitchFamily="34" charset="-120"/>
              </a:rPr>
              <a:t>Sentinel output writes natively to the same panel Bob uses for its own findings. No new UI.</a:t>
            </a:r>
            <a:endParaRPr lang="en-US" sz="800" dirty="0"/>
          </a:p>
        </p:txBody>
      </p:sp>
      <p:sp>
        <p:nvSpPr>
          <p:cNvPr id="35" name="Shape 33"/>
          <p:cNvSpPr/>
          <p:nvPr/>
        </p:nvSpPr>
        <p:spPr>
          <a:xfrm>
            <a:off x="4754880" y="1673352"/>
            <a:ext cx="4114800" cy="548640"/>
          </a:xfrm>
          <a:prstGeom prst="roundRect">
            <a:avLst>
              <a:gd name="adj" fmla="val 10000"/>
            </a:avLst>
          </a:prstGeom>
          <a:solidFill>
            <a:srgbClr val="0A0A0A"/>
          </a:solidFill>
          <a:ln w="6350">
            <a:solidFill>
              <a:srgbClr val="52525B"/>
            </a:solidFill>
            <a:prstDash val="solid"/>
          </a:ln>
          <a:effectLst>
            <a:outerShdw sx="100000" sy="100000" kx="0" ky="0" algn="bl" rotWithShape="0" blurRad="101600" dist="38100" dir="2700000">
              <a:srgbClr val="000000">
                <a:alpha val="35000"/>
              </a:srgbClr>
            </a:outerShdw>
          </a:effectLst>
        </p:spPr>
      </p:sp>
      <p:sp>
        <p:nvSpPr>
          <p:cNvPr id="36" name="Text 34"/>
          <p:cNvSpPr/>
          <p:nvPr/>
        </p:nvSpPr>
        <p:spPr>
          <a:xfrm>
            <a:off x="4919472" y="1728216"/>
            <a:ext cx="3749040" cy="201168"/>
          </a:xfrm>
          <a:prstGeom prst="rect">
            <a:avLst/>
          </a:prstGeom>
          <a:noFill/>
          <a:ln/>
        </p:spPr>
        <p:txBody>
          <a:bodyPr wrap="square" lIns="0" tIns="0" rIns="0" bIns="0" rtlCol="0" anchor="ctr"/>
          <a:lstStyle/>
          <a:p>
            <a:pPr indent="0" marL="0">
              <a:buNone/>
            </a:pPr>
            <a:r>
              <a:rPr lang="en-US" sz="950" b="1" dirty="0">
                <a:solidFill>
                  <a:srgbClr val="FF007A"/>
                </a:solidFill>
                <a:latin typeface="Arial" pitchFamily="34" charset="0"/>
                <a:ea typeface="Arial" pitchFamily="34" charset="-122"/>
                <a:cs typeface="Arial" pitchFamily="34" charset="-120"/>
              </a:rPr>
              <a:t>Bob Plan Mode</a:t>
            </a:r>
            <a:endParaRPr lang="en-US" sz="950" dirty="0"/>
          </a:p>
        </p:txBody>
      </p:sp>
      <p:sp>
        <p:nvSpPr>
          <p:cNvPr id="37" name="Text 35"/>
          <p:cNvSpPr/>
          <p:nvPr/>
        </p:nvSpPr>
        <p:spPr>
          <a:xfrm>
            <a:off x="4919472" y="1947672"/>
            <a:ext cx="3749040" cy="237744"/>
          </a:xfrm>
          <a:prstGeom prst="rect">
            <a:avLst/>
          </a:prstGeom>
          <a:noFill/>
          <a:ln/>
        </p:spPr>
        <p:txBody>
          <a:bodyPr wrap="square" lIns="0" tIns="0" rIns="0" bIns="0" rtlCol="0" anchor="ctr"/>
          <a:lstStyle/>
          <a:p>
            <a:pPr indent="0" marL="0">
              <a:buNone/>
            </a:pPr>
            <a:r>
              <a:rPr lang="en-US" sz="800" dirty="0">
                <a:solidFill>
                  <a:srgbClr val="A1A1AA"/>
                </a:solidFill>
                <a:latin typeface="Arial" pitchFamily="34" charset="0"/>
                <a:ea typeface="Arial" pitchFamily="34" charset="-122"/>
                <a:cs typeface="Arial" pitchFamily="34" charset="-120"/>
              </a:rPr>
              <a:t>ADR constraints injected into Bob's planning context before code generation begins.</a:t>
            </a:r>
            <a:endParaRPr lang="en-US" sz="800" dirty="0"/>
          </a:p>
        </p:txBody>
      </p:sp>
      <p:sp>
        <p:nvSpPr>
          <p:cNvPr id="38" name="Shape 36"/>
          <p:cNvSpPr/>
          <p:nvPr/>
        </p:nvSpPr>
        <p:spPr>
          <a:xfrm>
            <a:off x="4754880" y="2295144"/>
            <a:ext cx="4114800" cy="548640"/>
          </a:xfrm>
          <a:prstGeom prst="roundRect">
            <a:avLst>
              <a:gd name="adj" fmla="val 10000"/>
            </a:avLst>
          </a:prstGeom>
          <a:solidFill>
            <a:srgbClr val="0A0A0A"/>
          </a:solidFill>
          <a:ln w="6350">
            <a:solidFill>
              <a:srgbClr val="52525B"/>
            </a:solidFill>
            <a:prstDash val="solid"/>
          </a:ln>
          <a:effectLst>
            <a:outerShdw sx="100000" sy="100000" kx="0" ky="0" algn="bl" rotWithShape="0" blurRad="101600" dist="38100" dir="2700000">
              <a:srgbClr val="000000">
                <a:alpha val="35000"/>
              </a:srgbClr>
            </a:outerShdw>
          </a:effectLst>
        </p:spPr>
      </p:sp>
      <p:sp>
        <p:nvSpPr>
          <p:cNvPr id="39" name="Text 37"/>
          <p:cNvSpPr/>
          <p:nvPr/>
        </p:nvSpPr>
        <p:spPr>
          <a:xfrm>
            <a:off x="4919472" y="2350008"/>
            <a:ext cx="3749040" cy="201168"/>
          </a:xfrm>
          <a:prstGeom prst="rect">
            <a:avLst/>
          </a:prstGeom>
          <a:noFill/>
          <a:ln/>
        </p:spPr>
        <p:txBody>
          <a:bodyPr wrap="square" lIns="0" tIns="0" rIns="0" bIns="0" rtlCol="0" anchor="ctr"/>
          <a:lstStyle/>
          <a:p>
            <a:pPr indent="0" marL="0">
              <a:buNone/>
            </a:pPr>
            <a:r>
              <a:rPr lang="en-US" sz="950" b="1" dirty="0">
                <a:solidFill>
                  <a:srgbClr val="FF007A"/>
                </a:solidFill>
                <a:latin typeface="Arial" pitchFamily="34" charset="0"/>
                <a:ea typeface="Arial" pitchFamily="34" charset="-122"/>
                <a:cs typeface="Arial" pitchFamily="34" charset="-120"/>
              </a:rPr>
              <a:t>Bob Agent Mode + MCP</a:t>
            </a:r>
            <a:endParaRPr lang="en-US" sz="950" dirty="0"/>
          </a:p>
        </p:txBody>
      </p:sp>
      <p:sp>
        <p:nvSpPr>
          <p:cNvPr id="40" name="Text 38"/>
          <p:cNvSpPr/>
          <p:nvPr/>
        </p:nvSpPr>
        <p:spPr>
          <a:xfrm>
            <a:off x="4919472" y="2569464"/>
            <a:ext cx="3749040" cy="237744"/>
          </a:xfrm>
          <a:prstGeom prst="rect">
            <a:avLst/>
          </a:prstGeom>
          <a:noFill/>
          <a:ln/>
        </p:spPr>
        <p:txBody>
          <a:bodyPr wrap="square" lIns="0" tIns="0" rIns="0" bIns="0" rtlCol="0" anchor="ctr"/>
          <a:lstStyle/>
          <a:p>
            <a:pPr indent="0" marL="0">
              <a:buNone/>
            </a:pPr>
            <a:r>
              <a:rPr lang="en-US" sz="800" dirty="0">
                <a:solidFill>
                  <a:srgbClr val="A1A1AA"/>
                </a:solidFill>
                <a:latin typeface="Arial" pitchFamily="34" charset="0"/>
                <a:ea typeface="Arial" pitchFamily="34" charset="-122"/>
                <a:cs typeface="Arial" pitchFamily="34" charset="-120"/>
              </a:rPr>
              <a:t>Sentinel ships as an MCP server. Bob calls check_architecture_conformance(diff) natively.</a:t>
            </a:r>
            <a:endParaRPr lang="en-US" sz="800" dirty="0"/>
          </a:p>
        </p:txBody>
      </p:sp>
      <p:sp>
        <p:nvSpPr>
          <p:cNvPr id="41" name="Shape 39"/>
          <p:cNvSpPr/>
          <p:nvPr/>
        </p:nvSpPr>
        <p:spPr>
          <a:xfrm>
            <a:off x="4754880" y="2916936"/>
            <a:ext cx="4114800" cy="548640"/>
          </a:xfrm>
          <a:prstGeom prst="roundRect">
            <a:avLst>
              <a:gd name="adj" fmla="val 10000"/>
            </a:avLst>
          </a:prstGeom>
          <a:solidFill>
            <a:srgbClr val="0A0A0A"/>
          </a:solidFill>
          <a:ln w="6350">
            <a:solidFill>
              <a:srgbClr val="52525B"/>
            </a:solidFill>
            <a:prstDash val="solid"/>
          </a:ln>
          <a:effectLst>
            <a:outerShdw sx="100000" sy="100000" kx="0" ky="0" algn="bl" rotWithShape="0" blurRad="101600" dist="38100" dir="2700000">
              <a:srgbClr val="000000">
                <a:alpha val="35000"/>
              </a:srgbClr>
            </a:outerShdw>
          </a:effectLst>
        </p:spPr>
      </p:sp>
      <p:sp>
        <p:nvSpPr>
          <p:cNvPr id="42" name="Text 40"/>
          <p:cNvSpPr/>
          <p:nvPr/>
        </p:nvSpPr>
        <p:spPr>
          <a:xfrm>
            <a:off x="4919472" y="2971800"/>
            <a:ext cx="3749040" cy="201168"/>
          </a:xfrm>
          <a:prstGeom prst="rect">
            <a:avLst/>
          </a:prstGeom>
          <a:noFill/>
          <a:ln/>
        </p:spPr>
        <p:txBody>
          <a:bodyPr wrap="square" lIns="0" tIns="0" rIns="0" bIns="0" rtlCol="0" anchor="ctr"/>
          <a:lstStyle/>
          <a:p>
            <a:pPr indent="0" marL="0">
              <a:buNone/>
            </a:pPr>
            <a:r>
              <a:rPr lang="en-US" sz="950" b="1" dirty="0">
                <a:solidFill>
                  <a:srgbClr val="FF007A"/>
                </a:solidFill>
                <a:latin typeface="Arial" pitchFamily="34" charset="0"/>
                <a:ea typeface="Arial" pitchFamily="34" charset="-122"/>
                <a:cs typeface="Arial" pitchFamily="34" charset="-120"/>
              </a:rPr>
              <a:t>Checkpoints</a:t>
            </a:r>
            <a:endParaRPr lang="en-US" sz="950" dirty="0"/>
          </a:p>
        </p:txBody>
      </p:sp>
      <p:sp>
        <p:nvSpPr>
          <p:cNvPr id="43" name="Text 41"/>
          <p:cNvSpPr/>
          <p:nvPr/>
        </p:nvSpPr>
        <p:spPr>
          <a:xfrm>
            <a:off x="4919472" y="3191256"/>
            <a:ext cx="3749040" cy="237744"/>
          </a:xfrm>
          <a:prstGeom prst="rect">
            <a:avLst/>
          </a:prstGeom>
          <a:noFill/>
          <a:ln/>
        </p:spPr>
        <p:txBody>
          <a:bodyPr wrap="square" lIns="0" tIns="0" rIns="0" bIns="0" rtlCol="0" anchor="ctr"/>
          <a:lstStyle/>
          <a:p>
            <a:pPr indent="0" marL="0">
              <a:buNone/>
            </a:pPr>
            <a:r>
              <a:rPr lang="en-US" sz="800" dirty="0">
                <a:solidFill>
                  <a:srgbClr val="A1A1AA"/>
                </a:solidFill>
                <a:latin typeface="Arial" pitchFamily="34" charset="0"/>
                <a:ea typeface="Arial" pitchFamily="34" charset="-122"/>
                <a:cs typeface="Arial" pitchFamily="34" charset="-120"/>
              </a:rPr>
              <a:t>If Critic flags a false positive, full edit history is checkpointed and recoverable.</a:t>
            </a:r>
            <a:endParaRPr lang="en-US" sz="800" dirty="0"/>
          </a:p>
        </p:txBody>
      </p:sp>
      <p:sp>
        <p:nvSpPr>
          <p:cNvPr id="44" name="Shape 42"/>
          <p:cNvSpPr/>
          <p:nvPr/>
        </p:nvSpPr>
        <p:spPr>
          <a:xfrm>
            <a:off x="4754880" y="3538728"/>
            <a:ext cx="4114800" cy="548640"/>
          </a:xfrm>
          <a:prstGeom prst="roundRect">
            <a:avLst>
              <a:gd name="adj" fmla="val 10000"/>
            </a:avLst>
          </a:prstGeom>
          <a:solidFill>
            <a:srgbClr val="0A0A0A"/>
          </a:solidFill>
          <a:ln w="6350">
            <a:solidFill>
              <a:srgbClr val="52525B"/>
            </a:solidFill>
            <a:prstDash val="solid"/>
          </a:ln>
          <a:effectLst>
            <a:outerShdw sx="100000" sy="100000" kx="0" ky="0" algn="bl" rotWithShape="0" blurRad="101600" dist="38100" dir="2700000">
              <a:srgbClr val="000000">
                <a:alpha val="35000"/>
              </a:srgbClr>
            </a:outerShdw>
          </a:effectLst>
        </p:spPr>
      </p:sp>
      <p:sp>
        <p:nvSpPr>
          <p:cNvPr id="45" name="Text 43"/>
          <p:cNvSpPr/>
          <p:nvPr/>
        </p:nvSpPr>
        <p:spPr>
          <a:xfrm>
            <a:off x="4919472" y="3593592"/>
            <a:ext cx="3749040" cy="201168"/>
          </a:xfrm>
          <a:prstGeom prst="rect">
            <a:avLst/>
          </a:prstGeom>
          <a:noFill/>
          <a:ln/>
        </p:spPr>
        <p:txBody>
          <a:bodyPr wrap="square" lIns="0" tIns="0" rIns="0" bIns="0" rtlCol="0" anchor="ctr"/>
          <a:lstStyle/>
          <a:p>
            <a:pPr indent="0" marL="0">
              <a:buNone/>
            </a:pPr>
            <a:r>
              <a:rPr lang="en-US" sz="950" b="1" dirty="0">
                <a:solidFill>
                  <a:srgbClr val="FF007A"/>
                </a:solidFill>
                <a:latin typeface="Arial" pitchFamily="34" charset="0"/>
                <a:ea typeface="Arial" pitchFamily="34" charset="-122"/>
                <a:cs typeface="Arial" pitchFamily="34" charset="-120"/>
              </a:rPr>
              <a:t>Literate Coding Mode</a:t>
            </a:r>
            <a:endParaRPr lang="en-US" sz="950" dirty="0"/>
          </a:p>
        </p:txBody>
      </p:sp>
      <p:sp>
        <p:nvSpPr>
          <p:cNvPr id="46" name="Text 44"/>
          <p:cNvSpPr/>
          <p:nvPr/>
        </p:nvSpPr>
        <p:spPr>
          <a:xfrm>
            <a:off x="4919472" y="3813048"/>
            <a:ext cx="3749040" cy="237744"/>
          </a:xfrm>
          <a:prstGeom prst="rect">
            <a:avLst/>
          </a:prstGeom>
          <a:noFill/>
          <a:ln/>
        </p:spPr>
        <p:txBody>
          <a:bodyPr wrap="square" lIns="0" tIns="0" rIns="0" bIns="0" rtlCol="0" anchor="ctr"/>
          <a:lstStyle/>
          <a:p>
            <a:pPr indent="0" marL="0">
              <a:buNone/>
            </a:pPr>
            <a:r>
              <a:rPr lang="en-US" sz="800" dirty="0">
                <a:solidFill>
                  <a:srgbClr val="A1A1AA"/>
                </a:solidFill>
                <a:latin typeface="Arial" pitchFamily="34" charset="0"/>
                <a:ea typeface="Arial" pitchFamily="34" charset="-122"/>
                <a:cs typeface="Arial" pitchFamily="34" charset="-120"/>
              </a:rPr>
              <a:t>Suggested fixes presented as reviewable diffs. Never silently auto-applied.</a:t>
            </a:r>
            <a:endParaRPr lang="en-US" sz="800" dirty="0"/>
          </a:p>
        </p:txBody>
      </p:sp>
      <p:sp>
        <p:nvSpPr>
          <p:cNvPr id="47" name="Shape 45"/>
          <p:cNvSpPr/>
          <p:nvPr/>
        </p:nvSpPr>
        <p:spPr>
          <a:xfrm>
            <a:off x="4754880" y="4160520"/>
            <a:ext cx="4114800" cy="548640"/>
          </a:xfrm>
          <a:prstGeom prst="roundRect">
            <a:avLst>
              <a:gd name="adj" fmla="val 10000"/>
            </a:avLst>
          </a:prstGeom>
          <a:solidFill>
            <a:srgbClr val="0A0A0A"/>
          </a:solidFill>
          <a:ln w="6350">
            <a:solidFill>
              <a:srgbClr val="52525B"/>
            </a:solidFill>
            <a:prstDash val="solid"/>
          </a:ln>
          <a:effectLst>
            <a:outerShdw sx="100000" sy="100000" kx="0" ky="0" algn="bl" rotWithShape="0" blurRad="101600" dist="38100" dir="2700000">
              <a:srgbClr val="000000">
                <a:alpha val="35000"/>
              </a:srgbClr>
            </a:outerShdw>
          </a:effectLst>
        </p:spPr>
      </p:sp>
      <p:sp>
        <p:nvSpPr>
          <p:cNvPr id="48" name="Text 46"/>
          <p:cNvSpPr/>
          <p:nvPr/>
        </p:nvSpPr>
        <p:spPr>
          <a:xfrm>
            <a:off x="4919472" y="4215384"/>
            <a:ext cx="3749040" cy="201168"/>
          </a:xfrm>
          <a:prstGeom prst="rect">
            <a:avLst/>
          </a:prstGeom>
          <a:noFill/>
          <a:ln/>
        </p:spPr>
        <p:txBody>
          <a:bodyPr wrap="square" lIns="0" tIns="0" rIns="0" bIns="0" rtlCol="0" anchor="ctr"/>
          <a:lstStyle/>
          <a:p>
            <a:pPr indent="0" marL="0">
              <a:buNone/>
            </a:pPr>
            <a:r>
              <a:rPr lang="en-US" sz="950" b="1" dirty="0">
                <a:solidFill>
                  <a:srgbClr val="FF007A"/>
                </a:solidFill>
                <a:latin typeface="Arial" pitchFamily="34" charset="0"/>
                <a:ea typeface="Arial" pitchFamily="34" charset="-122"/>
                <a:cs typeface="Arial" pitchFamily="34" charset="-120"/>
              </a:rPr>
              <a:t>Bobalytics Integration</a:t>
            </a:r>
            <a:endParaRPr lang="en-US" sz="950" dirty="0"/>
          </a:p>
        </p:txBody>
      </p:sp>
      <p:sp>
        <p:nvSpPr>
          <p:cNvPr id="49" name="Text 47"/>
          <p:cNvSpPr/>
          <p:nvPr/>
        </p:nvSpPr>
        <p:spPr>
          <a:xfrm>
            <a:off x="4919472" y="4434840"/>
            <a:ext cx="3749040" cy="237744"/>
          </a:xfrm>
          <a:prstGeom prst="rect">
            <a:avLst/>
          </a:prstGeom>
          <a:noFill/>
          <a:ln/>
        </p:spPr>
        <p:txBody>
          <a:bodyPr wrap="square" lIns="0" tIns="0" rIns="0" bIns="0" rtlCol="0" anchor="ctr"/>
          <a:lstStyle/>
          <a:p>
            <a:pPr indent="0" marL="0">
              <a:buNone/>
            </a:pPr>
            <a:r>
              <a:rPr lang="en-US" sz="800" dirty="0">
                <a:solidFill>
                  <a:srgbClr val="A1A1AA"/>
                </a:solidFill>
                <a:latin typeface="Arial" pitchFamily="34" charset="0"/>
                <a:ea typeface="Arial" pitchFamily="34" charset="-122"/>
                <a:cs typeface="Arial" pitchFamily="34" charset="-120"/>
              </a:rPr>
              <a:t>Violation events feed Bobalytics telemetry — one dashboard for productivity + compliance.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5C00"/>
          </a:solidFill>
          <a:ln w="12700">
            <a:solidFill>
              <a:srgbClr val="FF5C00"/>
            </a:solidFill>
            <a:prstDash val="solid"/>
          </a:ln>
        </p:spPr>
      </p:sp>
      <p:sp>
        <p:nvSpPr>
          <p:cNvPr id="3" name="Text 1"/>
          <p:cNvSpPr/>
          <p:nvPr/>
        </p:nvSpPr>
        <p:spPr>
          <a:xfrm>
            <a:off x="457200" y="182880"/>
            <a:ext cx="8229600" cy="274320"/>
          </a:xfrm>
          <a:prstGeom prst="rect">
            <a:avLst/>
          </a:prstGeom>
          <a:noFill/>
          <a:ln/>
        </p:spPr>
        <p:txBody>
          <a:bodyPr wrap="square" lIns="0" tIns="0" rIns="0" bIns="0" rtlCol="0" anchor="ctr"/>
          <a:lstStyle/>
          <a:p>
            <a:pPr indent="0" marL="0">
              <a:buNone/>
            </a:pPr>
            <a:r>
              <a:rPr lang="en-US" sz="800" b="1" spc="200" kern="0" dirty="0">
                <a:solidFill>
                  <a:srgbClr val="FF5C00"/>
                </a:solidFill>
                <a:latin typeface="Arial" pitchFamily="34" charset="0"/>
                <a:ea typeface="Arial" pitchFamily="34" charset="-122"/>
                <a:cs typeface="Arial" pitchFamily="34" charset="-120"/>
              </a:rPr>
              <a:t>IBM GRANITE INTEGRATION</a:t>
            </a:r>
            <a:endParaRPr lang="en-US" sz="800" dirty="0"/>
          </a:p>
        </p:txBody>
      </p:sp>
      <p:sp>
        <p:nvSpPr>
          <p:cNvPr id="4" name="Text 2"/>
          <p:cNvSpPr/>
          <p:nvPr/>
        </p:nvSpPr>
        <p:spPr>
          <a:xfrm>
            <a:off x="457200" y="457200"/>
            <a:ext cx="8229600" cy="457200"/>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Optimized Prompting for Granite · Hallucination Defense</a:t>
            </a:r>
            <a:endParaRPr lang="en-US" sz="2100" dirty="0"/>
          </a:p>
        </p:txBody>
      </p:sp>
      <p:sp>
        <p:nvSpPr>
          <p:cNvPr id="5" name="Shape 3"/>
          <p:cNvSpPr/>
          <p:nvPr/>
        </p:nvSpPr>
        <p:spPr>
          <a:xfrm>
            <a:off x="457200" y="914400"/>
            <a:ext cx="8229600" cy="0"/>
          </a:xfrm>
          <a:prstGeom prst="line">
            <a:avLst/>
          </a:prstGeom>
          <a:noFill/>
          <a:ln w="6350">
            <a:solidFill>
              <a:srgbClr val="52525B"/>
            </a:solidFill>
            <a:prstDash val="solid"/>
          </a:ln>
        </p:spPr>
      </p:sp>
      <p:sp>
        <p:nvSpPr>
          <p:cNvPr id="6" name="Shape 4"/>
          <p:cNvSpPr/>
          <p:nvPr/>
        </p:nvSpPr>
        <p:spPr>
          <a:xfrm>
            <a:off x="365760" y="1005840"/>
            <a:ext cx="5029200" cy="2926080"/>
          </a:xfrm>
          <a:prstGeom prst="roundRect">
            <a:avLst>
              <a:gd name="adj" fmla="val 2188"/>
            </a:avLst>
          </a:prstGeom>
          <a:solidFill>
            <a:srgbClr val="0D0D00"/>
          </a:solidFill>
          <a:ln w="10160">
            <a:solidFill>
              <a:srgbClr val="FF5C00"/>
            </a:solidFill>
            <a:prstDash val="solid"/>
          </a:ln>
          <a:effectLst>
            <a:outerShdw sx="100000" sy="100000" kx="0" ky="0" algn="bl" rotWithShape="0" blurRad="101600" dist="38100" dir="2700000">
              <a:srgbClr val="000000">
                <a:alpha val="35000"/>
              </a:srgbClr>
            </a:outerShdw>
          </a:effectLst>
        </p:spPr>
      </p:sp>
      <p:sp>
        <p:nvSpPr>
          <p:cNvPr id="7" name="Text 5"/>
          <p:cNvSpPr/>
          <p:nvPr/>
        </p:nvSpPr>
        <p:spPr>
          <a:xfrm>
            <a:off x="502920" y="1078992"/>
            <a:ext cx="4754880" cy="228600"/>
          </a:xfrm>
          <a:prstGeom prst="rect">
            <a:avLst/>
          </a:prstGeom>
          <a:noFill/>
          <a:ln/>
        </p:spPr>
        <p:txBody>
          <a:bodyPr wrap="square" lIns="0" tIns="0" rIns="0" bIns="0" rtlCol="0" anchor="ctr"/>
          <a:lstStyle/>
          <a:p>
            <a:pPr indent="0" marL="0">
              <a:buNone/>
            </a:pPr>
            <a:r>
              <a:rPr lang="en-US" sz="750" b="1" spc="100" kern="0" dirty="0">
                <a:solidFill>
                  <a:srgbClr val="FF5C00"/>
                </a:solidFill>
                <a:latin typeface="Courier New" pitchFamily="34" charset="0"/>
                <a:ea typeface="Courier New" pitchFamily="34" charset="-122"/>
                <a:cs typeface="Courier New" pitchFamily="34" charset="-120"/>
              </a:rPr>
              <a:t>GRANITE CLASSIFIER SYSTEM PROMPT</a:t>
            </a:r>
            <a:endParaRPr lang="en-US" sz="750" dirty="0"/>
          </a:p>
        </p:txBody>
      </p:sp>
      <p:sp>
        <p:nvSpPr>
          <p:cNvPr id="8" name="Text 6"/>
          <p:cNvSpPr/>
          <p:nvPr/>
        </p:nvSpPr>
        <p:spPr>
          <a:xfrm>
            <a:off x="502920" y="1371600"/>
            <a:ext cx="4754880" cy="201168"/>
          </a:xfrm>
          <a:prstGeom prst="rect">
            <a:avLst/>
          </a:prstGeom>
          <a:noFill/>
          <a:ln/>
        </p:spPr>
        <p:txBody>
          <a:bodyPr wrap="square" lIns="0" tIns="0" rIns="0" bIns="0"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You are a policy conformance classifier.</a:t>
            </a:r>
            <a:endParaRPr lang="en-US" sz="850" dirty="0"/>
          </a:p>
        </p:txBody>
      </p:sp>
      <p:sp>
        <p:nvSpPr>
          <p:cNvPr id="9" name="Text 7"/>
          <p:cNvSpPr/>
          <p:nvPr/>
        </p:nvSpPr>
        <p:spPr>
          <a:xfrm>
            <a:off x="502920" y="1572768"/>
            <a:ext cx="4754880" cy="201168"/>
          </a:xfrm>
          <a:prstGeom prst="rect">
            <a:avLst/>
          </a:prstGeom>
          <a:noFill/>
          <a:ln/>
        </p:spPr>
        <p:txBody>
          <a:bodyPr wrap="square" lIns="0" tIns="0" rIns="0" bIns="0"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Respond with ONLY a JSON object:</a:t>
            </a:r>
            <a:endParaRPr lang="en-US" sz="850" dirty="0"/>
          </a:p>
        </p:txBody>
      </p:sp>
      <p:sp>
        <p:nvSpPr>
          <p:cNvPr id="10" name="Text 8"/>
          <p:cNvSpPr/>
          <p:nvPr/>
        </p:nvSpPr>
        <p:spPr>
          <a:xfrm>
            <a:off x="502920" y="1773936"/>
            <a:ext cx="4754880" cy="201168"/>
          </a:xfrm>
          <a:prstGeom prst="rect">
            <a:avLst/>
          </a:prstGeom>
          <a:noFill/>
          <a:ln/>
        </p:spPr>
        <p:txBody>
          <a:bodyPr wrap="square" lIns="0" tIns="0" rIns="0" bIns="0" rtlCol="0" anchor="ctr"/>
          <a:lstStyle/>
          <a:p>
            <a:pPr indent="0" marL="0">
              <a:buNone/>
            </a:pPr>
            <a:r>
              <a:rPr lang="en-US" sz="850" dirty="0">
                <a:solidFill>
                  <a:srgbClr val="FF5C00"/>
                </a:solidFill>
                <a:latin typeface="Courier New" pitchFamily="34" charset="0"/>
                <a:ea typeface="Courier New" pitchFamily="34" charset="-122"/>
                <a:cs typeface="Courier New" pitchFamily="34" charset="-120"/>
              </a:rPr>
              <a:t>{</a:t>
            </a:r>
            <a:endParaRPr lang="en-US" sz="850" dirty="0"/>
          </a:p>
        </p:txBody>
      </p:sp>
      <p:sp>
        <p:nvSpPr>
          <p:cNvPr id="11" name="Text 9"/>
          <p:cNvSpPr/>
          <p:nvPr/>
        </p:nvSpPr>
        <p:spPr>
          <a:xfrm>
            <a:off x="502920" y="1975104"/>
            <a:ext cx="4754880" cy="201168"/>
          </a:xfrm>
          <a:prstGeom prst="rect">
            <a:avLst/>
          </a:prstGeom>
          <a:noFill/>
          <a:ln/>
        </p:spPr>
        <p:txBody>
          <a:bodyPr wrap="square" lIns="0" tIns="0" rIns="0" bIns="0"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  "violates_policy": &lt;bool&gt;,</a:t>
            </a:r>
            <a:endParaRPr lang="en-US" sz="850" dirty="0"/>
          </a:p>
        </p:txBody>
      </p:sp>
      <p:sp>
        <p:nvSpPr>
          <p:cNvPr id="12" name="Text 10"/>
          <p:cNvSpPr/>
          <p:nvPr/>
        </p:nvSpPr>
        <p:spPr>
          <a:xfrm>
            <a:off x="502920" y="2176272"/>
            <a:ext cx="4754880" cy="201168"/>
          </a:xfrm>
          <a:prstGeom prst="rect">
            <a:avLst/>
          </a:prstGeom>
          <a:noFill/>
          <a:ln/>
        </p:spPr>
        <p:txBody>
          <a:bodyPr wrap="square" lIns="0" tIns="0" rIns="0" bIns="0"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  "cited_chunk_ids": ["&lt;id&gt;", ...],</a:t>
            </a:r>
            <a:endParaRPr lang="en-US" sz="850" dirty="0"/>
          </a:p>
        </p:txBody>
      </p:sp>
      <p:sp>
        <p:nvSpPr>
          <p:cNvPr id="13" name="Text 11"/>
          <p:cNvSpPr/>
          <p:nvPr/>
        </p:nvSpPr>
        <p:spPr>
          <a:xfrm>
            <a:off x="502920" y="2377440"/>
            <a:ext cx="4754880" cy="201168"/>
          </a:xfrm>
          <a:prstGeom prst="rect">
            <a:avLst/>
          </a:prstGeom>
          <a:noFill/>
          <a:ln/>
        </p:spPr>
        <p:txBody>
          <a:bodyPr wrap="square" lIns="0" tIns="0" rIns="0" bIns="0"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  "confidence": &lt;float 0-1&gt;,</a:t>
            </a:r>
            <a:endParaRPr lang="en-US" sz="850" dirty="0"/>
          </a:p>
        </p:txBody>
      </p:sp>
      <p:sp>
        <p:nvSpPr>
          <p:cNvPr id="14" name="Text 12"/>
          <p:cNvSpPr/>
          <p:nvPr/>
        </p:nvSpPr>
        <p:spPr>
          <a:xfrm>
            <a:off x="502920" y="2578608"/>
            <a:ext cx="4754880" cy="201168"/>
          </a:xfrm>
          <a:prstGeom prst="rect">
            <a:avLst/>
          </a:prstGeom>
          <a:noFill/>
          <a:ln/>
        </p:spPr>
        <p:txBody>
          <a:bodyPr wrap="square" lIns="0" tIns="0" rIns="0" bIns="0"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  "rationale": "&lt;cite only given chunks&gt;"</a:t>
            </a:r>
            <a:endParaRPr lang="en-US" sz="850" dirty="0"/>
          </a:p>
        </p:txBody>
      </p:sp>
      <p:sp>
        <p:nvSpPr>
          <p:cNvPr id="15" name="Text 13"/>
          <p:cNvSpPr/>
          <p:nvPr/>
        </p:nvSpPr>
        <p:spPr>
          <a:xfrm>
            <a:off x="502920" y="2779776"/>
            <a:ext cx="4754880" cy="201168"/>
          </a:xfrm>
          <a:prstGeom prst="rect">
            <a:avLst/>
          </a:prstGeom>
          <a:noFill/>
          <a:ln/>
        </p:spPr>
        <p:txBody>
          <a:bodyPr wrap="square" lIns="0" tIns="0" rIns="0" bIns="0" rtlCol="0" anchor="ctr"/>
          <a:lstStyle/>
          <a:p>
            <a:pPr indent="0" marL="0">
              <a:buNone/>
            </a:pPr>
            <a:r>
              <a:rPr lang="en-US" sz="850" dirty="0">
                <a:solidFill>
                  <a:srgbClr val="FF5C00"/>
                </a:solidFill>
                <a:latin typeface="Courier New" pitchFamily="34" charset="0"/>
                <a:ea typeface="Courier New" pitchFamily="34" charset="-122"/>
                <a:cs typeface="Courier New" pitchFamily="34" charset="-120"/>
              </a:rPr>
              <a:t>}</a:t>
            </a:r>
            <a:endParaRPr lang="en-US" sz="850" dirty="0"/>
          </a:p>
        </p:txBody>
      </p:sp>
      <p:sp>
        <p:nvSpPr>
          <p:cNvPr id="16" name="Text 14"/>
          <p:cNvSpPr/>
          <p:nvPr/>
        </p:nvSpPr>
        <p:spPr>
          <a:xfrm>
            <a:off x="502920" y="2980944"/>
            <a:ext cx="4754880" cy="201168"/>
          </a:xfrm>
          <a:prstGeom prst="rect">
            <a:avLst/>
          </a:prstGeom>
          <a:noFill/>
          <a:ln/>
        </p:spPr>
        <p:txBody>
          <a:bodyPr wrap="square" lIns="0" tIns="0" rIns="0" bIns="0" rtlCol="0" anchor="ctr"/>
          <a:lstStyle/>
          <a:p>
            <a:pPr indent="0" marL="0">
              <a:buNone/>
            </a:pPr>
            <a:endParaRPr lang="en-US" sz="850" dirty="0"/>
          </a:p>
        </p:txBody>
      </p:sp>
      <p:sp>
        <p:nvSpPr>
          <p:cNvPr id="17" name="Text 15"/>
          <p:cNvSpPr/>
          <p:nvPr/>
        </p:nvSpPr>
        <p:spPr>
          <a:xfrm>
            <a:off x="502920" y="3182112"/>
            <a:ext cx="4754880" cy="201168"/>
          </a:xfrm>
          <a:prstGeom prst="rect">
            <a:avLst/>
          </a:prstGeom>
          <a:noFill/>
          <a:ln/>
        </p:spPr>
        <p:txBody>
          <a:bodyPr wrap="square" lIns="0" tIns="0" rIns="0" bIns="0"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Rules:</a:t>
            </a:r>
            <a:endParaRPr lang="en-US" sz="850" dirty="0"/>
          </a:p>
        </p:txBody>
      </p:sp>
      <p:sp>
        <p:nvSpPr>
          <p:cNvPr id="18" name="Text 16"/>
          <p:cNvSpPr/>
          <p:nvPr/>
        </p:nvSpPr>
        <p:spPr>
          <a:xfrm>
            <a:off x="502920" y="3383280"/>
            <a:ext cx="4754880" cy="201168"/>
          </a:xfrm>
          <a:prstGeom prst="rect">
            <a:avLst/>
          </a:prstGeom>
          <a:noFill/>
          <a:ln/>
        </p:spPr>
        <p:txBody>
          <a:bodyPr wrap="square" lIns="0" tIns="0" rIns="0" bIns="0" rtlCol="0" anchor="ctr"/>
          <a:lstStyle/>
          <a:p>
            <a:pPr indent="0" marL="0">
              <a:buNone/>
            </a:pPr>
            <a:r>
              <a:rPr lang="en-US" sz="850" dirty="0">
                <a:solidFill>
                  <a:srgbClr val="E5FF00"/>
                </a:solidFill>
                <a:latin typeface="Courier New" pitchFamily="34" charset="0"/>
                <a:ea typeface="Courier New" pitchFamily="34" charset="-122"/>
                <a:cs typeface="Courier New" pitchFamily="34" charset="-120"/>
              </a:rPr>
              <a:t>- NEVER cite a chunk_id not in input.</a:t>
            </a:r>
            <a:endParaRPr lang="en-US" sz="850" dirty="0"/>
          </a:p>
        </p:txBody>
      </p:sp>
      <p:sp>
        <p:nvSpPr>
          <p:cNvPr id="19" name="Text 17"/>
          <p:cNvSpPr/>
          <p:nvPr/>
        </p:nvSpPr>
        <p:spPr>
          <a:xfrm>
            <a:off x="502920" y="3584448"/>
            <a:ext cx="4754880" cy="201168"/>
          </a:xfrm>
          <a:prstGeom prst="rect">
            <a:avLst/>
          </a:prstGeom>
          <a:noFill/>
          <a:ln/>
        </p:spPr>
        <p:txBody>
          <a:bodyPr wrap="square" lIns="0" tIns="0" rIns="0" bIns="0" rtlCol="0" anchor="ctr"/>
          <a:lstStyle/>
          <a:p>
            <a:pPr indent="0" marL="0">
              <a:buNone/>
            </a:pPr>
            <a:r>
              <a:rPr lang="en-US" sz="850" dirty="0">
                <a:solidFill>
                  <a:srgbClr val="E5FF00"/>
                </a:solidFill>
                <a:latin typeface="Courier New" pitchFamily="34" charset="0"/>
                <a:ea typeface="Courier New" pitchFamily="34" charset="-122"/>
                <a:cs typeface="Courier New" pitchFamily="34" charset="-120"/>
              </a:rPr>
              <a:t>- If uncertain, lower confidence score.</a:t>
            </a:r>
            <a:endParaRPr lang="en-US" sz="850" dirty="0"/>
          </a:p>
        </p:txBody>
      </p:sp>
      <p:sp>
        <p:nvSpPr>
          <p:cNvPr id="20" name="Text 18"/>
          <p:cNvSpPr/>
          <p:nvPr/>
        </p:nvSpPr>
        <p:spPr>
          <a:xfrm>
            <a:off x="502920" y="3785616"/>
            <a:ext cx="4754880" cy="201168"/>
          </a:xfrm>
          <a:prstGeom prst="rect">
            <a:avLst/>
          </a:prstGeom>
          <a:noFill/>
          <a:ln/>
        </p:spPr>
        <p:txBody>
          <a:bodyPr wrap="square" lIns="0" tIns="0" rIns="0" bIns="0" rtlCol="0" anchor="ctr"/>
          <a:lstStyle/>
          <a:p>
            <a:pPr indent="0" marL="0">
              <a:buNone/>
            </a:pPr>
            <a:r>
              <a:rPr lang="en-US" sz="850" dirty="0">
                <a:solidFill>
                  <a:srgbClr val="E5FF00"/>
                </a:solidFill>
                <a:latin typeface="Courier New" pitchFamily="34" charset="0"/>
                <a:ea typeface="Courier New" pitchFamily="34" charset="-122"/>
                <a:cs typeface="Courier New" pitchFamily="34" charset="-120"/>
              </a:rPr>
              <a:t>- No claim without a source citation.</a:t>
            </a:r>
            <a:endParaRPr lang="en-US" sz="850" dirty="0"/>
          </a:p>
        </p:txBody>
      </p:sp>
      <p:sp>
        <p:nvSpPr>
          <p:cNvPr id="21" name="Shape 19"/>
          <p:cNvSpPr/>
          <p:nvPr/>
        </p:nvSpPr>
        <p:spPr>
          <a:xfrm>
            <a:off x="5577840" y="1005840"/>
            <a:ext cx="3291840" cy="658368"/>
          </a:xfrm>
          <a:prstGeom prst="roundRect">
            <a:avLst>
              <a:gd name="adj" fmla="val 8333"/>
            </a:avLst>
          </a:prstGeom>
          <a:solidFill>
            <a:srgbClr val="0A0A0A"/>
          </a:solidFill>
          <a:ln w="10160">
            <a:solidFill>
              <a:srgbClr val="FF5C00"/>
            </a:solidFill>
            <a:prstDash val="solid"/>
          </a:ln>
          <a:effectLst>
            <a:outerShdw sx="100000" sy="100000" kx="0" ky="0" algn="bl" rotWithShape="0" blurRad="101600" dist="38100" dir="2700000">
              <a:srgbClr val="000000">
                <a:alpha val="35000"/>
              </a:srgbClr>
            </a:outerShdw>
          </a:effectLst>
        </p:spPr>
      </p:sp>
      <p:sp>
        <p:nvSpPr>
          <p:cNvPr id="22" name="Text 20"/>
          <p:cNvSpPr/>
          <p:nvPr/>
        </p:nvSpPr>
        <p:spPr>
          <a:xfrm>
            <a:off x="5715000" y="1078992"/>
            <a:ext cx="3017520" cy="219456"/>
          </a:xfrm>
          <a:prstGeom prst="rect">
            <a:avLst/>
          </a:prstGeom>
          <a:noFill/>
          <a:ln/>
        </p:spPr>
        <p:txBody>
          <a:bodyPr wrap="square" lIns="0" tIns="0" rIns="0" bIns="0" rtlCol="0" anchor="ctr"/>
          <a:lstStyle/>
          <a:p>
            <a:pPr indent="0" marL="0">
              <a:buNone/>
            </a:pPr>
            <a:r>
              <a:rPr lang="en-US" sz="1000" b="1" dirty="0">
                <a:solidFill>
                  <a:srgbClr val="FF5C00"/>
                </a:solidFill>
                <a:latin typeface="Arial" pitchFamily="34" charset="0"/>
                <a:ea typeface="Arial" pitchFamily="34" charset="-122"/>
                <a:cs typeface="Arial" pitchFamily="34" charset="-120"/>
              </a:rPr>
              <a:t>Inline Schema Constraints</a:t>
            </a:r>
            <a:endParaRPr lang="en-US" sz="1000" dirty="0"/>
          </a:p>
        </p:txBody>
      </p:sp>
      <p:sp>
        <p:nvSpPr>
          <p:cNvPr id="23" name="Text 21"/>
          <p:cNvSpPr/>
          <p:nvPr/>
        </p:nvSpPr>
        <p:spPr>
          <a:xfrm>
            <a:off x="5715000" y="1316736"/>
            <a:ext cx="3017520" cy="292608"/>
          </a:xfrm>
          <a:prstGeom prst="rect">
            <a:avLst/>
          </a:prstGeom>
          <a:noFill/>
          <a:ln/>
        </p:spPr>
        <p:txBody>
          <a:bodyPr wrap="square" lIns="0" tIns="0" rIns="0" bIns="0" rtlCol="0" anchor="ctr"/>
          <a:lstStyle/>
          <a:p>
            <a:pPr indent="0" marL="0">
              <a:buNone/>
            </a:pPr>
            <a:r>
              <a:rPr lang="en-US" sz="850" dirty="0">
                <a:solidFill>
                  <a:srgbClr val="A1A1AA"/>
                </a:solidFill>
                <a:latin typeface="Arial" pitchFamily="34" charset="0"/>
                <a:ea typeface="Arial" pitchFamily="34" charset="-122"/>
                <a:cs typeface="Arial" pitchFamily="34" charset="-120"/>
              </a:rPr>
              <a:t>JSON schema in system prompt — more reliable than API-level response_format for structured output from Granite.</a:t>
            </a:r>
            <a:endParaRPr lang="en-US" sz="850" dirty="0"/>
          </a:p>
        </p:txBody>
      </p:sp>
      <p:sp>
        <p:nvSpPr>
          <p:cNvPr id="24" name="Shape 22"/>
          <p:cNvSpPr/>
          <p:nvPr/>
        </p:nvSpPr>
        <p:spPr>
          <a:xfrm>
            <a:off x="5577840" y="1755648"/>
            <a:ext cx="3291840" cy="658368"/>
          </a:xfrm>
          <a:prstGeom prst="roundRect">
            <a:avLst>
              <a:gd name="adj" fmla="val 8333"/>
            </a:avLst>
          </a:prstGeom>
          <a:solidFill>
            <a:srgbClr val="0A0A0A"/>
          </a:solidFill>
          <a:ln w="10160">
            <a:solidFill>
              <a:srgbClr val="FF007A"/>
            </a:solidFill>
            <a:prstDash val="solid"/>
          </a:ln>
          <a:effectLst>
            <a:outerShdw sx="100000" sy="100000" kx="0" ky="0" algn="bl" rotWithShape="0" blurRad="101600" dist="38100" dir="2700000">
              <a:srgbClr val="000000">
                <a:alpha val="35000"/>
              </a:srgbClr>
            </a:outerShdw>
          </a:effectLst>
        </p:spPr>
      </p:sp>
      <p:sp>
        <p:nvSpPr>
          <p:cNvPr id="25" name="Text 23"/>
          <p:cNvSpPr/>
          <p:nvPr/>
        </p:nvSpPr>
        <p:spPr>
          <a:xfrm>
            <a:off x="5715000" y="1828800"/>
            <a:ext cx="3017520" cy="219456"/>
          </a:xfrm>
          <a:prstGeom prst="rect">
            <a:avLst/>
          </a:prstGeom>
          <a:noFill/>
          <a:ln/>
        </p:spPr>
        <p:txBody>
          <a:bodyPr wrap="square" lIns="0" tIns="0" rIns="0" bIns="0" rtlCol="0" anchor="ctr"/>
          <a:lstStyle/>
          <a:p>
            <a:pPr indent="0" marL="0">
              <a:buNone/>
            </a:pPr>
            <a:r>
              <a:rPr lang="en-US" sz="1000" b="1" dirty="0">
                <a:solidFill>
                  <a:srgbClr val="FF007A"/>
                </a:solidFill>
                <a:latin typeface="Arial" pitchFamily="34" charset="0"/>
                <a:ea typeface="Arial" pitchFamily="34" charset="-122"/>
                <a:cs typeface="Arial" pitchFamily="34" charset="-120"/>
              </a:rPr>
              <a:t>Cite-or-Downgrade Rule</a:t>
            </a:r>
            <a:endParaRPr lang="en-US" sz="1000" dirty="0"/>
          </a:p>
        </p:txBody>
      </p:sp>
      <p:sp>
        <p:nvSpPr>
          <p:cNvPr id="26" name="Text 24"/>
          <p:cNvSpPr/>
          <p:nvPr/>
        </p:nvSpPr>
        <p:spPr>
          <a:xfrm>
            <a:off x="5715000" y="2066544"/>
            <a:ext cx="3017520" cy="292608"/>
          </a:xfrm>
          <a:prstGeom prst="rect">
            <a:avLst/>
          </a:prstGeom>
          <a:noFill/>
          <a:ln/>
        </p:spPr>
        <p:txBody>
          <a:bodyPr wrap="square" lIns="0" tIns="0" rIns="0" bIns="0" rtlCol="0" anchor="ctr"/>
          <a:lstStyle/>
          <a:p>
            <a:pPr indent="0" marL="0">
              <a:buNone/>
            </a:pPr>
            <a:r>
              <a:rPr lang="en-US" sz="850" dirty="0">
                <a:solidFill>
                  <a:srgbClr val="A1A1AA"/>
                </a:solidFill>
                <a:latin typeface="Arial" pitchFamily="34" charset="0"/>
                <a:ea typeface="Arial" pitchFamily="34" charset="-122"/>
                <a:cs typeface="Arial" pitchFamily="34" charset="-120"/>
              </a:rPr>
              <a:t>Any violation without a cited_chunk_id is auto-rejected and routed to 'needs human review'. Never a silent false positive.</a:t>
            </a:r>
            <a:endParaRPr lang="en-US" sz="850" dirty="0"/>
          </a:p>
        </p:txBody>
      </p:sp>
      <p:sp>
        <p:nvSpPr>
          <p:cNvPr id="27" name="Shape 25"/>
          <p:cNvSpPr/>
          <p:nvPr/>
        </p:nvSpPr>
        <p:spPr>
          <a:xfrm>
            <a:off x="5577840" y="2505456"/>
            <a:ext cx="3291840" cy="658368"/>
          </a:xfrm>
          <a:prstGeom prst="roundRect">
            <a:avLst>
              <a:gd name="adj" fmla="val 8333"/>
            </a:avLst>
          </a:prstGeom>
          <a:solidFill>
            <a:srgbClr val="0A0A0A"/>
          </a:solidFill>
          <a:ln w="10160">
            <a:solidFill>
              <a:srgbClr val="E5FF00"/>
            </a:solidFill>
            <a:prstDash val="solid"/>
          </a:ln>
          <a:effectLst>
            <a:outerShdw sx="100000" sy="100000" kx="0" ky="0" algn="bl" rotWithShape="0" blurRad="101600" dist="38100" dir="2700000">
              <a:srgbClr val="000000">
                <a:alpha val="35000"/>
              </a:srgbClr>
            </a:outerShdw>
          </a:effectLst>
        </p:spPr>
      </p:sp>
      <p:sp>
        <p:nvSpPr>
          <p:cNvPr id="28" name="Text 26"/>
          <p:cNvSpPr/>
          <p:nvPr/>
        </p:nvSpPr>
        <p:spPr>
          <a:xfrm>
            <a:off x="5715000" y="2578608"/>
            <a:ext cx="3017520" cy="219456"/>
          </a:xfrm>
          <a:prstGeom prst="rect">
            <a:avLst/>
          </a:prstGeom>
          <a:noFill/>
          <a:ln/>
        </p:spPr>
        <p:txBody>
          <a:bodyPr wrap="square" lIns="0" tIns="0" rIns="0" bIns="0" rtlCol="0" anchor="ctr"/>
          <a:lstStyle/>
          <a:p>
            <a:pPr indent="0" marL="0">
              <a:buNone/>
            </a:pPr>
            <a:r>
              <a:rPr lang="en-US" sz="1000" b="1" dirty="0">
                <a:solidFill>
                  <a:srgbClr val="E5FF00"/>
                </a:solidFill>
                <a:latin typeface="Arial" pitchFamily="34" charset="0"/>
                <a:ea typeface="Arial" pitchFamily="34" charset="-122"/>
                <a:cs typeface="Arial" pitchFamily="34" charset="-120"/>
              </a:rPr>
              <a:t>Low Temperature Critic</a:t>
            </a:r>
            <a:endParaRPr lang="en-US" sz="1000" dirty="0"/>
          </a:p>
        </p:txBody>
      </p:sp>
      <p:sp>
        <p:nvSpPr>
          <p:cNvPr id="29" name="Text 27"/>
          <p:cNvSpPr/>
          <p:nvPr/>
        </p:nvSpPr>
        <p:spPr>
          <a:xfrm>
            <a:off x="5715000" y="2816352"/>
            <a:ext cx="3017520" cy="292608"/>
          </a:xfrm>
          <a:prstGeom prst="rect">
            <a:avLst/>
          </a:prstGeom>
          <a:noFill/>
          <a:ln/>
        </p:spPr>
        <p:txBody>
          <a:bodyPr wrap="square" lIns="0" tIns="0" rIns="0" bIns="0" rtlCol="0" anchor="ctr"/>
          <a:lstStyle/>
          <a:p>
            <a:pPr indent="0" marL="0">
              <a:buNone/>
            </a:pPr>
            <a:r>
              <a:rPr lang="en-US" sz="850" dirty="0">
                <a:solidFill>
                  <a:srgbClr val="A1A1AA"/>
                </a:solidFill>
                <a:latin typeface="Arial" pitchFamily="34" charset="0"/>
                <a:ea typeface="Arial" pitchFamily="34" charset="-122"/>
                <a:cs typeface="Arial" pitchFamily="34" charset="-120"/>
              </a:rPr>
              <a:t>Adversarial Critic runs at temp 0.05. Classifier at 0.2. Different temperatures, different personas, one pipeline.</a:t>
            </a:r>
            <a:endParaRPr lang="en-US" sz="850" dirty="0"/>
          </a:p>
        </p:txBody>
      </p:sp>
      <p:sp>
        <p:nvSpPr>
          <p:cNvPr id="30" name="Shape 28"/>
          <p:cNvSpPr/>
          <p:nvPr/>
        </p:nvSpPr>
        <p:spPr>
          <a:xfrm>
            <a:off x="5577840" y="3255264"/>
            <a:ext cx="3291840" cy="658368"/>
          </a:xfrm>
          <a:prstGeom prst="roundRect">
            <a:avLst>
              <a:gd name="adj" fmla="val 8333"/>
            </a:avLst>
          </a:prstGeom>
          <a:solidFill>
            <a:srgbClr val="0A0A0A"/>
          </a:solidFill>
          <a:ln w="10160">
            <a:solidFill>
              <a:srgbClr val="E8A54B"/>
            </a:solidFill>
            <a:prstDash val="solid"/>
          </a:ln>
          <a:effectLst>
            <a:outerShdw sx="100000" sy="100000" kx="0" ky="0" algn="bl" rotWithShape="0" blurRad="101600" dist="38100" dir="2700000">
              <a:srgbClr val="000000">
                <a:alpha val="35000"/>
              </a:srgbClr>
            </a:outerShdw>
          </a:effectLst>
        </p:spPr>
      </p:sp>
      <p:sp>
        <p:nvSpPr>
          <p:cNvPr id="31" name="Text 29"/>
          <p:cNvSpPr/>
          <p:nvPr/>
        </p:nvSpPr>
        <p:spPr>
          <a:xfrm>
            <a:off x="5715000" y="3328416"/>
            <a:ext cx="3017520" cy="219456"/>
          </a:xfrm>
          <a:prstGeom prst="rect">
            <a:avLst/>
          </a:prstGeom>
          <a:noFill/>
          <a:ln/>
        </p:spPr>
        <p:txBody>
          <a:bodyPr wrap="square" lIns="0" tIns="0" rIns="0" bIns="0" rtlCol="0" anchor="ctr"/>
          <a:lstStyle/>
          <a:p>
            <a:pPr indent="0" marL="0">
              <a:buNone/>
            </a:pPr>
            <a:r>
              <a:rPr lang="en-US" sz="1000" b="1" dirty="0">
                <a:solidFill>
                  <a:srgbClr val="E8A54B"/>
                </a:solidFill>
                <a:latin typeface="Arial" pitchFamily="34" charset="0"/>
                <a:ea typeface="Arial" pitchFamily="34" charset="-122"/>
                <a:cs typeface="Arial" pitchFamily="34" charset="-120"/>
              </a:rPr>
              <a:t>No Fine-tuning Needed</a:t>
            </a:r>
            <a:endParaRPr lang="en-US" sz="1000" dirty="0"/>
          </a:p>
        </p:txBody>
      </p:sp>
      <p:sp>
        <p:nvSpPr>
          <p:cNvPr id="32" name="Text 30"/>
          <p:cNvSpPr/>
          <p:nvPr/>
        </p:nvSpPr>
        <p:spPr>
          <a:xfrm>
            <a:off x="5715000" y="3566160"/>
            <a:ext cx="3017520" cy="292608"/>
          </a:xfrm>
          <a:prstGeom prst="rect">
            <a:avLst/>
          </a:prstGeom>
          <a:noFill/>
          <a:ln/>
        </p:spPr>
        <p:txBody>
          <a:bodyPr wrap="square" lIns="0" tIns="0" rIns="0" bIns="0" rtlCol="0" anchor="ctr"/>
          <a:lstStyle/>
          <a:p>
            <a:pPr indent="0" marL="0">
              <a:buNone/>
            </a:pPr>
            <a:r>
              <a:rPr lang="en-US" sz="850" dirty="0">
                <a:solidFill>
                  <a:srgbClr val="A1A1AA"/>
                </a:solidFill>
                <a:latin typeface="Arial" pitchFamily="34" charset="0"/>
                <a:ea typeface="Arial" pitchFamily="34" charset="-122"/>
                <a:cs typeface="Arial" pitchFamily="34" charset="-120"/>
              </a:rPr>
              <a:t>All organizational knowledge via RAG, not model weights. Update an ADR → behavior changes instantly. No retraining cycle.</a:t>
            </a:r>
            <a:endParaRPr lang="en-US" sz="850" dirty="0"/>
          </a:p>
        </p:txBody>
      </p:sp>
      <p:sp>
        <p:nvSpPr>
          <p:cNvPr id="33" name="Shape 31"/>
          <p:cNvSpPr/>
          <p:nvPr/>
        </p:nvSpPr>
        <p:spPr>
          <a:xfrm>
            <a:off x="365760" y="4023360"/>
            <a:ext cx="5029200" cy="411480"/>
          </a:xfrm>
          <a:prstGeom prst="roundRect">
            <a:avLst>
              <a:gd name="adj" fmla="val 11111"/>
            </a:avLst>
          </a:prstGeom>
          <a:solidFill>
            <a:srgbClr val="111111"/>
          </a:solidFill>
          <a:ln w="10160">
            <a:solidFill>
              <a:srgbClr val="1B6CA8"/>
            </a:solidFill>
            <a:prstDash val="solid"/>
          </a:ln>
        </p:spPr>
      </p:sp>
      <p:sp>
        <p:nvSpPr>
          <p:cNvPr id="34" name="Text 32"/>
          <p:cNvSpPr/>
          <p:nvPr/>
        </p:nvSpPr>
        <p:spPr>
          <a:xfrm>
            <a:off x="502920" y="4078224"/>
            <a:ext cx="4754880" cy="301752"/>
          </a:xfrm>
          <a:prstGeom prst="rect">
            <a:avLst/>
          </a:prstGeom>
          <a:noFill/>
          <a:ln/>
        </p:spPr>
        <p:txBody>
          <a:bodyPr wrap="square" lIns="0" tIns="0" rIns="0" bIns="0" rtlCol="0" anchor="ctr"/>
          <a:lstStyle/>
          <a:p>
            <a:pPr indent="0" marL="0">
              <a:buNone/>
            </a:pPr>
            <a:r>
              <a:rPr lang="en-US" sz="850" dirty="0">
                <a:solidFill>
                  <a:srgbClr val="A1A1AA"/>
                </a:solidFill>
                <a:latin typeface="Courier New" pitchFamily="34" charset="0"/>
                <a:ea typeface="Courier New" pitchFamily="34" charset="-122"/>
                <a:cs typeface="Courier New" pitchFamily="34" charset="-120"/>
              </a:rPr>
              <a:t>Model: ibm/granite-3-8b-instruct  ·  Endpoint: watsonx.ai  ·  Fallback: Ollama granite3.1-dense (MOCK_MODE)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FF00"/>
          </a:solidFill>
          <a:ln w="12700">
            <a:solidFill>
              <a:srgbClr val="E5FF00"/>
            </a:solidFill>
            <a:prstDash val="solid"/>
          </a:ln>
        </p:spPr>
      </p:sp>
      <p:sp>
        <p:nvSpPr>
          <p:cNvPr id="3" name="Text 1"/>
          <p:cNvSpPr/>
          <p:nvPr/>
        </p:nvSpPr>
        <p:spPr>
          <a:xfrm>
            <a:off x="457200" y="182880"/>
            <a:ext cx="8229600" cy="274320"/>
          </a:xfrm>
          <a:prstGeom prst="rect">
            <a:avLst/>
          </a:prstGeom>
          <a:noFill/>
          <a:ln/>
        </p:spPr>
        <p:txBody>
          <a:bodyPr wrap="square" lIns="0" tIns="0" rIns="0" bIns="0" rtlCol="0" anchor="ctr"/>
          <a:lstStyle/>
          <a:p>
            <a:pPr indent="0" marL="0">
              <a:buNone/>
            </a:pPr>
            <a:r>
              <a:rPr lang="en-US" sz="800" b="1" spc="200" kern="0" dirty="0">
                <a:solidFill>
                  <a:srgbClr val="E5FF00"/>
                </a:solidFill>
                <a:latin typeface="Arial" pitchFamily="34" charset="0"/>
                <a:ea typeface="Arial" pitchFamily="34" charset="-122"/>
                <a:cs typeface="Arial" pitchFamily="34" charset="-120"/>
              </a:rPr>
              <a:t>DUAL-STACK INFRASTRUCTURE</a:t>
            </a:r>
            <a:endParaRPr lang="en-US" sz="800" dirty="0"/>
          </a:p>
        </p:txBody>
      </p:sp>
      <p:sp>
        <p:nvSpPr>
          <p:cNvPr id="4" name="Text 2"/>
          <p:cNvSpPr/>
          <p:nvPr/>
        </p:nvSpPr>
        <p:spPr>
          <a:xfrm>
            <a:off x="457200" y="45720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IBM Active Mode  vs  MOCK_MODE Local Fallback</a:t>
            </a:r>
            <a:endParaRPr lang="en-US" sz="2200" dirty="0"/>
          </a:p>
        </p:txBody>
      </p:sp>
      <p:sp>
        <p:nvSpPr>
          <p:cNvPr id="5" name="Shape 3"/>
          <p:cNvSpPr/>
          <p:nvPr/>
        </p:nvSpPr>
        <p:spPr>
          <a:xfrm>
            <a:off x="457200" y="914400"/>
            <a:ext cx="8229600" cy="0"/>
          </a:xfrm>
          <a:prstGeom prst="line">
            <a:avLst/>
          </a:prstGeom>
          <a:noFill/>
          <a:ln w="6350">
            <a:solidFill>
              <a:srgbClr val="52525B"/>
            </a:solidFill>
            <a:prstDash val="solid"/>
          </a:ln>
        </p:spPr>
      </p:sp>
      <p:sp>
        <p:nvSpPr>
          <p:cNvPr id="6" name="Shape 4"/>
          <p:cNvSpPr/>
          <p:nvPr/>
        </p:nvSpPr>
        <p:spPr>
          <a:xfrm>
            <a:off x="365760" y="960120"/>
            <a:ext cx="2103120" cy="347472"/>
          </a:xfrm>
          <a:prstGeom prst="rect">
            <a:avLst/>
          </a:prstGeom>
          <a:solidFill>
            <a:srgbClr val="111111"/>
          </a:solidFill>
          <a:ln w="6350">
            <a:solidFill>
              <a:srgbClr val="52525B"/>
            </a:solidFill>
            <a:prstDash val="solid"/>
          </a:ln>
        </p:spPr>
      </p:sp>
      <p:sp>
        <p:nvSpPr>
          <p:cNvPr id="7" name="Text 5"/>
          <p:cNvSpPr/>
          <p:nvPr/>
        </p:nvSpPr>
        <p:spPr>
          <a:xfrm>
            <a:off x="438912" y="987552"/>
            <a:ext cx="2011680" cy="274320"/>
          </a:xfrm>
          <a:prstGeom prst="rect">
            <a:avLst/>
          </a:prstGeom>
          <a:noFill/>
          <a:ln/>
        </p:spPr>
        <p:txBody>
          <a:bodyPr wrap="square" lIns="0" tIns="0" rIns="0" bIns="0" rtlCol="0" anchor="ctr"/>
          <a:lstStyle/>
          <a:p>
            <a:pPr indent="0" marL="0">
              <a:buNone/>
            </a:pPr>
            <a:r>
              <a:rPr lang="en-US" sz="800" b="1" spc="50" kern="0" dirty="0">
                <a:solidFill>
                  <a:srgbClr val="FFFFFF"/>
                </a:solidFill>
                <a:latin typeface="Arial" pitchFamily="34" charset="0"/>
                <a:ea typeface="Arial" pitchFamily="34" charset="-122"/>
                <a:cs typeface="Arial" pitchFamily="34" charset="-120"/>
              </a:rPr>
              <a:t>COMPONENT</a:t>
            </a:r>
            <a:endParaRPr lang="en-US" sz="800" dirty="0"/>
          </a:p>
        </p:txBody>
      </p:sp>
      <p:sp>
        <p:nvSpPr>
          <p:cNvPr id="8" name="Shape 6"/>
          <p:cNvSpPr/>
          <p:nvPr/>
        </p:nvSpPr>
        <p:spPr>
          <a:xfrm>
            <a:off x="2560320" y="960120"/>
            <a:ext cx="3200400" cy="347472"/>
          </a:xfrm>
          <a:prstGeom prst="rect">
            <a:avLst/>
          </a:prstGeom>
          <a:solidFill>
            <a:srgbClr val="1B6CA8"/>
          </a:solidFill>
          <a:ln w="6350">
            <a:solidFill>
              <a:srgbClr val="52525B"/>
            </a:solidFill>
            <a:prstDash val="solid"/>
          </a:ln>
        </p:spPr>
      </p:sp>
      <p:sp>
        <p:nvSpPr>
          <p:cNvPr id="9" name="Text 7"/>
          <p:cNvSpPr/>
          <p:nvPr/>
        </p:nvSpPr>
        <p:spPr>
          <a:xfrm>
            <a:off x="2633472" y="987552"/>
            <a:ext cx="3108960" cy="274320"/>
          </a:xfrm>
          <a:prstGeom prst="rect">
            <a:avLst/>
          </a:prstGeom>
          <a:noFill/>
          <a:ln/>
        </p:spPr>
        <p:txBody>
          <a:bodyPr wrap="square" lIns="0" tIns="0" rIns="0" bIns="0" rtlCol="0" anchor="ctr"/>
          <a:lstStyle/>
          <a:p>
            <a:pPr indent="0" marL="0">
              <a:buNone/>
            </a:pPr>
            <a:r>
              <a:rPr lang="en-US" sz="800" b="1" spc="50" kern="0" dirty="0">
                <a:solidFill>
                  <a:srgbClr val="FFFFFF"/>
                </a:solidFill>
                <a:latin typeface="Arial" pitchFamily="34" charset="0"/>
                <a:ea typeface="Arial" pitchFamily="34" charset="-122"/>
                <a:cs typeface="Arial" pitchFamily="34" charset="-120"/>
              </a:rPr>
              <a:t>IBM ACTIVE SERVICE</a:t>
            </a:r>
            <a:endParaRPr lang="en-US" sz="800" dirty="0"/>
          </a:p>
        </p:txBody>
      </p:sp>
      <p:sp>
        <p:nvSpPr>
          <p:cNvPr id="10" name="Shape 8"/>
          <p:cNvSpPr/>
          <p:nvPr/>
        </p:nvSpPr>
        <p:spPr>
          <a:xfrm>
            <a:off x="5852160" y="960120"/>
            <a:ext cx="3108960" cy="347472"/>
          </a:xfrm>
          <a:prstGeom prst="rect">
            <a:avLst/>
          </a:prstGeom>
          <a:solidFill>
            <a:srgbClr val="1A1A00"/>
          </a:solidFill>
          <a:ln w="6350">
            <a:solidFill>
              <a:srgbClr val="52525B"/>
            </a:solidFill>
            <a:prstDash val="solid"/>
          </a:ln>
        </p:spPr>
      </p:sp>
      <p:sp>
        <p:nvSpPr>
          <p:cNvPr id="11" name="Text 9"/>
          <p:cNvSpPr/>
          <p:nvPr/>
        </p:nvSpPr>
        <p:spPr>
          <a:xfrm>
            <a:off x="5925312" y="987552"/>
            <a:ext cx="3017520" cy="274320"/>
          </a:xfrm>
          <a:prstGeom prst="rect">
            <a:avLst/>
          </a:prstGeom>
          <a:noFill/>
          <a:ln/>
        </p:spPr>
        <p:txBody>
          <a:bodyPr wrap="square" lIns="0" tIns="0" rIns="0" bIns="0" rtlCol="0" anchor="ctr"/>
          <a:lstStyle/>
          <a:p>
            <a:pPr indent="0" marL="0">
              <a:buNone/>
            </a:pPr>
            <a:r>
              <a:rPr lang="en-US" sz="800" b="1" spc="50" kern="0" dirty="0">
                <a:solidFill>
                  <a:srgbClr val="E5FF00"/>
                </a:solidFill>
                <a:latin typeface="Arial" pitchFamily="34" charset="0"/>
                <a:ea typeface="Arial" pitchFamily="34" charset="-122"/>
                <a:cs typeface="Arial" pitchFamily="34" charset="-120"/>
              </a:rPr>
              <a:t>MOCK_MODE FALLBACK</a:t>
            </a:r>
            <a:endParaRPr lang="en-US" sz="800" dirty="0"/>
          </a:p>
        </p:txBody>
      </p:sp>
      <p:sp>
        <p:nvSpPr>
          <p:cNvPr id="12" name="Shape 10"/>
          <p:cNvSpPr/>
          <p:nvPr/>
        </p:nvSpPr>
        <p:spPr>
          <a:xfrm>
            <a:off x="365760" y="1353312"/>
            <a:ext cx="2103120" cy="548640"/>
          </a:xfrm>
          <a:prstGeom prst="rect">
            <a:avLst/>
          </a:prstGeom>
          <a:solidFill>
            <a:srgbClr val="0A0A0A"/>
          </a:solidFill>
          <a:ln w="3810">
            <a:solidFill>
              <a:srgbClr val="52525B"/>
            </a:solidFill>
            <a:prstDash val="solid"/>
          </a:ln>
        </p:spPr>
      </p:sp>
      <p:sp>
        <p:nvSpPr>
          <p:cNvPr id="13" name="Text 11"/>
          <p:cNvSpPr/>
          <p:nvPr/>
        </p:nvSpPr>
        <p:spPr>
          <a:xfrm>
            <a:off x="438912" y="1389888"/>
            <a:ext cx="1993392" cy="475488"/>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Core LLM</a:t>
            </a:r>
            <a:endParaRPr lang="en-US" sz="850" dirty="0"/>
          </a:p>
        </p:txBody>
      </p:sp>
      <p:sp>
        <p:nvSpPr>
          <p:cNvPr id="14" name="Shape 12"/>
          <p:cNvSpPr/>
          <p:nvPr/>
        </p:nvSpPr>
        <p:spPr>
          <a:xfrm>
            <a:off x="2560320" y="1353312"/>
            <a:ext cx="3200400" cy="548640"/>
          </a:xfrm>
          <a:prstGeom prst="rect">
            <a:avLst/>
          </a:prstGeom>
          <a:solidFill>
            <a:srgbClr val="0A0A0A"/>
          </a:solidFill>
          <a:ln w="3810">
            <a:solidFill>
              <a:srgbClr val="52525B"/>
            </a:solidFill>
            <a:prstDash val="solid"/>
          </a:ln>
        </p:spPr>
      </p:sp>
      <p:sp>
        <p:nvSpPr>
          <p:cNvPr id="15" name="Text 13"/>
          <p:cNvSpPr/>
          <p:nvPr/>
        </p:nvSpPr>
        <p:spPr>
          <a:xfrm>
            <a:off x="2633472" y="1389888"/>
            <a:ext cx="3090672" cy="475488"/>
          </a:xfrm>
          <a:prstGeom prst="rect">
            <a:avLst/>
          </a:prstGeom>
          <a:noFill/>
          <a:ln/>
        </p:spPr>
        <p:txBody>
          <a:bodyPr wrap="square" lIns="0" tIns="0" rIns="0" bIns="0" rtlCol="0" anchor="ctr"/>
          <a:lstStyle/>
          <a:p>
            <a:pPr indent="0" marL="0">
              <a:buNone/>
            </a:pPr>
            <a:r>
              <a:rPr lang="en-US" sz="850" dirty="0">
                <a:solidFill>
                  <a:srgbClr val="4A9EE0"/>
                </a:solidFill>
                <a:latin typeface="Courier New" pitchFamily="34" charset="0"/>
                <a:ea typeface="Courier New" pitchFamily="34" charset="-122"/>
                <a:cs typeface="Courier New" pitchFamily="34" charset="-120"/>
              </a:rPr>
              <a:t>Granite-3-8b-instruct</a:t>
            </a:r>
            <a:endParaRPr lang="en-US" sz="850" dirty="0"/>
          </a:p>
          <a:p>
            <a:pPr indent="0" marL="0">
              <a:buNone/>
            </a:pPr>
            <a:r>
              <a:rPr lang="en-US" sz="850" dirty="0">
                <a:solidFill>
                  <a:srgbClr val="4A9EE0"/>
                </a:solidFill>
                <a:latin typeface="Courier New" pitchFamily="34" charset="0"/>
                <a:ea typeface="Courier New" pitchFamily="34" charset="-122"/>
                <a:cs typeface="Courier New" pitchFamily="34" charset="-120"/>
              </a:rPr>
              <a:t>watsonx.ai Runtime</a:t>
            </a:r>
            <a:endParaRPr lang="en-US" sz="850" dirty="0"/>
          </a:p>
        </p:txBody>
      </p:sp>
      <p:sp>
        <p:nvSpPr>
          <p:cNvPr id="16" name="Shape 14"/>
          <p:cNvSpPr/>
          <p:nvPr/>
        </p:nvSpPr>
        <p:spPr>
          <a:xfrm>
            <a:off x="5852160" y="1353312"/>
            <a:ext cx="3108960" cy="548640"/>
          </a:xfrm>
          <a:prstGeom prst="rect">
            <a:avLst/>
          </a:prstGeom>
          <a:solidFill>
            <a:srgbClr val="0A0A0A"/>
          </a:solidFill>
          <a:ln w="3810">
            <a:solidFill>
              <a:srgbClr val="52525B"/>
            </a:solidFill>
            <a:prstDash val="solid"/>
          </a:ln>
        </p:spPr>
      </p:sp>
      <p:sp>
        <p:nvSpPr>
          <p:cNvPr id="17" name="Text 15"/>
          <p:cNvSpPr/>
          <p:nvPr/>
        </p:nvSpPr>
        <p:spPr>
          <a:xfrm>
            <a:off x="5925312" y="1389888"/>
            <a:ext cx="2999232" cy="475488"/>
          </a:xfrm>
          <a:prstGeom prst="rect">
            <a:avLst/>
          </a:prstGeom>
          <a:noFill/>
          <a:ln/>
        </p:spPr>
        <p:txBody>
          <a:bodyPr wrap="square" lIns="0" tIns="0" rIns="0" bIns="0" rtlCol="0" anchor="ctr"/>
          <a:lstStyle/>
          <a:p>
            <a:pPr indent="0" marL="0">
              <a:buNone/>
            </a:pPr>
            <a:r>
              <a:rPr lang="en-US" sz="850" dirty="0">
                <a:solidFill>
                  <a:srgbClr val="E5FF00"/>
                </a:solidFill>
                <a:latin typeface="Courier New" pitchFamily="34" charset="0"/>
                <a:ea typeface="Courier New" pitchFamily="34" charset="-122"/>
                <a:cs typeface="Courier New" pitchFamily="34" charset="-120"/>
              </a:rPr>
              <a:t>Ollama granite3.1-dense</a:t>
            </a:r>
            <a:endParaRPr lang="en-US" sz="850" dirty="0"/>
          </a:p>
          <a:p>
            <a:pPr indent="0" marL="0">
              <a:buNone/>
            </a:pPr>
            <a:r>
              <a:rPr lang="en-US" sz="850" dirty="0">
                <a:solidFill>
                  <a:srgbClr val="E5FF00"/>
                </a:solidFill>
                <a:latin typeface="Courier New" pitchFamily="34" charset="0"/>
                <a:ea typeface="Courier New" pitchFamily="34" charset="-122"/>
                <a:cs typeface="Courier New" pitchFamily="34" charset="-120"/>
              </a:rPr>
              <a:t>OpenAI-compatible shim</a:t>
            </a:r>
            <a:endParaRPr lang="en-US" sz="850" dirty="0"/>
          </a:p>
        </p:txBody>
      </p:sp>
      <p:sp>
        <p:nvSpPr>
          <p:cNvPr id="18" name="Shape 16"/>
          <p:cNvSpPr/>
          <p:nvPr/>
        </p:nvSpPr>
        <p:spPr>
          <a:xfrm>
            <a:off x="365760" y="1947672"/>
            <a:ext cx="2103120" cy="548640"/>
          </a:xfrm>
          <a:prstGeom prst="rect">
            <a:avLst/>
          </a:prstGeom>
          <a:solidFill>
            <a:srgbClr val="111111"/>
          </a:solidFill>
          <a:ln w="3810">
            <a:solidFill>
              <a:srgbClr val="52525B"/>
            </a:solidFill>
            <a:prstDash val="solid"/>
          </a:ln>
        </p:spPr>
      </p:sp>
      <p:sp>
        <p:nvSpPr>
          <p:cNvPr id="19" name="Text 17"/>
          <p:cNvSpPr/>
          <p:nvPr/>
        </p:nvSpPr>
        <p:spPr>
          <a:xfrm>
            <a:off x="438912" y="1984248"/>
            <a:ext cx="1993392" cy="475488"/>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Vector Store</a:t>
            </a:r>
            <a:endParaRPr lang="en-US" sz="850" dirty="0"/>
          </a:p>
        </p:txBody>
      </p:sp>
      <p:sp>
        <p:nvSpPr>
          <p:cNvPr id="20" name="Shape 18"/>
          <p:cNvSpPr/>
          <p:nvPr/>
        </p:nvSpPr>
        <p:spPr>
          <a:xfrm>
            <a:off x="2560320" y="1947672"/>
            <a:ext cx="3200400" cy="548640"/>
          </a:xfrm>
          <a:prstGeom prst="rect">
            <a:avLst/>
          </a:prstGeom>
          <a:solidFill>
            <a:srgbClr val="111111"/>
          </a:solidFill>
          <a:ln w="3810">
            <a:solidFill>
              <a:srgbClr val="52525B"/>
            </a:solidFill>
            <a:prstDash val="solid"/>
          </a:ln>
        </p:spPr>
      </p:sp>
      <p:sp>
        <p:nvSpPr>
          <p:cNvPr id="21" name="Text 19"/>
          <p:cNvSpPr/>
          <p:nvPr/>
        </p:nvSpPr>
        <p:spPr>
          <a:xfrm>
            <a:off x="2633472" y="1984248"/>
            <a:ext cx="3090672" cy="475488"/>
          </a:xfrm>
          <a:prstGeom prst="rect">
            <a:avLst/>
          </a:prstGeom>
          <a:noFill/>
          <a:ln/>
        </p:spPr>
        <p:txBody>
          <a:bodyPr wrap="square" lIns="0" tIns="0" rIns="0" bIns="0" rtlCol="0" anchor="ctr"/>
          <a:lstStyle/>
          <a:p>
            <a:pPr indent="0" marL="0">
              <a:buNone/>
            </a:pPr>
            <a:r>
              <a:rPr lang="en-US" sz="850" dirty="0">
                <a:solidFill>
                  <a:srgbClr val="4A9EE0"/>
                </a:solidFill>
                <a:latin typeface="Courier New" pitchFamily="34" charset="0"/>
                <a:ea typeface="Courier New" pitchFamily="34" charset="-122"/>
                <a:cs typeface="Courier New" pitchFamily="34" charset="-120"/>
              </a:rPr>
              <a:t>Cloud DBs for PostgreSQL</a:t>
            </a:r>
            <a:endParaRPr lang="en-US" sz="850" dirty="0"/>
          </a:p>
          <a:p>
            <a:pPr indent="0" marL="0">
              <a:buNone/>
            </a:pPr>
            <a:r>
              <a:rPr lang="en-US" sz="850" dirty="0">
                <a:solidFill>
                  <a:srgbClr val="4A9EE0"/>
                </a:solidFill>
                <a:latin typeface="Courier New" pitchFamily="34" charset="0"/>
                <a:ea typeface="Courier New" pitchFamily="34" charset="-122"/>
                <a:cs typeface="Courier New" pitchFamily="34" charset="-120"/>
              </a:rPr>
              <a:t>+ watsonx.data</a:t>
            </a:r>
            <a:endParaRPr lang="en-US" sz="850" dirty="0"/>
          </a:p>
        </p:txBody>
      </p:sp>
      <p:sp>
        <p:nvSpPr>
          <p:cNvPr id="22" name="Shape 20"/>
          <p:cNvSpPr/>
          <p:nvPr/>
        </p:nvSpPr>
        <p:spPr>
          <a:xfrm>
            <a:off x="5852160" y="1947672"/>
            <a:ext cx="3108960" cy="548640"/>
          </a:xfrm>
          <a:prstGeom prst="rect">
            <a:avLst/>
          </a:prstGeom>
          <a:solidFill>
            <a:srgbClr val="111111"/>
          </a:solidFill>
          <a:ln w="3810">
            <a:solidFill>
              <a:srgbClr val="52525B"/>
            </a:solidFill>
            <a:prstDash val="solid"/>
          </a:ln>
        </p:spPr>
      </p:sp>
      <p:sp>
        <p:nvSpPr>
          <p:cNvPr id="23" name="Text 21"/>
          <p:cNvSpPr/>
          <p:nvPr/>
        </p:nvSpPr>
        <p:spPr>
          <a:xfrm>
            <a:off x="5925312" y="1984248"/>
            <a:ext cx="2999232" cy="475488"/>
          </a:xfrm>
          <a:prstGeom prst="rect">
            <a:avLst/>
          </a:prstGeom>
          <a:noFill/>
          <a:ln/>
        </p:spPr>
        <p:txBody>
          <a:bodyPr wrap="square" lIns="0" tIns="0" rIns="0" bIns="0" rtlCol="0" anchor="ctr"/>
          <a:lstStyle/>
          <a:p>
            <a:pPr indent="0" marL="0">
              <a:buNone/>
            </a:pPr>
            <a:r>
              <a:rPr lang="en-US" sz="850" dirty="0">
                <a:solidFill>
                  <a:srgbClr val="E5FF00"/>
                </a:solidFill>
                <a:latin typeface="Courier New" pitchFamily="34" charset="0"/>
                <a:ea typeface="Courier New" pitchFamily="34" charset="-122"/>
                <a:cs typeface="Courier New" pitchFamily="34" charset="-120"/>
              </a:rPr>
              <a:t>Docker pgvector:pg16</a:t>
            </a:r>
            <a:endParaRPr lang="en-US" sz="850" dirty="0"/>
          </a:p>
          <a:p>
            <a:pPr indent="0" marL="0">
              <a:buNone/>
            </a:pPr>
            <a:r>
              <a:rPr lang="en-US" sz="850" dirty="0">
                <a:solidFill>
                  <a:srgbClr val="E5FF00"/>
                </a:solidFill>
                <a:latin typeface="Courier New" pitchFamily="34" charset="0"/>
                <a:ea typeface="Courier New" pitchFamily="34" charset="-122"/>
                <a:cs typeface="Courier New" pitchFamily="34" charset="-120"/>
              </a:rPr>
              <a:t>Identical query interface</a:t>
            </a:r>
            <a:endParaRPr lang="en-US" sz="850" dirty="0"/>
          </a:p>
        </p:txBody>
      </p:sp>
      <p:sp>
        <p:nvSpPr>
          <p:cNvPr id="24" name="Shape 22"/>
          <p:cNvSpPr/>
          <p:nvPr/>
        </p:nvSpPr>
        <p:spPr>
          <a:xfrm>
            <a:off x="365760" y="2542032"/>
            <a:ext cx="2103120" cy="548640"/>
          </a:xfrm>
          <a:prstGeom prst="rect">
            <a:avLst/>
          </a:prstGeom>
          <a:solidFill>
            <a:srgbClr val="0A0A0A"/>
          </a:solidFill>
          <a:ln w="3810">
            <a:solidFill>
              <a:srgbClr val="52525B"/>
            </a:solidFill>
            <a:prstDash val="solid"/>
          </a:ln>
        </p:spPr>
      </p:sp>
      <p:sp>
        <p:nvSpPr>
          <p:cNvPr id="25" name="Text 23"/>
          <p:cNvSpPr/>
          <p:nvPr/>
        </p:nvSpPr>
        <p:spPr>
          <a:xfrm>
            <a:off x="438912" y="2578608"/>
            <a:ext cx="1993392" cy="475488"/>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Orchestration</a:t>
            </a:r>
            <a:endParaRPr lang="en-US" sz="850" dirty="0"/>
          </a:p>
        </p:txBody>
      </p:sp>
      <p:sp>
        <p:nvSpPr>
          <p:cNvPr id="26" name="Shape 24"/>
          <p:cNvSpPr/>
          <p:nvPr/>
        </p:nvSpPr>
        <p:spPr>
          <a:xfrm>
            <a:off x="2560320" y="2542032"/>
            <a:ext cx="3200400" cy="548640"/>
          </a:xfrm>
          <a:prstGeom prst="rect">
            <a:avLst/>
          </a:prstGeom>
          <a:solidFill>
            <a:srgbClr val="0A0A0A"/>
          </a:solidFill>
          <a:ln w="3810">
            <a:solidFill>
              <a:srgbClr val="52525B"/>
            </a:solidFill>
            <a:prstDash val="solid"/>
          </a:ln>
        </p:spPr>
      </p:sp>
      <p:sp>
        <p:nvSpPr>
          <p:cNvPr id="27" name="Text 25"/>
          <p:cNvSpPr/>
          <p:nvPr/>
        </p:nvSpPr>
        <p:spPr>
          <a:xfrm>
            <a:off x="2633472" y="2578608"/>
            <a:ext cx="3090672" cy="475488"/>
          </a:xfrm>
          <a:prstGeom prst="rect">
            <a:avLst/>
          </a:prstGeom>
          <a:noFill/>
          <a:ln/>
        </p:spPr>
        <p:txBody>
          <a:bodyPr wrap="square" lIns="0" tIns="0" rIns="0" bIns="0" rtlCol="0" anchor="ctr"/>
          <a:lstStyle/>
          <a:p>
            <a:pPr indent="0" marL="0">
              <a:buNone/>
            </a:pPr>
            <a:r>
              <a:rPr lang="en-US" sz="850" dirty="0">
                <a:solidFill>
                  <a:srgbClr val="4A9EE0"/>
                </a:solidFill>
                <a:latin typeface="Courier New" pitchFamily="34" charset="0"/>
                <a:ea typeface="Courier New" pitchFamily="34" charset="-122"/>
                <a:cs typeface="Courier New" pitchFamily="34" charset="-120"/>
              </a:rPr>
              <a:t>watsonx Orchestrate</a:t>
            </a:r>
            <a:endParaRPr lang="en-US" sz="850" dirty="0"/>
          </a:p>
          <a:p>
            <a:pPr indent="0" marL="0">
              <a:buNone/>
            </a:pPr>
            <a:r>
              <a:rPr lang="en-US" sz="850" dirty="0">
                <a:solidFill>
                  <a:srgbClr val="4A9EE0"/>
                </a:solidFill>
                <a:latin typeface="Courier New" pitchFamily="34" charset="0"/>
                <a:ea typeface="Courier New" pitchFamily="34" charset="-122"/>
                <a:cs typeface="Courier New" pitchFamily="34" charset="-120"/>
              </a:rPr>
              <a:t>ADK, DAG planner</a:t>
            </a:r>
            <a:endParaRPr lang="en-US" sz="850" dirty="0"/>
          </a:p>
        </p:txBody>
      </p:sp>
      <p:sp>
        <p:nvSpPr>
          <p:cNvPr id="28" name="Shape 26"/>
          <p:cNvSpPr/>
          <p:nvPr/>
        </p:nvSpPr>
        <p:spPr>
          <a:xfrm>
            <a:off x="5852160" y="2542032"/>
            <a:ext cx="3108960" cy="548640"/>
          </a:xfrm>
          <a:prstGeom prst="rect">
            <a:avLst/>
          </a:prstGeom>
          <a:solidFill>
            <a:srgbClr val="0A0A0A"/>
          </a:solidFill>
          <a:ln w="3810">
            <a:solidFill>
              <a:srgbClr val="52525B"/>
            </a:solidFill>
            <a:prstDash val="solid"/>
          </a:ln>
        </p:spPr>
      </p:sp>
      <p:sp>
        <p:nvSpPr>
          <p:cNvPr id="29" name="Text 27"/>
          <p:cNvSpPr/>
          <p:nvPr/>
        </p:nvSpPr>
        <p:spPr>
          <a:xfrm>
            <a:off x="5925312" y="2578608"/>
            <a:ext cx="2999232" cy="475488"/>
          </a:xfrm>
          <a:prstGeom prst="rect">
            <a:avLst/>
          </a:prstGeom>
          <a:noFill/>
          <a:ln/>
        </p:spPr>
        <p:txBody>
          <a:bodyPr wrap="square" lIns="0" tIns="0" rIns="0" bIns="0" rtlCol="0" anchor="ctr"/>
          <a:lstStyle/>
          <a:p>
            <a:pPr indent="0" marL="0">
              <a:buNone/>
            </a:pPr>
            <a:r>
              <a:rPr lang="en-US" sz="850" dirty="0">
                <a:solidFill>
                  <a:srgbClr val="E5FF00"/>
                </a:solidFill>
                <a:latin typeface="Courier New" pitchFamily="34" charset="0"/>
                <a:ea typeface="Courier New" pitchFamily="34" charset="-122"/>
                <a:cs typeface="Courier New" pitchFamily="34" charset="-120"/>
              </a:rPr>
              <a:t>LangGraph StateGraph</a:t>
            </a:r>
            <a:endParaRPr lang="en-US" sz="850" dirty="0"/>
          </a:p>
          <a:p>
            <a:pPr indent="0" marL="0">
              <a:buNone/>
            </a:pPr>
            <a:r>
              <a:rPr lang="en-US" sz="850" dirty="0">
                <a:solidFill>
                  <a:srgbClr val="E5FF00"/>
                </a:solidFill>
                <a:latin typeface="Courier New" pitchFamily="34" charset="0"/>
                <a:ea typeface="Courier New" pitchFamily="34" charset="-122"/>
                <a:cs typeface="Courier New" pitchFamily="34" charset="-120"/>
              </a:rPr>
              <a:t>Same AgentEnvelope contracts</a:t>
            </a:r>
            <a:endParaRPr lang="en-US" sz="850" dirty="0"/>
          </a:p>
        </p:txBody>
      </p:sp>
      <p:sp>
        <p:nvSpPr>
          <p:cNvPr id="30" name="Shape 28"/>
          <p:cNvSpPr/>
          <p:nvPr/>
        </p:nvSpPr>
        <p:spPr>
          <a:xfrm>
            <a:off x="365760" y="3136392"/>
            <a:ext cx="2103120" cy="548640"/>
          </a:xfrm>
          <a:prstGeom prst="rect">
            <a:avLst/>
          </a:prstGeom>
          <a:solidFill>
            <a:srgbClr val="111111"/>
          </a:solidFill>
          <a:ln w="3810">
            <a:solidFill>
              <a:srgbClr val="52525B"/>
            </a:solidFill>
            <a:prstDash val="solid"/>
          </a:ln>
        </p:spPr>
      </p:sp>
      <p:sp>
        <p:nvSpPr>
          <p:cNvPr id="31" name="Text 29"/>
          <p:cNvSpPr/>
          <p:nvPr/>
        </p:nvSpPr>
        <p:spPr>
          <a:xfrm>
            <a:off x="438912" y="3172968"/>
            <a:ext cx="1993392" cy="475488"/>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Object Storage</a:t>
            </a:r>
            <a:endParaRPr lang="en-US" sz="850" dirty="0"/>
          </a:p>
        </p:txBody>
      </p:sp>
      <p:sp>
        <p:nvSpPr>
          <p:cNvPr id="32" name="Shape 30"/>
          <p:cNvSpPr/>
          <p:nvPr/>
        </p:nvSpPr>
        <p:spPr>
          <a:xfrm>
            <a:off x="2560320" y="3136392"/>
            <a:ext cx="3200400" cy="548640"/>
          </a:xfrm>
          <a:prstGeom prst="rect">
            <a:avLst/>
          </a:prstGeom>
          <a:solidFill>
            <a:srgbClr val="111111"/>
          </a:solidFill>
          <a:ln w="3810">
            <a:solidFill>
              <a:srgbClr val="52525B"/>
            </a:solidFill>
            <a:prstDash val="solid"/>
          </a:ln>
        </p:spPr>
      </p:sp>
      <p:sp>
        <p:nvSpPr>
          <p:cNvPr id="33" name="Text 31"/>
          <p:cNvSpPr/>
          <p:nvPr/>
        </p:nvSpPr>
        <p:spPr>
          <a:xfrm>
            <a:off x="2633472" y="3172968"/>
            <a:ext cx="3090672" cy="475488"/>
          </a:xfrm>
          <a:prstGeom prst="rect">
            <a:avLst/>
          </a:prstGeom>
          <a:noFill/>
          <a:ln/>
        </p:spPr>
        <p:txBody>
          <a:bodyPr wrap="square" lIns="0" tIns="0" rIns="0" bIns="0" rtlCol="0" anchor="ctr"/>
          <a:lstStyle/>
          <a:p>
            <a:pPr indent="0" marL="0">
              <a:buNone/>
            </a:pPr>
            <a:r>
              <a:rPr lang="en-US" sz="850" dirty="0">
                <a:solidFill>
                  <a:srgbClr val="4A9EE0"/>
                </a:solidFill>
                <a:latin typeface="Courier New" pitchFamily="34" charset="0"/>
                <a:ea typeface="Courier New" pitchFamily="34" charset="-122"/>
                <a:cs typeface="Courier New" pitchFamily="34" charset="-120"/>
              </a:rPr>
              <a:t>IBM Cloud Object</a:t>
            </a:r>
            <a:endParaRPr lang="en-US" sz="850" dirty="0"/>
          </a:p>
          <a:p>
            <a:pPr indent="0" marL="0">
              <a:buNone/>
            </a:pPr>
            <a:r>
              <a:rPr lang="en-US" sz="850" dirty="0">
                <a:solidFill>
                  <a:srgbClr val="4A9EE0"/>
                </a:solidFill>
                <a:latin typeface="Courier New" pitchFamily="34" charset="0"/>
                <a:ea typeface="Courier New" pitchFamily="34" charset="-122"/>
                <a:cs typeface="Courier New" pitchFamily="34" charset="-120"/>
              </a:rPr>
              <a:t>Storage (Lite tier)</a:t>
            </a:r>
            <a:endParaRPr lang="en-US" sz="850" dirty="0"/>
          </a:p>
        </p:txBody>
      </p:sp>
      <p:sp>
        <p:nvSpPr>
          <p:cNvPr id="34" name="Shape 32"/>
          <p:cNvSpPr/>
          <p:nvPr/>
        </p:nvSpPr>
        <p:spPr>
          <a:xfrm>
            <a:off x="5852160" y="3136392"/>
            <a:ext cx="3108960" cy="548640"/>
          </a:xfrm>
          <a:prstGeom prst="rect">
            <a:avLst/>
          </a:prstGeom>
          <a:solidFill>
            <a:srgbClr val="111111"/>
          </a:solidFill>
          <a:ln w="3810">
            <a:solidFill>
              <a:srgbClr val="52525B"/>
            </a:solidFill>
            <a:prstDash val="solid"/>
          </a:ln>
        </p:spPr>
      </p:sp>
      <p:sp>
        <p:nvSpPr>
          <p:cNvPr id="35" name="Text 33"/>
          <p:cNvSpPr/>
          <p:nvPr/>
        </p:nvSpPr>
        <p:spPr>
          <a:xfrm>
            <a:off x="5925312" y="3172968"/>
            <a:ext cx="2999232" cy="475488"/>
          </a:xfrm>
          <a:prstGeom prst="rect">
            <a:avLst/>
          </a:prstGeom>
          <a:noFill/>
          <a:ln/>
        </p:spPr>
        <p:txBody>
          <a:bodyPr wrap="square" lIns="0" tIns="0" rIns="0" bIns="0" rtlCol="0" anchor="ctr"/>
          <a:lstStyle/>
          <a:p>
            <a:pPr indent="0" marL="0">
              <a:buNone/>
            </a:pPr>
            <a:r>
              <a:rPr lang="en-US" sz="850" dirty="0">
                <a:solidFill>
                  <a:srgbClr val="E5FF00"/>
                </a:solidFill>
                <a:latin typeface="Courier New" pitchFamily="34" charset="0"/>
                <a:ea typeface="Courier New" pitchFamily="34" charset="-122"/>
                <a:cs typeface="Courier New" pitchFamily="34" charset="-120"/>
              </a:rPr>
              <a:t>MinIO (S3-API compatible)</a:t>
            </a:r>
            <a:endParaRPr lang="en-US" sz="850" dirty="0"/>
          </a:p>
          <a:p>
            <a:pPr indent="0" marL="0">
              <a:buNone/>
            </a:pPr>
            <a:r>
              <a:rPr lang="en-US" sz="850" dirty="0">
                <a:solidFill>
                  <a:srgbClr val="E5FF00"/>
                </a:solidFill>
                <a:latin typeface="Courier New" pitchFamily="34" charset="0"/>
                <a:ea typeface="Courier New" pitchFamily="34" charset="-122"/>
                <a:cs typeface="Courier New" pitchFamily="34" charset="-120"/>
              </a:rPr>
              <a:t>Docker container</a:t>
            </a:r>
            <a:endParaRPr lang="en-US" sz="850" dirty="0"/>
          </a:p>
        </p:txBody>
      </p:sp>
      <p:sp>
        <p:nvSpPr>
          <p:cNvPr id="36" name="Shape 34"/>
          <p:cNvSpPr/>
          <p:nvPr/>
        </p:nvSpPr>
        <p:spPr>
          <a:xfrm>
            <a:off x="365760" y="3730752"/>
            <a:ext cx="2103120" cy="548640"/>
          </a:xfrm>
          <a:prstGeom prst="rect">
            <a:avLst/>
          </a:prstGeom>
          <a:solidFill>
            <a:srgbClr val="0A0A0A"/>
          </a:solidFill>
          <a:ln w="3810">
            <a:solidFill>
              <a:srgbClr val="52525B"/>
            </a:solidFill>
            <a:prstDash val="solid"/>
          </a:ln>
        </p:spPr>
      </p:sp>
      <p:sp>
        <p:nvSpPr>
          <p:cNvPr id="37" name="Text 35"/>
          <p:cNvSpPr/>
          <p:nvPr/>
        </p:nvSpPr>
        <p:spPr>
          <a:xfrm>
            <a:off x="438912" y="3767328"/>
            <a:ext cx="1993392" cy="475488"/>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Governance</a:t>
            </a:r>
            <a:endParaRPr lang="en-US" sz="850" dirty="0"/>
          </a:p>
        </p:txBody>
      </p:sp>
      <p:sp>
        <p:nvSpPr>
          <p:cNvPr id="38" name="Shape 36"/>
          <p:cNvSpPr/>
          <p:nvPr/>
        </p:nvSpPr>
        <p:spPr>
          <a:xfrm>
            <a:off x="2560320" y="3730752"/>
            <a:ext cx="3200400" cy="548640"/>
          </a:xfrm>
          <a:prstGeom prst="rect">
            <a:avLst/>
          </a:prstGeom>
          <a:solidFill>
            <a:srgbClr val="0A0A0A"/>
          </a:solidFill>
          <a:ln w="3810">
            <a:solidFill>
              <a:srgbClr val="52525B"/>
            </a:solidFill>
            <a:prstDash val="solid"/>
          </a:ln>
        </p:spPr>
      </p:sp>
      <p:sp>
        <p:nvSpPr>
          <p:cNvPr id="39" name="Text 37"/>
          <p:cNvSpPr/>
          <p:nvPr/>
        </p:nvSpPr>
        <p:spPr>
          <a:xfrm>
            <a:off x="2633472" y="3767328"/>
            <a:ext cx="3090672" cy="475488"/>
          </a:xfrm>
          <a:prstGeom prst="rect">
            <a:avLst/>
          </a:prstGeom>
          <a:noFill/>
          <a:ln/>
        </p:spPr>
        <p:txBody>
          <a:bodyPr wrap="square" lIns="0" tIns="0" rIns="0" bIns="0" rtlCol="0" anchor="ctr"/>
          <a:lstStyle/>
          <a:p>
            <a:pPr indent="0" marL="0">
              <a:buNone/>
            </a:pPr>
            <a:r>
              <a:rPr lang="en-US" sz="850" dirty="0">
                <a:solidFill>
                  <a:srgbClr val="4A9EE0"/>
                </a:solidFill>
                <a:latin typeface="Courier New" pitchFamily="34" charset="0"/>
                <a:ea typeface="Courier New" pitchFamily="34" charset="-122"/>
                <a:cs typeface="Courier New" pitchFamily="34" charset="-120"/>
              </a:rPr>
              <a:t>watsonx.governance</a:t>
            </a:r>
            <a:endParaRPr lang="en-US" sz="850" dirty="0"/>
          </a:p>
          <a:p>
            <a:pPr indent="0" marL="0">
              <a:buNone/>
            </a:pPr>
            <a:r>
              <a:rPr lang="en-US" sz="850" dirty="0">
                <a:solidFill>
                  <a:srgbClr val="4A9EE0"/>
                </a:solidFill>
                <a:latin typeface="Courier New" pitchFamily="34" charset="0"/>
                <a:ea typeface="Courier New" pitchFamily="34" charset="-122"/>
                <a:cs typeface="Courier New" pitchFamily="34" charset="-120"/>
              </a:rPr>
              <a:t>AI Factsheets + Risk Atlas</a:t>
            </a:r>
            <a:endParaRPr lang="en-US" sz="850" dirty="0"/>
          </a:p>
        </p:txBody>
      </p:sp>
      <p:sp>
        <p:nvSpPr>
          <p:cNvPr id="40" name="Shape 38"/>
          <p:cNvSpPr/>
          <p:nvPr/>
        </p:nvSpPr>
        <p:spPr>
          <a:xfrm>
            <a:off x="5852160" y="3730752"/>
            <a:ext cx="3108960" cy="548640"/>
          </a:xfrm>
          <a:prstGeom prst="rect">
            <a:avLst/>
          </a:prstGeom>
          <a:solidFill>
            <a:srgbClr val="0A0A0A"/>
          </a:solidFill>
          <a:ln w="3810">
            <a:solidFill>
              <a:srgbClr val="52525B"/>
            </a:solidFill>
            <a:prstDash val="solid"/>
          </a:ln>
        </p:spPr>
      </p:sp>
      <p:sp>
        <p:nvSpPr>
          <p:cNvPr id="41" name="Text 39"/>
          <p:cNvSpPr/>
          <p:nvPr/>
        </p:nvSpPr>
        <p:spPr>
          <a:xfrm>
            <a:off x="5925312" y="3767328"/>
            <a:ext cx="2999232" cy="475488"/>
          </a:xfrm>
          <a:prstGeom prst="rect">
            <a:avLst/>
          </a:prstGeom>
          <a:noFill/>
          <a:ln/>
        </p:spPr>
        <p:txBody>
          <a:bodyPr wrap="square" lIns="0" tIns="0" rIns="0" bIns="0" rtlCol="0" anchor="ctr"/>
          <a:lstStyle/>
          <a:p>
            <a:pPr indent="0" marL="0">
              <a:buNone/>
            </a:pPr>
            <a:r>
              <a:rPr lang="en-US" sz="850" dirty="0">
                <a:solidFill>
                  <a:srgbClr val="E5FF00"/>
                </a:solidFill>
                <a:latin typeface="Courier New" pitchFamily="34" charset="0"/>
                <a:ea typeface="Courier New" pitchFamily="34" charset="-122"/>
                <a:cs typeface="Courier New" pitchFamily="34" charset="-120"/>
              </a:rPr>
              <a:t>Ragas eval harness</a:t>
            </a:r>
            <a:endParaRPr lang="en-US" sz="850" dirty="0"/>
          </a:p>
          <a:p>
            <a:pPr indent="0" marL="0">
              <a:buNone/>
            </a:pPr>
            <a:r>
              <a:rPr lang="en-US" sz="850" dirty="0">
                <a:solidFill>
                  <a:srgbClr val="E5FF00"/>
                </a:solidFill>
                <a:latin typeface="Courier New" pitchFamily="34" charset="0"/>
                <a:ea typeface="Courier New" pitchFamily="34" charset="-122"/>
                <a:cs typeface="Courier New" pitchFamily="34" charset="-120"/>
              </a:rPr>
              <a:t>JSON-lines lineage log</a:t>
            </a:r>
            <a:endParaRPr lang="en-US" sz="850" dirty="0"/>
          </a:p>
        </p:txBody>
      </p:sp>
      <p:sp>
        <p:nvSpPr>
          <p:cNvPr id="42" name="Shape 40"/>
          <p:cNvSpPr/>
          <p:nvPr/>
        </p:nvSpPr>
        <p:spPr>
          <a:xfrm>
            <a:off x="365760" y="4325112"/>
            <a:ext cx="2103120" cy="548640"/>
          </a:xfrm>
          <a:prstGeom prst="rect">
            <a:avLst/>
          </a:prstGeom>
          <a:solidFill>
            <a:srgbClr val="111111"/>
          </a:solidFill>
          <a:ln w="3810">
            <a:solidFill>
              <a:srgbClr val="52525B"/>
            </a:solidFill>
            <a:prstDash val="solid"/>
          </a:ln>
        </p:spPr>
      </p:sp>
      <p:sp>
        <p:nvSpPr>
          <p:cNvPr id="43" name="Text 41"/>
          <p:cNvSpPr/>
          <p:nvPr/>
        </p:nvSpPr>
        <p:spPr>
          <a:xfrm>
            <a:off x="438912" y="4361688"/>
            <a:ext cx="1993392" cy="475488"/>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Compute</a:t>
            </a:r>
            <a:endParaRPr lang="en-US" sz="850" dirty="0"/>
          </a:p>
        </p:txBody>
      </p:sp>
      <p:sp>
        <p:nvSpPr>
          <p:cNvPr id="44" name="Shape 42"/>
          <p:cNvSpPr/>
          <p:nvPr/>
        </p:nvSpPr>
        <p:spPr>
          <a:xfrm>
            <a:off x="2560320" y="4325112"/>
            <a:ext cx="3200400" cy="548640"/>
          </a:xfrm>
          <a:prstGeom prst="rect">
            <a:avLst/>
          </a:prstGeom>
          <a:solidFill>
            <a:srgbClr val="111111"/>
          </a:solidFill>
          <a:ln w="3810">
            <a:solidFill>
              <a:srgbClr val="52525B"/>
            </a:solidFill>
            <a:prstDash val="solid"/>
          </a:ln>
        </p:spPr>
      </p:sp>
      <p:sp>
        <p:nvSpPr>
          <p:cNvPr id="45" name="Text 43"/>
          <p:cNvSpPr/>
          <p:nvPr/>
        </p:nvSpPr>
        <p:spPr>
          <a:xfrm>
            <a:off x="2633472" y="4361688"/>
            <a:ext cx="3090672" cy="475488"/>
          </a:xfrm>
          <a:prstGeom prst="rect">
            <a:avLst/>
          </a:prstGeom>
          <a:noFill/>
          <a:ln/>
        </p:spPr>
        <p:txBody>
          <a:bodyPr wrap="square" lIns="0" tIns="0" rIns="0" bIns="0" rtlCol="0" anchor="ctr"/>
          <a:lstStyle/>
          <a:p>
            <a:pPr indent="0" marL="0">
              <a:buNone/>
            </a:pPr>
            <a:r>
              <a:rPr lang="en-US" sz="850" dirty="0">
                <a:solidFill>
                  <a:srgbClr val="4A9EE0"/>
                </a:solidFill>
                <a:latin typeface="Courier New" pitchFamily="34" charset="0"/>
                <a:ea typeface="Courier New" pitchFamily="34" charset="-122"/>
                <a:cs typeface="Courier New" pitchFamily="34" charset="-120"/>
              </a:rPr>
              <a:t>IBM Code Engine</a:t>
            </a:r>
            <a:endParaRPr lang="en-US" sz="850" dirty="0"/>
          </a:p>
          <a:p>
            <a:pPr indent="0" marL="0">
              <a:buNone/>
            </a:pPr>
            <a:r>
              <a:rPr lang="en-US" sz="850" dirty="0">
                <a:solidFill>
                  <a:srgbClr val="4A9EE0"/>
                </a:solidFill>
                <a:latin typeface="Courier New" pitchFamily="34" charset="0"/>
                <a:ea typeface="Courier New" pitchFamily="34" charset="-122"/>
                <a:cs typeface="Courier New" pitchFamily="34" charset="-120"/>
              </a:rPr>
              <a:t>Serverless containers</a:t>
            </a:r>
            <a:endParaRPr lang="en-US" sz="850" dirty="0"/>
          </a:p>
        </p:txBody>
      </p:sp>
      <p:sp>
        <p:nvSpPr>
          <p:cNvPr id="46" name="Shape 44"/>
          <p:cNvSpPr/>
          <p:nvPr/>
        </p:nvSpPr>
        <p:spPr>
          <a:xfrm>
            <a:off x="5852160" y="4325112"/>
            <a:ext cx="3108960" cy="548640"/>
          </a:xfrm>
          <a:prstGeom prst="rect">
            <a:avLst/>
          </a:prstGeom>
          <a:solidFill>
            <a:srgbClr val="111111"/>
          </a:solidFill>
          <a:ln w="3810">
            <a:solidFill>
              <a:srgbClr val="52525B"/>
            </a:solidFill>
            <a:prstDash val="solid"/>
          </a:ln>
        </p:spPr>
      </p:sp>
      <p:sp>
        <p:nvSpPr>
          <p:cNvPr id="47" name="Text 45"/>
          <p:cNvSpPr/>
          <p:nvPr/>
        </p:nvSpPr>
        <p:spPr>
          <a:xfrm>
            <a:off x="5925312" y="4361688"/>
            <a:ext cx="2999232" cy="475488"/>
          </a:xfrm>
          <a:prstGeom prst="rect">
            <a:avLst/>
          </a:prstGeom>
          <a:noFill/>
          <a:ln/>
        </p:spPr>
        <p:txBody>
          <a:bodyPr wrap="square" lIns="0" tIns="0" rIns="0" bIns="0" rtlCol="0" anchor="ctr"/>
          <a:lstStyle/>
          <a:p>
            <a:pPr indent="0" marL="0">
              <a:buNone/>
            </a:pPr>
            <a:r>
              <a:rPr lang="en-US" sz="850" dirty="0">
                <a:solidFill>
                  <a:srgbClr val="E5FF00"/>
                </a:solidFill>
                <a:latin typeface="Courier New" pitchFamily="34" charset="0"/>
                <a:ea typeface="Courier New" pitchFamily="34" charset="-122"/>
                <a:cs typeface="Courier New" pitchFamily="34" charset="-120"/>
              </a:rPr>
              <a:t>docker-compose</a:t>
            </a:r>
            <a:endParaRPr lang="en-US" sz="850" dirty="0"/>
          </a:p>
          <a:p>
            <a:pPr indent="0" marL="0">
              <a:buNone/>
            </a:pPr>
            <a:r>
              <a:rPr lang="en-US" sz="850" dirty="0">
                <a:solidFill>
                  <a:srgbClr val="E5FF00"/>
                </a:solidFill>
                <a:latin typeface="Courier New" pitchFamily="34" charset="0"/>
                <a:ea typeface="Courier New" pitchFamily="34" charset="-122"/>
                <a:cs typeface="Courier New" pitchFamily="34" charset="-120"/>
              </a:rPr>
              <a:t>Identical Dockerfiles</a:t>
            </a:r>
            <a:endParaRPr lang="en-US" sz="850" dirty="0"/>
          </a:p>
        </p:txBody>
      </p:sp>
      <p:sp>
        <p:nvSpPr>
          <p:cNvPr id="48" name="Shape 46"/>
          <p:cNvSpPr/>
          <p:nvPr/>
        </p:nvSpPr>
        <p:spPr>
          <a:xfrm>
            <a:off x="365760" y="4846320"/>
            <a:ext cx="8412480" cy="201168"/>
          </a:xfrm>
          <a:prstGeom prst="roundRect">
            <a:avLst>
              <a:gd name="adj" fmla="val 18182"/>
            </a:avLst>
          </a:prstGeom>
          <a:solidFill>
            <a:srgbClr val="111111"/>
          </a:solidFill>
          <a:ln w="10160">
            <a:solidFill>
              <a:srgbClr val="E5FF00"/>
            </a:solidFill>
            <a:prstDash val="solid"/>
          </a:ln>
        </p:spPr>
      </p:sp>
      <p:sp>
        <p:nvSpPr>
          <p:cNvPr id="49" name="Text 47"/>
          <p:cNvSpPr/>
          <p:nvPr/>
        </p:nvSpPr>
        <p:spPr>
          <a:xfrm>
            <a:off x="502920" y="4873752"/>
            <a:ext cx="8229600" cy="146304"/>
          </a:xfrm>
          <a:prstGeom prst="rect">
            <a:avLst/>
          </a:prstGeom>
          <a:noFill/>
          <a:ln/>
        </p:spPr>
        <p:txBody>
          <a:bodyPr wrap="square" lIns="0" tIns="0" rIns="0" bIns="0" rtlCol="0" anchor="ctr"/>
          <a:lstStyle/>
          <a:p>
            <a:pPr algn="ctr" indent="0" marL="0">
              <a:buNone/>
            </a:pPr>
            <a:r>
              <a:rPr lang="en-US" sz="750" dirty="0">
                <a:solidFill>
                  <a:srgbClr val="E5FF00"/>
                </a:solidFill>
                <a:latin typeface="Courier New" pitchFamily="34" charset="0"/>
                <a:ea typeface="Courier New" pitchFamily="34" charset="-122"/>
                <a:cs typeface="Courier New" pitchFamily="34" charset="-120"/>
              </a:rPr>
              <a:t>MOCK_MODE=true — one env var. All IBM services swap to local. Recruiter clones repo, runs docker compose up, full stack in 2 minutes. Zero cloud keys needed.</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007A"/>
          </a:solidFill>
          <a:ln w="12700">
            <a:solidFill>
              <a:srgbClr val="FF007A"/>
            </a:solidFill>
            <a:prstDash val="solid"/>
          </a:ln>
        </p:spPr>
      </p:sp>
      <p:sp>
        <p:nvSpPr>
          <p:cNvPr id="3" name="Text 1"/>
          <p:cNvSpPr/>
          <p:nvPr/>
        </p:nvSpPr>
        <p:spPr>
          <a:xfrm>
            <a:off x="457200" y="182880"/>
            <a:ext cx="8229600" cy="274320"/>
          </a:xfrm>
          <a:prstGeom prst="rect">
            <a:avLst/>
          </a:prstGeom>
          <a:noFill/>
          <a:ln/>
        </p:spPr>
        <p:txBody>
          <a:bodyPr wrap="square" lIns="0" tIns="0" rIns="0" bIns="0" rtlCol="0" anchor="ctr"/>
          <a:lstStyle/>
          <a:p>
            <a:pPr indent="0" marL="0">
              <a:buNone/>
            </a:pPr>
            <a:r>
              <a:rPr lang="en-US" sz="800" b="1" spc="200" kern="0" dirty="0">
                <a:solidFill>
                  <a:srgbClr val="FF007A"/>
                </a:solidFill>
                <a:latin typeface="Arial" pitchFamily="34" charset="0"/>
                <a:ea typeface="Arial" pitchFamily="34" charset="-122"/>
                <a:cs typeface="Arial" pitchFamily="34" charset="-120"/>
              </a:rPr>
              <a:t>LIVE DEMO</a:t>
            </a:r>
            <a:endParaRPr lang="en-US" sz="800" dirty="0"/>
          </a:p>
        </p:txBody>
      </p:sp>
      <p:sp>
        <p:nvSpPr>
          <p:cNvPr id="4" name="Text 2"/>
          <p:cNvSpPr/>
          <p:nvPr/>
        </p:nvSpPr>
        <p:spPr>
          <a:xfrm>
            <a:off x="457200" y="457200"/>
            <a:ext cx="8229600"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Deployed on Vercel + Railway · GitHub: Rajal-ui/sentinel-spec-core</a:t>
            </a:r>
            <a:endParaRPr lang="en-US" sz="2000" dirty="0"/>
          </a:p>
        </p:txBody>
      </p:sp>
      <p:sp>
        <p:nvSpPr>
          <p:cNvPr id="5" name="Shape 3"/>
          <p:cNvSpPr/>
          <p:nvPr/>
        </p:nvSpPr>
        <p:spPr>
          <a:xfrm>
            <a:off x="457200" y="914400"/>
            <a:ext cx="8229600" cy="0"/>
          </a:xfrm>
          <a:prstGeom prst="line">
            <a:avLst/>
          </a:prstGeom>
          <a:noFill/>
          <a:ln w="6350">
            <a:solidFill>
              <a:srgbClr val="52525B"/>
            </a:solidFill>
            <a:prstDash val="solid"/>
          </a:ln>
        </p:spPr>
      </p:sp>
      <p:sp>
        <p:nvSpPr>
          <p:cNvPr id="6" name="Shape 4"/>
          <p:cNvSpPr/>
          <p:nvPr/>
        </p:nvSpPr>
        <p:spPr>
          <a:xfrm>
            <a:off x="365760" y="1051560"/>
            <a:ext cx="4206240" cy="1783080"/>
          </a:xfrm>
          <a:prstGeom prst="roundRect">
            <a:avLst>
              <a:gd name="adj" fmla="val 4103"/>
            </a:avLst>
          </a:prstGeom>
          <a:solidFill>
            <a:srgbClr val="0A0A0A"/>
          </a:solidFill>
          <a:ln w="12700">
            <a:solidFill>
              <a:srgbClr val="FF5C00"/>
            </a:solidFill>
            <a:prstDash val="solid"/>
          </a:ln>
          <a:effectLst>
            <a:outerShdw sx="100000" sy="100000" kx="0" ky="0" algn="bl" rotWithShape="0" blurRad="101600" dist="38100" dir="2700000">
              <a:srgbClr val="000000">
                <a:alpha val="35000"/>
              </a:srgbClr>
            </a:outerShdw>
          </a:effectLst>
        </p:spPr>
      </p:sp>
      <p:sp>
        <p:nvSpPr>
          <p:cNvPr id="7" name="Shape 5"/>
          <p:cNvSpPr/>
          <p:nvPr/>
        </p:nvSpPr>
        <p:spPr>
          <a:xfrm>
            <a:off x="502920" y="1188720"/>
            <a:ext cx="594360" cy="594360"/>
          </a:xfrm>
          <a:prstGeom prst="roundRect">
            <a:avLst>
              <a:gd name="adj" fmla="val 9231"/>
            </a:avLst>
          </a:prstGeom>
          <a:solidFill>
            <a:srgbClr val="FF5C00"/>
          </a:solidFill>
          <a:ln w="12700">
            <a:solidFill>
              <a:srgbClr val="FF5C00"/>
            </a:solidFill>
            <a:prstDash val="solid"/>
          </a:ln>
        </p:spPr>
      </p:sp>
      <p:sp>
        <p:nvSpPr>
          <p:cNvPr id="8" name="Text 6"/>
          <p:cNvSpPr/>
          <p:nvPr/>
        </p:nvSpPr>
        <p:spPr>
          <a:xfrm>
            <a:off x="502920" y="11887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01</a:t>
            </a:r>
            <a:endParaRPr lang="en-US" sz="1800" dirty="0"/>
          </a:p>
        </p:txBody>
      </p:sp>
      <p:sp>
        <p:nvSpPr>
          <p:cNvPr id="9" name="Text 7"/>
          <p:cNvSpPr/>
          <p:nvPr/>
        </p:nvSpPr>
        <p:spPr>
          <a:xfrm>
            <a:off x="1234440" y="1188720"/>
            <a:ext cx="3200400" cy="384048"/>
          </a:xfrm>
          <a:prstGeom prst="rect">
            <a:avLst/>
          </a:prstGeom>
          <a:noFill/>
          <a:ln/>
        </p:spPr>
        <p:txBody>
          <a:bodyPr wrap="square" lIns="0" tIns="0" rIns="0" bIns="0" rtlCol="0" anchor="ctr"/>
          <a:lstStyle/>
          <a:p>
            <a:pPr indent="0" marL="0">
              <a:buNone/>
            </a:pPr>
            <a:r>
              <a:rPr lang="en-US" sz="1100" b="1" dirty="0">
                <a:solidFill>
                  <a:srgbClr val="FF5C00"/>
                </a:solidFill>
                <a:latin typeface="Arial" pitchFamily="34" charset="0"/>
                <a:ea typeface="Arial" pitchFamily="34" charset="-122"/>
                <a:cs typeface="Arial" pitchFamily="34" charset="-120"/>
              </a:rPr>
              <a:t>Paste code with a PII violation</a:t>
            </a:r>
            <a:endParaRPr lang="en-US" sz="1100" dirty="0"/>
          </a:p>
        </p:txBody>
      </p:sp>
      <p:sp>
        <p:nvSpPr>
          <p:cNvPr id="10" name="Text 8"/>
          <p:cNvSpPr/>
          <p:nvPr/>
        </p:nvSpPr>
        <p:spPr>
          <a:xfrm>
            <a:off x="502920" y="1764792"/>
            <a:ext cx="3840480" cy="822960"/>
          </a:xfrm>
          <a:prstGeom prst="rect">
            <a:avLst/>
          </a:prstGeom>
          <a:noFill/>
          <a:ln/>
        </p:spPr>
        <p:txBody>
          <a:bodyPr wrap="square" lIns="0" tIns="0" rIns="0" bIns="0" rtlCol="0" anchor="ctr"/>
          <a:lstStyle/>
          <a:p>
            <a:pPr indent="0" marL="0">
              <a:buNone/>
            </a:pPr>
            <a:r>
              <a:rPr lang="en-US" sz="950" dirty="0">
                <a:solidFill>
                  <a:srgbClr val="A1A1AA"/>
                </a:solidFill>
                <a:latin typeface="Arial" pitchFamily="34" charset="0"/>
                <a:ea typeface="Arial" pitchFamily="34" charset="-122"/>
                <a:cs typeface="Arial" pitchFamily="34" charset="-120"/>
              </a:rPr>
              <a:t>Drop Python file into Agent Workspace. Legacy billing call triggers ADR-0042.</a:t>
            </a:r>
            <a:endParaRPr lang="en-US" sz="950" dirty="0"/>
          </a:p>
        </p:txBody>
      </p:sp>
      <p:sp>
        <p:nvSpPr>
          <p:cNvPr id="11" name="Shape 9"/>
          <p:cNvSpPr/>
          <p:nvPr/>
        </p:nvSpPr>
        <p:spPr>
          <a:xfrm>
            <a:off x="4754880" y="1051560"/>
            <a:ext cx="4206240" cy="1783080"/>
          </a:xfrm>
          <a:prstGeom prst="roundRect">
            <a:avLst>
              <a:gd name="adj" fmla="val 4103"/>
            </a:avLst>
          </a:prstGeom>
          <a:solidFill>
            <a:srgbClr val="0A0A0A"/>
          </a:solidFill>
          <a:ln w="12700">
            <a:solidFill>
              <a:srgbClr val="FF007A"/>
            </a:solidFill>
            <a:prstDash val="solid"/>
          </a:ln>
          <a:effectLst>
            <a:outerShdw sx="100000" sy="100000" kx="0" ky="0" algn="bl" rotWithShape="0" blurRad="101600" dist="38100" dir="2700000">
              <a:srgbClr val="000000">
                <a:alpha val="35000"/>
              </a:srgbClr>
            </a:outerShdw>
          </a:effectLst>
        </p:spPr>
      </p:sp>
      <p:sp>
        <p:nvSpPr>
          <p:cNvPr id="12" name="Shape 10"/>
          <p:cNvSpPr/>
          <p:nvPr/>
        </p:nvSpPr>
        <p:spPr>
          <a:xfrm>
            <a:off x="4892040" y="1188720"/>
            <a:ext cx="594360" cy="594360"/>
          </a:xfrm>
          <a:prstGeom prst="roundRect">
            <a:avLst>
              <a:gd name="adj" fmla="val 9231"/>
            </a:avLst>
          </a:prstGeom>
          <a:solidFill>
            <a:srgbClr val="FF007A"/>
          </a:solidFill>
          <a:ln w="12700">
            <a:solidFill>
              <a:srgbClr val="FF007A"/>
            </a:solidFill>
            <a:prstDash val="solid"/>
          </a:ln>
        </p:spPr>
      </p:sp>
      <p:sp>
        <p:nvSpPr>
          <p:cNvPr id="13" name="Text 11"/>
          <p:cNvSpPr/>
          <p:nvPr/>
        </p:nvSpPr>
        <p:spPr>
          <a:xfrm>
            <a:off x="4892040" y="11887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02</a:t>
            </a:r>
            <a:endParaRPr lang="en-US" sz="1800" dirty="0"/>
          </a:p>
        </p:txBody>
      </p:sp>
      <p:sp>
        <p:nvSpPr>
          <p:cNvPr id="14" name="Text 12"/>
          <p:cNvSpPr/>
          <p:nvPr/>
        </p:nvSpPr>
        <p:spPr>
          <a:xfrm>
            <a:off x="5623560" y="1188720"/>
            <a:ext cx="3200400" cy="384048"/>
          </a:xfrm>
          <a:prstGeom prst="rect">
            <a:avLst/>
          </a:prstGeom>
          <a:noFill/>
          <a:ln/>
        </p:spPr>
        <p:txBody>
          <a:bodyPr wrap="square" lIns="0" tIns="0" rIns="0" bIns="0" rtlCol="0" anchor="ctr"/>
          <a:lstStyle/>
          <a:p>
            <a:pPr indent="0" marL="0">
              <a:buNone/>
            </a:pPr>
            <a:r>
              <a:rPr lang="en-US" sz="1100" b="1" dirty="0">
                <a:solidFill>
                  <a:srgbClr val="FF007A"/>
                </a:solidFill>
                <a:latin typeface="Arial" pitchFamily="34" charset="0"/>
                <a:ea typeface="Arial" pitchFamily="34" charset="-122"/>
                <a:cs typeface="Arial" pitchFamily="34" charset="-120"/>
              </a:rPr>
              <a:t>Watch dual-agent pipeline run</a:t>
            </a:r>
            <a:endParaRPr lang="en-US" sz="1100" dirty="0"/>
          </a:p>
        </p:txBody>
      </p:sp>
      <p:sp>
        <p:nvSpPr>
          <p:cNvPr id="15" name="Text 13"/>
          <p:cNvSpPr/>
          <p:nvPr/>
        </p:nvSpPr>
        <p:spPr>
          <a:xfrm>
            <a:off x="4892040" y="1764792"/>
            <a:ext cx="3840480" cy="822960"/>
          </a:xfrm>
          <a:prstGeom prst="rect">
            <a:avLst/>
          </a:prstGeom>
          <a:noFill/>
          <a:ln/>
        </p:spPr>
        <p:txBody>
          <a:bodyPr wrap="square" lIns="0" tIns="0" rIns="0" bIns="0" rtlCol="0" anchor="ctr"/>
          <a:lstStyle/>
          <a:p>
            <a:pPr indent="0" marL="0">
              <a:buNone/>
            </a:pPr>
            <a:r>
              <a:rPr lang="en-US" sz="950" dirty="0">
                <a:solidFill>
                  <a:srgbClr val="A1A1AA"/>
                </a:solidFill>
                <a:latin typeface="Arial" pitchFamily="34" charset="0"/>
                <a:ea typeface="Arial" pitchFamily="34" charset="-122"/>
                <a:cs typeface="Arial" pitchFamily="34" charset="-120"/>
              </a:rPr>
              <a:t>View AI Reasoning drawer shows live: Retrieve → Classify → Critique → Explain.</a:t>
            </a:r>
            <a:endParaRPr lang="en-US" sz="950" dirty="0"/>
          </a:p>
        </p:txBody>
      </p:sp>
      <p:sp>
        <p:nvSpPr>
          <p:cNvPr id="16" name="Shape 14"/>
          <p:cNvSpPr/>
          <p:nvPr/>
        </p:nvSpPr>
        <p:spPr>
          <a:xfrm>
            <a:off x="365760" y="2971800"/>
            <a:ext cx="4206240" cy="1783080"/>
          </a:xfrm>
          <a:prstGeom prst="roundRect">
            <a:avLst>
              <a:gd name="adj" fmla="val 4103"/>
            </a:avLst>
          </a:prstGeom>
          <a:solidFill>
            <a:srgbClr val="0A0A0A"/>
          </a:solidFill>
          <a:ln w="12700">
            <a:solidFill>
              <a:srgbClr val="E8A54B"/>
            </a:solidFill>
            <a:prstDash val="solid"/>
          </a:ln>
          <a:effectLst>
            <a:outerShdw sx="100000" sy="100000" kx="0" ky="0" algn="bl" rotWithShape="0" blurRad="101600" dist="38100" dir="2700000">
              <a:srgbClr val="000000">
                <a:alpha val="35000"/>
              </a:srgbClr>
            </a:outerShdw>
          </a:effectLst>
        </p:spPr>
      </p:sp>
      <p:sp>
        <p:nvSpPr>
          <p:cNvPr id="17" name="Shape 15"/>
          <p:cNvSpPr/>
          <p:nvPr/>
        </p:nvSpPr>
        <p:spPr>
          <a:xfrm>
            <a:off x="502920" y="3108960"/>
            <a:ext cx="594360" cy="594360"/>
          </a:xfrm>
          <a:prstGeom prst="roundRect">
            <a:avLst>
              <a:gd name="adj" fmla="val 9231"/>
            </a:avLst>
          </a:prstGeom>
          <a:solidFill>
            <a:srgbClr val="E8A54B"/>
          </a:solidFill>
          <a:ln w="12700">
            <a:solidFill>
              <a:srgbClr val="E8A54B"/>
            </a:solidFill>
            <a:prstDash val="solid"/>
          </a:ln>
        </p:spPr>
      </p:sp>
      <p:sp>
        <p:nvSpPr>
          <p:cNvPr id="18" name="Text 16"/>
          <p:cNvSpPr/>
          <p:nvPr/>
        </p:nvSpPr>
        <p:spPr>
          <a:xfrm>
            <a:off x="502920" y="310896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03</a:t>
            </a:r>
            <a:endParaRPr lang="en-US" sz="1800" dirty="0"/>
          </a:p>
        </p:txBody>
      </p:sp>
      <p:sp>
        <p:nvSpPr>
          <p:cNvPr id="19" name="Text 17"/>
          <p:cNvSpPr/>
          <p:nvPr/>
        </p:nvSpPr>
        <p:spPr>
          <a:xfrm>
            <a:off x="1234440" y="3108960"/>
            <a:ext cx="3200400" cy="384048"/>
          </a:xfrm>
          <a:prstGeom prst="rect">
            <a:avLst/>
          </a:prstGeom>
          <a:noFill/>
          <a:ln/>
        </p:spPr>
        <p:txBody>
          <a:bodyPr wrap="square" lIns="0" tIns="0" rIns="0" bIns="0" rtlCol="0" anchor="ctr"/>
          <a:lstStyle/>
          <a:p>
            <a:pPr indent="0" marL="0">
              <a:buNone/>
            </a:pPr>
            <a:r>
              <a:rPr lang="en-US" sz="1100" b="1" dirty="0">
                <a:solidFill>
                  <a:srgbClr val="E8A54B"/>
                </a:solidFill>
                <a:latin typeface="Arial" pitchFamily="34" charset="0"/>
                <a:ea typeface="Arial" pitchFamily="34" charset="-122"/>
                <a:cs typeface="Arial" pitchFamily="34" charset="-120"/>
              </a:rPr>
              <a:t>See amber finding card appear</a:t>
            </a:r>
            <a:endParaRPr lang="en-US" sz="1100" dirty="0"/>
          </a:p>
        </p:txBody>
      </p:sp>
      <p:sp>
        <p:nvSpPr>
          <p:cNvPr id="20" name="Text 18"/>
          <p:cNvSpPr/>
          <p:nvPr/>
        </p:nvSpPr>
        <p:spPr>
          <a:xfrm>
            <a:off x="502920" y="3685032"/>
            <a:ext cx="3840480" cy="822960"/>
          </a:xfrm>
          <a:prstGeom prst="rect">
            <a:avLst/>
          </a:prstGeom>
          <a:noFill/>
          <a:ln/>
        </p:spPr>
        <p:txBody>
          <a:bodyPr wrap="square" lIns="0" tIns="0" rIns="0" bIns="0" rtlCol="0" anchor="ctr"/>
          <a:lstStyle/>
          <a:p>
            <a:pPr indent="0" marL="0">
              <a:buNone/>
            </a:pPr>
            <a:r>
              <a:rPr lang="en-US" sz="950" dirty="0">
                <a:solidFill>
                  <a:srgbClr val="A1A1AA"/>
                </a:solidFill>
                <a:latin typeface="Arial" pitchFamily="34" charset="0"/>
                <a:ea typeface="Arial" pitchFamily="34" charset="-122"/>
                <a:cs typeface="Arial" pitchFamily="34" charset="-120"/>
              </a:rPr>
              <a:t>⚠ POLICY VIOLATION · HIGH · 94% confidence. Citation to ADR-0042. Diff suggestion.</a:t>
            </a:r>
            <a:endParaRPr lang="en-US" sz="950" dirty="0"/>
          </a:p>
        </p:txBody>
      </p:sp>
      <p:sp>
        <p:nvSpPr>
          <p:cNvPr id="21" name="Shape 19"/>
          <p:cNvSpPr/>
          <p:nvPr/>
        </p:nvSpPr>
        <p:spPr>
          <a:xfrm>
            <a:off x="4754880" y="2971800"/>
            <a:ext cx="4206240" cy="1783080"/>
          </a:xfrm>
          <a:prstGeom prst="roundRect">
            <a:avLst>
              <a:gd name="adj" fmla="val 4103"/>
            </a:avLst>
          </a:prstGeom>
          <a:solidFill>
            <a:srgbClr val="0A0A0A"/>
          </a:solidFill>
          <a:ln w="12700">
            <a:solidFill>
              <a:srgbClr val="E5FF00"/>
            </a:solidFill>
            <a:prstDash val="solid"/>
          </a:ln>
          <a:effectLst>
            <a:outerShdw sx="100000" sy="100000" kx="0" ky="0" algn="bl" rotWithShape="0" blurRad="101600" dist="38100" dir="2700000">
              <a:srgbClr val="000000">
                <a:alpha val="35000"/>
              </a:srgbClr>
            </a:outerShdw>
          </a:effectLst>
        </p:spPr>
      </p:sp>
      <p:sp>
        <p:nvSpPr>
          <p:cNvPr id="22" name="Shape 20"/>
          <p:cNvSpPr/>
          <p:nvPr/>
        </p:nvSpPr>
        <p:spPr>
          <a:xfrm>
            <a:off x="4892040" y="3108960"/>
            <a:ext cx="594360" cy="594360"/>
          </a:xfrm>
          <a:prstGeom prst="roundRect">
            <a:avLst>
              <a:gd name="adj" fmla="val 9231"/>
            </a:avLst>
          </a:prstGeom>
          <a:solidFill>
            <a:srgbClr val="E5FF00"/>
          </a:solidFill>
          <a:ln w="12700">
            <a:solidFill>
              <a:srgbClr val="E5FF00"/>
            </a:solidFill>
            <a:prstDash val="solid"/>
          </a:ln>
        </p:spPr>
      </p:sp>
      <p:sp>
        <p:nvSpPr>
          <p:cNvPr id="23" name="Text 21"/>
          <p:cNvSpPr/>
          <p:nvPr/>
        </p:nvSpPr>
        <p:spPr>
          <a:xfrm>
            <a:off x="4892040" y="3108960"/>
            <a:ext cx="594360" cy="59436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04</a:t>
            </a:r>
            <a:endParaRPr lang="en-US" sz="1800" dirty="0"/>
          </a:p>
        </p:txBody>
      </p:sp>
      <p:sp>
        <p:nvSpPr>
          <p:cNvPr id="24" name="Text 22"/>
          <p:cNvSpPr/>
          <p:nvPr/>
        </p:nvSpPr>
        <p:spPr>
          <a:xfrm>
            <a:off x="5623560" y="3108960"/>
            <a:ext cx="3200400" cy="384048"/>
          </a:xfrm>
          <a:prstGeom prst="rect">
            <a:avLst/>
          </a:prstGeom>
          <a:noFill/>
          <a:ln/>
        </p:spPr>
        <p:txBody>
          <a:bodyPr wrap="square" lIns="0" tIns="0" rIns="0" bIns="0" rtlCol="0" anchor="ctr"/>
          <a:lstStyle/>
          <a:p>
            <a:pPr indent="0" marL="0">
              <a:buNone/>
            </a:pPr>
            <a:r>
              <a:rPr lang="en-US" sz="1100" b="1" dirty="0">
                <a:solidFill>
                  <a:srgbClr val="E5FF00"/>
                </a:solidFill>
                <a:latin typeface="Arial" pitchFamily="34" charset="0"/>
                <a:ea typeface="Arial" pitchFamily="34" charset="-122"/>
                <a:cs typeface="Arial" pitchFamily="34" charset="-120"/>
              </a:rPr>
              <a:t>Query audit console</a:t>
            </a:r>
            <a:endParaRPr lang="en-US" sz="1100" dirty="0"/>
          </a:p>
        </p:txBody>
      </p:sp>
      <p:sp>
        <p:nvSpPr>
          <p:cNvPr id="25" name="Text 23"/>
          <p:cNvSpPr/>
          <p:nvPr/>
        </p:nvSpPr>
        <p:spPr>
          <a:xfrm>
            <a:off x="4892040" y="3685032"/>
            <a:ext cx="3840480" cy="822960"/>
          </a:xfrm>
          <a:prstGeom prst="rect">
            <a:avLst/>
          </a:prstGeom>
          <a:noFill/>
          <a:ln/>
        </p:spPr>
        <p:txBody>
          <a:bodyPr wrap="square" lIns="0" tIns="0" rIns="0" bIns="0" rtlCol="0" anchor="ctr"/>
          <a:lstStyle/>
          <a:p>
            <a:pPr indent="0" marL="0">
              <a:buNone/>
            </a:pPr>
            <a:r>
              <a:rPr lang="en-US" sz="950" dirty="0">
                <a:solidFill>
                  <a:srgbClr val="A1A1AA"/>
                </a:solidFill>
                <a:latin typeface="Arial" pitchFamily="34" charset="0"/>
                <a:ea typeface="Arial" pitchFamily="34" charset="-122"/>
                <a:cs typeface="Arial" pitchFamily="34" charset="-120"/>
              </a:rPr>
              <a:t>Filter by policy domain: security. See immutable lineage record. Export to PDF.</a:t>
            </a:r>
            <a:endParaRPr lang="en-US" sz="950" dirty="0"/>
          </a:p>
        </p:txBody>
      </p:sp>
      <p:sp>
        <p:nvSpPr>
          <p:cNvPr id="26" name="Shape 24"/>
          <p:cNvSpPr/>
          <p:nvPr/>
        </p:nvSpPr>
        <p:spPr>
          <a:xfrm>
            <a:off x="365760" y="4754880"/>
            <a:ext cx="8412480" cy="292608"/>
          </a:xfrm>
          <a:prstGeom prst="roundRect">
            <a:avLst>
              <a:gd name="adj" fmla="val 15625"/>
            </a:avLst>
          </a:prstGeom>
          <a:solidFill>
            <a:srgbClr val="111111"/>
          </a:solidFill>
          <a:ln w="6350">
            <a:solidFill>
              <a:srgbClr val="52525B"/>
            </a:solidFill>
            <a:prstDash val="solid"/>
          </a:ln>
        </p:spPr>
      </p:sp>
      <p:sp>
        <p:nvSpPr>
          <p:cNvPr id="27" name="Text 25"/>
          <p:cNvSpPr/>
          <p:nvPr/>
        </p:nvSpPr>
        <p:spPr>
          <a:xfrm>
            <a:off x="502920" y="4782312"/>
            <a:ext cx="8229600" cy="237744"/>
          </a:xfrm>
          <a:prstGeom prst="rect">
            <a:avLst/>
          </a:prstGeom>
          <a:noFill/>
          <a:ln/>
        </p:spPr>
        <p:txBody>
          <a:bodyPr wrap="square" lIns="0" tIns="0" rIns="0" bIns="0" rtlCol="0" anchor="ctr"/>
          <a:lstStyle/>
          <a:p>
            <a:pPr algn="ctr" indent="0" marL="0">
              <a:buNone/>
            </a:pPr>
            <a:r>
              <a:rPr lang="en-US" sz="900" dirty="0">
                <a:solidFill>
                  <a:srgbClr val="A1A1AA"/>
                </a:solidFill>
                <a:latin typeface="Courier New" pitchFamily="34" charset="0"/>
                <a:ea typeface="Courier New" pitchFamily="34" charset="-122"/>
                <a:cs typeface="Courier New" pitchFamily="34" charset="-120"/>
              </a:rPr>
              <a:t>Live Demo: sentinel-spec.vercel.app  ·  GitHub: github.com/Rajal-ui/sentinel-spec-core  ·  MOCK_MODE: docker compose up</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FF00"/>
          </a:solidFill>
          <a:ln w="12700">
            <a:solidFill>
              <a:srgbClr val="E5FF00"/>
            </a:solidFill>
            <a:prstDash val="solid"/>
          </a:ln>
        </p:spPr>
      </p:sp>
      <p:sp>
        <p:nvSpPr>
          <p:cNvPr id="3" name="Text 1"/>
          <p:cNvSpPr/>
          <p:nvPr/>
        </p:nvSpPr>
        <p:spPr>
          <a:xfrm>
            <a:off x="457200" y="182880"/>
            <a:ext cx="8229600" cy="274320"/>
          </a:xfrm>
          <a:prstGeom prst="rect">
            <a:avLst/>
          </a:prstGeom>
          <a:noFill/>
          <a:ln/>
        </p:spPr>
        <p:txBody>
          <a:bodyPr wrap="square" lIns="0" tIns="0" rIns="0" bIns="0" rtlCol="0" anchor="ctr"/>
          <a:lstStyle/>
          <a:p>
            <a:pPr indent="0" marL="0">
              <a:buNone/>
            </a:pPr>
            <a:r>
              <a:rPr lang="en-US" sz="800" b="1" spc="200" kern="0" dirty="0">
                <a:solidFill>
                  <a:srgbClr val="E5FF00"/>
                </a:solidFill>
                <a:latin typeface="Arial" pitchFamily="34" charset="0"/>
                <a:ea typeface="Arial" pitchFamily="34" charset="-122"/>
                <a:cs typeface="Arial" pitchFamily="34" charset="-120"/>
              </a:rPr>
              <a:t>RESULTS &amp; METRICS</a:t>
            </a:r>
            <a:endParaRPr lang="en-US" sz="800" dirty="0"/>
          </a:p>
        </p:txBody>
      </p:sp>
      <p:sp>
        <p:nvSpPr>
          <p:cNvPr id="4" name="Text 2"/>
          <p:cNvSpPr/>
          <p:nvPr/>
        </p:nvSpPr>
        <p:spPr>
          <a:xfrm>
            <a:off x="457200" y="45720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Performance Targets &amp; Engineering Quality</a:t>
            </a:r>
            <a:endParaRPr lang="en-US" sz="2200" dirty="0"/>
          </a:p>
        </p:txBody>
      </p:sp>
      <p:sp>
        <p:nvSpPr>
          <p:cNvPr id="5" name="Shape 3"/>
          <p:cNvSpPr/>
          <p:nvPr/>
        </p:nvSpPr>
        <p:spPr>
          <a:xfrm>
            <a:off x="457200" y="914400"/>
            <a:ext cx="8229600" cy="0"/>
          </a:xfrm>
          <a:prstGeom prst="line">
            <a:avLst/>
          </a:prstGeom>
          <a:noFill/>
          <a:ln w="6350">
            <a:solidFill>
              <a:srgbClr val="52525B"/>
            </a:solidFill>
            <a:prstDash val="solid"/>
          </a:ln>
        </p:spPr>
      </p:sp>
      <p:sp>
        <p:nvSpPr>
          <p:cNvPr id="6" name="Shape 4"/>
          <p:cNvSpPr/>
          <p:nvPr/>
        </p:nvSpPr>
        <p:spPr>
          <a:xfrm>
            <a:off x="365760" y="1005840"/>
            <a:ext cx="1920240" cy="1463040"/>
          </a:xfrm>
          <a:prstGeom prst="roundRect">
            <a:avLst>
              <a:gd name="adj" fmla="val 5000"/>
            </a:avLst>
          </a:prstGeom>
          <a:solidFill>
            <a:srgbClr val="0A0A0A"/>
          </a:solidFill>
          <a:ln w="12700">
            <a:solidFill>
              <a:srgbClr val="E5FF00"/>
            </a:solidFill>
            <a:prstDash val="solid"/>
          </a:ln>
          <a:effectLst>
            <a:outerShdw sx="100000" sy="100000" kx="0" ky="0" algn="bl" rotWithShape="0" blurRad="101600" dist="38100" dir="2700000">
              <a:srgbClr val="000000">
                <a:alpha val="35000"/>
              </a:srgbClr>
            </a:outerShdw>
          </a:effectLst>
        </p:spPr>
      </p:sp>
      <p:sp>
        <p:nvSpPr>
          <p:cNvPr id="7" name="Text 5"/>
          <p:cNvSpPr/>
          <p:nvPr/>
        </p:nvSpPr>
        <p:spPr>
          <a:xfrm>
            <a:off x="365760" y="1097280"/>
            <a:ext cx="1920240" cy="640080"/>
          </a:xfrm>
          <a:prstGeom prst="rect">
            <a:avLst/>
          </a:prstGeom>
          <a:noFill/>
          <a:ln/>
        </p:spPr>
        <p:txBody>
          <a:bodyPr wrap="square" lIns="0" tIns="0" rIns="0" bIns="0" rtlCol="0" anchor="ctr"/>
          <a:lstStyle/>
          <a:p>
            <a:pPr algn="ctr" indent="0" marL="0">
              <a:buNone/>
            </a:pPr>
            <a:r>
              <a:rPr lang="en-US" sz="3800" b="1" dirty="0">
                <a:solidFill>
                  <a:srgbClr val="E5FF00"/>
                </a:solidFill>
                <a:latin typeface="Arial" pitchFamily="34" charset="0"/>
                <a:ea typeface="Arial" pitchFamily="34" charset="-122"/>
                <a:cs typeface="Arial" pitchFamily="34" charset="-120"/>
              </a:rPr>
              <a:t>&gt;60%</a:t>
            </a:r>
            <a:endParaRPr lang="en-US" sz="3800" dirty="0"/>
          </a:p>
        </p:txBody>
      </p:sp>
      <p:sp>
        <p:nvSpPr>
          <p:cNvPr id="8" name="Text 6"/>
          <p:cNvSpPr/>
          <p:nvPr/>
        </p:nvSpPr>
        <p:spPr>
          <a:xfrm>
            <a:off x="457200" y="1719072"/>
            <a:ext cx="173736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Violations caught pre-PR</a:t>
            </a:r>
            <a:endParaRPr lang="en-US" sz="900" dirty="0"/>
          </a:p>
        </p:txBody>
      </p:sp>
      <p:sp>
        <p:nvSpPr>
          <p:cNvPr id="9" name="Text 7"/>
          <p:cNvSpPr/>
          <p:nvPr/>
        </p:nvSpPr>
        <p:spPr>
          <a:xfrm>
            <a:off x="457200" y="2066544"/>
            <a:ext cx="1737360" cy="274320"/>
          </a:xfrm>
          <a:prstGeom prst="rect">
            <a:avLst/>
          </a:prstGeom>
          <a:noFill/>
          <a:ln/>
        </p:spPr>
        <p:txBody>
          <a:bodyPr wrap="square" lIns="0" tIns="0" rIns="0" bIns="0" rtlCol="0" anchor="ctr"/>
          <a:lstStyle/>
          <a:p>
            <a:pPr algn="ctr" indent="0" marL="0">
              <a:buNone/>
            </a:pPr>
            <a:r>
              <a:rPr lang="en-US" sz="750" dirty="0">
                <a:solidFill>
                  <a:srgbClr val="A1A1AA"/>
                </a:solidFill>
                <a:latin typeface="Arial" pitchFamily="34" charset="0"/>
                <a:ea typeface="Arial" pitchFamily="34" charset="-122"/>
                <a:cs typeface="Arial" pitchFamily="34" charset="-120"/>
              </a:rPr>
              <a:t>IDE-time vs review-time</a:t>
            </a:r>
            <a:endParaRPr lang="en-US" sz="750" dirty="0"/>
          </a:p>
        </p:txBody>
      </p:sp>
      <p:sp>
        <p:nvSpPr>
          <p:cNvPr id="10" name="Shape 8"/>
          <p:cNvSpPr/>
          <p:nvPr/>
        </p:nvSpPr>
        <p:spPr>
          <a:xfrm>
            <a:off x="2450592" y="1005840"/>
            <a:ext cx="1920240" cy="1463040"/>
          </a:xfrm>
          <a:prstGeom prst="roundRect">
            <a:avLst>
              <a:gd name="adj" fmla="val 5000"/>
            </a:avLst>
          </a:prstGeom>
          <a:solidFill>
            <a:srgbClr val="0A0A0A"/>
          </a:solidFill>
          <a:ln w="12700">
            <a:solidFill>
              <a:srgbClr val="FF007A"/>
            </a:solidFill>
            <a:prstDash val="solid"/>
          </a:ln>
          <a:effectLst>
            <a:outerShdw sx="100000" sy="100000" kx="0" ky="0" algn="bl" rotWithShape="0" blurRad="101600" dist="38100" dir="2700000">
              <a:srgbClr val="000000">
                <a:alpha val="35000"/>
              </a:srgbClr>
            </a:outerShdw>
          </a:effectLst>
        </p:spPr>
      </p:sp>
      <p:sp>
        <p:nvSpPr>
          <p:cNvPr id="11" name="Text 9"/>
          <p:cNvSpPr/>
          <p:nvPr/>
        </p:nvSpPr>
        <p:spPr>
          <a:xfrm>
            <a:off x="2450592" y="1097280"/>
            <a:ext cx="1920240" cy="640080"/>
          </a:xfrm>
          <a:prstGeom prst="rect">
            <a:avLst/>
          </a:prstGeom>
          <a:noFill/>
          <a:ln/>
        </p:spPr>
        <p:txBody>
          <a:bodyPr wrap="square" lIns="0" tIns="0" rIns="0" bIns="0" rtlCol="0" anchor="ctr"/>
          <a:lstStyle/>
          <a:p>
            <a:pPr algn="ctr" indent="0" marL="0">
              <a:buNone/>
            </a:pPr>
            <a:r>
              <a:rPr lang="en-US" sz="3800" b="1" dirty="0">
                <a:solidFill>
                  <a:srgbClr val="FF007A"/>
                </a:solidFill>
                <a:latin typeface="Arial" pitchFamily="34" charset="0"/>
                <a:ea typeface="Arial" pitchFamily="34" charset="-122"/>
                <a:cs typeface="Arial" pitchFamily="34" charset="-120"/>
              </a:rPr>
              <a:t>&lt;5%</a:t>
            </a:r>
            <a:endParaRPr lang="en-US" sz="3800" dirty="0"/>
          </a:p>
        </p:txBody>
      </p:sp>
      <p:sp>
        <p:nvSpPr>
          <p:cNvPr id="12" name="Text 10"/>
          <p:cNvSpPr/>
          <p:nvPr/>
        </p:nvSpPr>
        <p:spPr>
          <a:xfrm>
            <a:off x="2542032" y="1719072"/>
            <a:ext cx="173736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False positive rate target</a:t>
            </a:r>
            <a:endParaRPr lang="en-US" sz="900" dirty="0"/>
          </a:p>
        </p:txBody>
      </p:sp>
      <p:sp>
        <p:nvSpPr>
          <p:cNvPr id="13" name="Text 11"/>
          <p:cNvSpPr/>
          <p:nvPr/>
        </p:nvSpPr>
        <p:spPr>
          <a:xfrm>
            <a:off x="2542032" y="2066544"/>
            <a:ext cx="1737360" cy="274320"/>
          </a:xfrm>
          <a:prstGeom prst="rect">
            <a:avLst/>
          </a:prstGeom>
          <a:noFill/>
          <a:ln/>
        </p:spPr>
        <p:txBody>
          <a:bodyPr wrap="square" lIns="0" tIns="0" rIns="0" bIns="0" rtlCol="0" anchor="ctr"/>
          <a:lstStyle/>
          <a:p>
            <a:pPr algn="ctr" indent="0" marL="0">
              <a:buNone/>
            </a:pPr>
            <a:r>
              <a:rPr lang="en-US" sz="750" dirty="0">
                <a:solidFill>
                  <a:srgbClr val="A1A1AA"/>
                </a:solidFill>
                <a:latin typeface="Arial" pitchFamily="34" charset="0"/>
                <a:ea typeface="Arial" pitchFamily="34" charset="-122"/>
                <a:cs typeface="Arial" pitchFamily="34" charset="-120"/>
              </a:rPr>
              <a:t>Override rate in steady state</a:t>
            </a:r>
            <a:endParaRPr lang="en-US" sz="750" dirty="0"/>
          </a:p>
        </p:txBody>
      </p:sp>
      <p:sp>
        <p:nvSpPr>
          <p:cNvPr id="14" name="Shape 12"/>
          <p:cNvSpPr/>
          <p:nvPr/>
        </p:nvSpPr>
        <p:spPr>
          <a:xfrm>
            <a:off x="4535424" y="1005840"/>
            <a:ext cx="1920240" cy="1463040"/>
          </a:xfrm>
          <a:prstGeom prst="roundRect">
            <a:avLst>
              <a:gd name="adj" fmla="val 5000"/>
            </a:avLst>
          </a:prstGeom>
          <a:solidFill>
            <a:srgbClr val="0A0A0A"/>
          </a:solidFill>
          <a:ln w="12700">
            <a:solidFill>
              <a:srgbClr val="FF5C00"/>
            </a:solidFill>
            <a:prstDash val="solid"/>
          </a:ln>
          <a:effectLst>
            <a:outerShdw sx="100000" sy="100000" kx="0" ky="0" algn="bl" rotWithShape="0" blurRad="101600" dist="38100" dir="2700000">
              <a:srgbClr val="000000">
                <a:alpha val="35000"/>
              </a:srgbClr>
            </a:outerShdw>
          </a:effectLst>
        </p:spPr>
      </p:sp>
      <p:sp>
        <p:nvSpPr>
          <p:cNvPr id="15" name="Text 13"/>
          <p:cNvSpPr/>
          <p:nvPr/>
        </p:nvSpPr>
        <p:spPr>
          <a:xfrm>
            <a:off x="4535424" y="1097280"/>
            <a:ext cx="1920240" cy="640080"/>
          </a:xfrm>
          <a:prstGeom prst="rect">
            <a:avLst/>
          </a:prstGeom>
          <a:noFill/>
          <a:ln/>
        </p:spPr>
        <p:txBody>
          <a:bodyPr wrap="square" lIns="0" tIns="0" rIns="0" bIns="0" rtlCol="0" anchor="ctr"/>
          <a:lstStyle/>
          <a:p>
            <a:pPr algn="ctr" indent="0" marL="0">
              <a:buNone/>
            </a:pPr>
            <a:r>
              <a:rPr lang="en-US" sz="3800" b="1" dirty="0">
                <a:solidFill>
                  <a:srgbClr val="FF5C00"/>
                </a:solidFill>
                <a:latin typeface="Arial" pitchFamily="34" charset="0"/>
                <a:ea typeface="Arial" pitchFamily="34" charset="-122"/>
                <a:cs typeface="Arial" pitchFamily="34" charset="-120"/>
              </a:rPr>
              <a:t>&lt;5s</a:t>
            </a:r>
            <a:endParaRPr lang="en-US" sz="3800" dirty="0"/>
          </a:p>
        </p:txBody>
      </p:sp>
      <p:sp>
        <p:nvSpPr>
          <p:cNvPr id="16" name="Text 14"/>
          <p:cNvSpPr/>
          <p:nvPr/>
        </p:nvSpPr>
        <p:spPr>
          <a:xfrm>
            <a:off x="4626864" y="1719072"/>
            <a:ext cx="173736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IDE-time finding latency</a:t>
            </a:r>
            <a:endParaRPr lang="en-US" sz="900" dirty="0"/>
          </a:p>
        </p:txBody>
      </p:sp>
      <p:sp>
        <p:nvSpPr>
          <p:cNvPr id="17" name="Text 15"/>
          <p:cNvSpPr/>
          <p:nvPr/>
        </p:nvSpPr>
        <p:spPr>
          <a:xfrm>
            <a:off x="4626864" y="2066544"/>
            <a:ext cx="1737360" cy="274320"/>
          </a:xfrm>
          <a:prstGeom prst="rect">
            <a:avLst/>
          </a:prstGeom>
          <a:noFill/>
          <a:ln/>
        </p:spPr>
        <p:txBody>
          <a:bodyPr wrap="square" lIns="0" tIns="0" rIns="0" bIns="0" rtlCol="0" anchor="ctr"/>
          <a:lstStyle/>
          <a:p>
            <a:pPr algn="ctr" indent="0" marL="0">
              <a:buNone/>
            </a:pPr>
            <a:r>
              <a:rPr lang="en-US" sz="750" dirty="0">
                <a:solidFill>
                  <a:srgbClr val="A1A1AA"/>
                </a:solidFill>
                <a:latin typeface="Arial" pitchFamily="34" charset="0"/>
                <a:ea typeface="Arial" pitchFamily="34" charset="-122"/>
                <a:cs typeface="Arial" pitchFamily="34" charset="-120"/>
              </a:rPr>
              <a:t>Threshold for developer flow</a:t>
            </a:r>
            <a:endParaRPr lang="en-US" sz="750" dirty="0"/>
          </a:p>
        </p:txBody>
      </p:sp>
      <p:sp>
        <p:nvSpPr>
          <p:cNvPr id="18" name="Shape 16"/>
          <p:cNvSpPr/>
          <p:nvPr/>
        </p:nvSpPr>
        <p:spPr>
          <a:xfrm>
            <a:off x="6620256" y="1005840"/>
            <a:ext cx="1920240" cy="1463040"/>
          </a:xfrm>
          <a:prstGeom prst="roundRect">
            <a:avLst>
              <a:gd name="adj" fmla="val 5000"/>
            </a:avLst>
          </a:prstGeom>
          <a:solidFill>
            <a:srgbClr val="0A0A0A"/>
          </a:solidFill>
          <a:ln w="12700">
            <a:solidFill>
              <a:srgbClr val="E8A54B"/>
            </a:solidFill>
            <a:prstDash val="solid"/>
          </a:ln>
          <a:effectLst>
            <a:outerShdw sx="100000" sy="100000" kx="0" ky="0" algn="bl" rotWithShape="0" blurRad="101600" dist="38100" dir="2700000">
              <a:srgbClr val="000000">
                <a:alpha val="35000"/>
              </a:srgbClr>
            </a:outerShdw>
          </a:effectLst>
        </p:spPr>
      </p:sp>
      <p:sp>
        <p:nvSpPr>
          <p:cNvPr id="19" name="Text 17"/>
          <p:cNvSpPr/>
          <p:nvPr/>
        </p:nvSpPr>
        <p:spPr>
          <a:xfrm>
            <a:off x="6620256" y="1097280"/>
            <a:ext cx="1920240" cy="640080"/>
          </a:xfrm>
          <a:prstGeom prst="rect">
            <a:avLst/>
          </a:prstGeom>
          <a:noFill/>
          <a:ln/>
        </p:spPr>
        <p:txBody>
          <a:bodyPr wrap="square" lIns="0" tIns="0" rIns="0" bIns="0" rtlCol="0" anchor="ctr"/>
          <a:lstStyle/>
          <a:p>
            <a:pPr algn="ctr" indent="0" marL="0">
              <a:buNone/>
            </a:pPr>
            <a:r>
              <a:rPr lang="en-US" sz="3800" b="1" dirty="0">
                <a:solidFill>
                  <a:srgbClr val="E8A54B"/>
                </a:solidFill>
                <a:latin typeface="Arial" pitchFamily="34" charset="0"/>
                <a:ea typeface="Arial" pitchFamily="34" charset="-122"/>
                <a:cs typeface="Arial" pitchFamily="34" charset="-120"/>
              </a:rPr>
              <a:t>4–8×</a:t>
            </a:r>
            <a:endParaRPr lang="en-US" sz="3800" dirty="0"/>
          </a:p>
        </p:txBody>
      </p:sp>
      <p:sp>
        <p:nvSpPr>
          <p:cNvPr id="20" name="Text 18"/>
          <p:cNvSpPr/>
          <p:nvPr/>
        </p:nvSpPr>
        <p:spPr>
          <a:xfrm>
            <a:off x="6711696" y="1719072"/>
            <a:ext cx="173736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Cheaper to fix at authorship</a:t>
            </a:r>
            <a:endParaRPr lang="en-US" sz="900" dirty="0"/>
          </a:p>
        </p:txBody>
      </p:sp>
      <p:sp>
        <p:nvSpPr>
          <p:cNvPr id="21" name="Text 19"/>
          <p:cNvSpPr/>
          <p:nvPr/>
        </p:nvSpPr>
        <p:spPr>
          <a:xfrm>
            <a:off x="6711696" y="2066544"/>
            <a:ext cx="1737360" cy="274320"/>
          </a:xfrm>
          <a:prstGeom prst="rect">
            <a:avLst/>
          </a:prstGeom>
          <a:noFill/>
          <a:ln/>
        </p:spPr>
        <p:txBody>
          <a:bodyPr wrap="square" lIns="0" tIns="0" rIns="0" bIns="0" rtlCol="0" anchor="ctr"/>
          <a:lstStyle/>
          <a:p>
            <a:pPr algn="ctr" indent="0" marL="0">
              <a:buNone/>
            </a:pPr>
            <a:r>
              <a:rPr lang="en-US" sz="750" dirty="0">
                <a:solidFill>
                  <a:srgbClr val="A1A1AA"/>
                </a:solidFill>
                <a:latin typeface="Arial" pitchFamily="34" charset="0"/>
                <a:ea typeface="Arial" pitchFamily="34" charset="-122"/>
                <a:cs typeface="Arial" pitchFamily="34" charset="-120"/>
              </a:rPr>
              <a:t>vs PR review-time rework</a:t>
            </a:r>
            <a:endParaRPr lang="en-US" sz="750" dirty="0"/>
          </a:p>
        </p:txBody>
      </p:sp>
      <p:graphicFrame>
        <p:nvGraphicFramePr>
          <p:cNvPr id="22" name="Chart 0" descr=""/>
          <p:cNvGraphicFramePr/>
          <p:nvPr/>
        </p:nvGraphicFramePr>
        <p:xfrm>
          <a:off x="365760" y="2651760"/>
          <a:ext cx="5029200" cy="2286000"/>
        </p:xfrm>
        <a:graphic xmlns:a="http://schemas.openxmlformats.org/drawingml/2006/main">
          <a:graphicData uri="http://schemas.openxmlformats.org/drawingml/2006/chart">
            <c:chart xmlns:c="http://schemas.openxmlformats.org/drawingml/2006/chart" r:id="rId1"/>
          </a:graphicData>
        </a:graphic>
      </p:graphicFrame>
      <p:sp>
        <p:nvSpPr>
          <p:cNvPr id="23" name="Shape 20"/>
          <p:cNvSpPr/>
          <p:nvPr/>
        </p:nvSpPr>
        <p:spPr>
          <a:xfrm>
            <a:off x="5577840" y="2651760"/>
            <a:ext cx="3200400" cy="2286000"/>
          </a:xfrm>
          <a:prstGeom prst="roundRect">
            <a:avLst>
              <a:gd name="adj" fmla="val 3200"/>
            </a:avLst>
          </a:prstGeom>
          <a:solidFill>
            <a:srgbClr val="0A0A0A"/>
          </a:solidFill>
          <a:ln w="6350">
            <a:solidFill>
              <a:srgbClr val="52525B"/>
            </a:solidFill>
            <a:prstDash val="solid"/>
          </a:ln>
          <a:effectLst>
            <a:outerShdw sx="100000" sy="100000" kx="0" ky="0" algn="bl" rotWithShape="0" blurRad="101600" dist="38100" dir="2700000">
              <a:srgbClr val="000000">
                <a:alpha val="35000"/>
              </a:srgbClr>
            </a:outerShdw>
          </a:effectLst>
        </p:spPr>
      </p:sp>
      <p:sp>
        <p:nvSpPr>
          <p:cNvPr id="24" name="Text 21"/>
          <p:cNvSpPr/>
          <p:nvPr/>
        </p:nvSpPr>
        <p:spPr>
          <a:xfrm>
            <a:off x="5715000" y="2761488"/>
            <a:ext cx="2926080" cy="256032"/>
          </a:xfrm>
          <a:prstGeom prst="rect">
            <a:avLst/>
          </a:prstGeom>
          <a:noFill/>
          <a:ln/>
        </p:spPr>
        <p:txBody>
          <a:bodyPr wrap="square" lIns="0" tIns="0" rIns="0" bIns="0" rtlCol="0" anchor="ctr"/>
          <a:lstStyle/>
          <a:p>
            <a:pPr indent="0" marL="0">
              <a:buNone/>
            </a:pPr>
            <a:r>
              <a:rPr lang="en-US" sz="800" b="1" spc="100" kern="0" dirty="0">
                <a:solidFill>
                  <a:srgbClr val="A1A1AA"/>
                </a:solidFill>
                <a:latin typeface="Arial" pitchFamily="34" charset="0"/>
                <a:ea typeface="Arial" pitchFamily="34" charset="-122"/>
                <a:cs typeface="Arial" pitchFamily="34" charset="-120"/>
              </a:rPr>
              <a:t>NON-FUNCTIONAL TARGETS</a:t>
            </a:r>
            <a:endParaRPr lang="en-US" sz="800" dirty="0"/>
          </a:p>
        </p:txBody>
      </p:sp>
      <p:sp>
        <p:nvSpPr>
          <p:cNvPr id="25" name="Text 22"/>
          <p:cNvSpPr/>
          <p:nvPr/>
        </p:nvSpPr>
        <p:spPr>
          <a:xfrm>
            <a:off x="5715000" y="3090672"/>
            <a:ext cx="1371600" cy="292608"/>
          </a:xfrm>
          <a:prstGeom prst="rect">
            <a:avLst/>
          </a:prstGeom>
          <a:noFill/>
          <a:ln/>
        </p:spPr>
        <p:txBody>
          <a:bodyPr wrap="square" lIns="0" tIns="0" rIns="0" bIns="0" rtlCol="0" anchor="ctr"/>
          <a:lstStyle/>
          <a:p>
            <a:pPr indent="0" marL="0">
              <a:buNone/>
            </a:pPr>
            <a:r>
              <a:rPr lang="en-US" sz="850" b="1" dirty="0">
                <a:solidFill>
                  <a:srgbClr val="A1A1AA"/>
                </a:solidFill>
                <a:latin typeface="Arial" pitchFamily="34" charset="0"/>
                <a:ea typeface="Arial" pitchFamily="34" charset="-122"/>
                <a:cs typeface="Arial" pitchFamily="34" charset="-120"/>
              </a:rPr>
              <a:t>Audit records:</a:t>
            </a:r>
            <a:endParaRPr lang="en-US" sz="850" dirty="0"/>
          </a:p>
        </p:txBody>
      </p:sp>
      <p:sp>
        <p:nvSpPr>
          <p:cNvPr id="26" name="Text 23"/>
          <p:cNvSpPr/>
          <p:nvPr/>
        </p:nvSpPr>
        <p:spPr>
          <a:xfrm>
            <a:off x="7132320" y="3090672"/>
            <a:ext cx="1554480" cy="292608"/>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Immutable, queryable</a:t>
            </a:r>
            <a:endParaRPr lang="en-US" sz="850" dirty="0"/>
          </a:p>
        </p:txBody>
      </p:sp>
      <p:sp>
        <p:nvSpPr>
          <p:cNvPr id="27" name="Text 24"/>
          <p:cNvSpPr/>
          <p:nvPr/>
        </p:nvSpPr>
        <p:spPr>
          <a:xfrm>
            <a:off x="5715000" y="3438144"/>
            <a:ext cx="1371600" cy="292608"/>
          </a:xfrm>
          <a:prstGeom prst="rect">
            <a:avLst/>
          </a:prstGeom>
          <a:noFill/>
          <a:ln/>
        </p:spPr>
        <p:txBody>
          <a:bodyPr wrap="square" lIns="0" tIns="0" rIns="0" bIns="0" rtlCol="0" anchor="ctr"/>
          <a:lstStyle/>
          <a:p>
            <a:pPr indent="0" marL="0">
              <a:buNone/>
            </a:pPr>
            <a:r>
              <a:rPr lang="en-US" sz="850" b="1" dirty="0">
                <a:solidFill>
                  <a:srgbClr val="A1A1AA"/>
                </a:solidFill>
                <a:latin typeface="Arial" pitchFamily="34" charset="0"/>
                <a:ea typeface="Arial" pitchFamily="34" charset="-122"/>
                <a:cs typeface="Arial" pitchFamily="34" charset="-120"/>
              </a:rPr>
              <a:t>Data isolation:</a:t>
            </a:r>
            <a:endParaRPr lang="en-US" sz="850" dirty="0"/>
          </a:p>
        </p:txBody>
      </p:sp>
      <p:sp>
        <p:nvSpPr>
          <p:cNvPr id="28" name="Text 25"/>
          <p:cNvSpPr/>
          <p:nvPr/>
        </p:nvSpPr>
        <p:spPr>
          <a:xfrm>
            <a:off x="7132320" y="3438144"/>
            <a:ext cx="1554480" cy="292608"/>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Per-tenant corpus</a:t>
            </a:r>
            <a:endParaRPr lang="en-US" sz="850" dirty="0"/>
          </a:p>
        </p:txBody>
      </p:sp>
      <p:sp>
        <p:nvSpPr>
          <p:cNvPr id="29" name="Text 26"/>
          <p:cNvSpPr/>
          <p:nvPr/>
        </p:nvSpPr>
        <p:spPr>
          <a:xfrm>
            <a:off x="5715000" y="3785616"/>
            <a:ext cx="1371600" cy="292608"/>
          </a:xfrm>
          <a:prstGeom prst="rect">
            <a:avLst/>
          </a:prstGeom>
          <a:noFill/>
          <a:ln/>
        </p:spPr>
        <p:txBody>
          <a:bodyPr wrap="square" lIns="0" tIns="0" rIns="0" bIns="0" rtlCol="0" anchor="ctr"/>
          <a:lstStyle/>
          <a:p>
            <a:pPr indent="0" marL="0">
              <a:buNone/>
            </a:pPr>
            <a:r>
              <a:rPr lang="en-US" sz="850" b="1" dirty="0">
                <a:solidFill>
                  <a:srgbClr val="A1A1AA"/>
                </a:solidFill>
                <a:latin typeface="Arial" pitchFamily="34" charset="0"/>
                <a:ea typeface="Arial" pitchFamily="34" charset="-122"/>
                <a:cs typeface="Arial" pitchFamily="34" charset="-120"/>
              </a:rPr>
              <a:t>CI gate failure:</a:t>
            </a:r>
            <a:endParaRPr lang="en-US" sz="850" dirty="0"/>
          </a:p>
        </p:txBody>
      </p:sp>
      <p:sp>
        <p:nvSpPr>
          <p:cNvPr id="30" name="Text 27"/>
          <p:cNvSpPr/>
          <p:nvPr/>
        </p:nvSpPr>
        <p:spPr>
          <a:xfrm>
            <a:off x="7132320" y="3785616"/>
            <a:ext cx="1554480" cy="292608"/>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Fail-open, not fail-closed</a:t>
            </a:r>
            <a:endParaRPr lang="en-US" sz="850" dirty="0"/>
          </a:p>
        </p:txBody>
      </p:sp>
      <p:sp>
        <p:nvSpPr>
          <p:cNvPr id="31" name="Text 28"/>
          <p:cNvSpPr/>
          <p:nvPr/>
        </p:nvSpPr>
        <p:spPr>
          <a:xfrm>
            <a:off x="5715000" y="4133088"/>
            <a:ext cx="1371600" cy="292608"/>
          </a:xfrm>
          <a:prstGeom prst="rect">
            <a:avLst/>
          </a:prstGeom>
          <a:noFill/>
          <a:ln/>
        </p:spPr>
        <p:txBody>
          <a:bodyPr wrap="square" lIns="0" tIns="0" rIns="0" bIns="0" rtlCol="0" anchor="ctr"/>
          <a:lstStyle/>
          <a:p>
            <a:pPr indent="0" marL="0">
              <a:buNone/>
            </a:pPr>
            <a:r>
              <a:rPr lang="en-US" sz="850" b="1" dirty="0">
                <a:solidFill>
                  <a:srgbClr val="A1A1AA"/>
                </a:solidFill>
                <a:latin typeface="Arial" pitchFamily="34" charset="0"/>
                <a:ea typeface="Arial" pitchFamily="34" charset="-122"/>
                <a:cs typeface="Arial" pitchFamily="34" charset="-120"/>
              </a:rPr>
              <a:t>MCP permissions:</a:t>
            </a:r>
            <a:endParaRPr lang="en-US" sz="850" dirty="0"/>
          </a:p>
        </p:txBody>
      </p:sp>
      <p:sp>
        <p:nvSpPr>
          <p:cNvPr id="32" name="Text 29"/>
          <p:cNvSpPr/>
          <p:nvPr/>
        </p:nvSpPr>
        <p:spPr>
          <a:xfrm>
            <a:off x="7132320" y="4133088"/>
            <a:ext cx="1554480" cy="292608"/>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Read-diff + write-finding only</a:t>
            </a:r>
            <a:endParaRPr lang="en-US" sz="850" dirty="0"/>
          </a:p>
        </p:txBody>
      </p:sp>
      <p:sp>
        <p:nvSpPr>
          <p:cNvPr id="33" name="Text 30"/>
          <p:cNvSpPr/>
          <p:nvPr/>
        </p:nvSpPr>
        <p:spPr>
          <a:xfrm>
            <a:off x="5715000" y="4480560"/>
            <a:ext cx="1371600" cy="292608"/>
          </a:xfrm>
          <a:prstGeom prst="rect">
            <a:avLst/>
          </a:prstGeom>
          <a:noFill/>
          <a:ln/>
        </p:spPr>
        <p:txBody>
          <a:bodyPr wrap="square" lIns="0" tIns="0" rIns="0" bIns="0" rtlCol="0" anchor="ctr"/>
          <a:lstStyle/>
          <a:p>
            <a:pPr indent="0" marL="0">
              <a:buNone/>
            </a:pPr>
            <a:r>
              <a:rPr lang="en-US" sz="850" b="1" dirty="0">
                <a:solidFill>
                  <a:srgbClr val="A1A1AA"/>
                </a:solidFill>
                <a:latin typeface="Arial" pitchFamily="34" charset="0"/>
                <a:ea typeface="Arial" pitchFamily="34" charset="-122"/>
                <a:cs typeface="Arial" pitchFamily="34" charset="-120"/>
              </a:rPr>
              <a:t>Override flow:</a:t>
            </a:r>
            <a:endParaRPr lang="en-US" sz="850" dirty="0"/>
          </a:p>
        </p:txBody>
      </p:sp>
      <p:sp>
        <p:nvSpPr>
          <p:cNvPr id="34" name="Text 31"/>
          <p:cNvSpPr/>
          <p:nvPr/>
        </p:nvSpPr>
        <p:spPr>
          <a:xfrm>
            <a:off x="7132320" y="4480560"/>
            <a:ext cx="1554480" cy="292608"/>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Justification required, logged</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5C00"/>
          </a:solidFill>
          <a:ln w="12700">
            <a:solidFill>
              <a:srgbClr val="FF5C00"/>
            </a:solidFill>
            <a:prstDash val="solid"/>
          </a:ln>
        </p:spPr>
      </p:sp>
      <p:sp>
        <p:nvSpPr>
          <p:cNvPr id="3" name="Text 1"/>
          <p:cNvSpPr/>
          <p:nvPr/>
        </p:nvSpPr>
        <p:spPr>
          <a:xfrm>
            <a:off x="457200" y="182880"/>
            <a:ext cx="8229600" cy="274320"/>
          </a:xfrm>
          <a:prstGeom prst="rect">
            <a:avLst/>
          </a:prstGeom>
          <a:noFill/>
          <a:ln/>
        </p:spPr>
        <p:txBody>
          <a:bodyPr wrap="square" lIns="0" tIns="0" rIns="0" bIns="0" rtlCol="0" anchor="ctr"/>
          <a:lstStyle/>
          <a:p>
            <a:pPr indent="0" marL="0">
              <a:buNone/>
            </a:pPr>
            <a:r>
              <a:rPr lang="en-US" sz="800" b="1" spc="200" kern="0" dirty="0">
                <a:solidFill>
                  <a:srgbClr val="FF5C00"/>
                </a:solidFill>
                <a:latin typeface="Arial" pitchFamily="34" charset="0"/>
                <a:ea typeface="Arial" pitchFamily="34" charset="-122"/>
                <a:cs typeface="Arial" pitchFamily="34" charset="-120"/>
              </a:rPr>
              <a:t>IMPLEMENTATION ROADMAP</a:t>
            </a:r>
            <a:endParaRPr lang="en-US" sz="800" dirty="0"/>
          </a:p>
        </p:txBody>
      </p:sp>
      <p:sp>
        <p:nvSpPr>
          <p:cNvPr id="4" name="Text 2"/>
          <p:cNvSpPr/>
          <p:nvPr/>
        </p:nvSpPr>
        <p:spPr>
          <a:xfrm>
            <a:off x="457200" y="45720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Three-Phase Build · PoC to Enterprise-Ready</a:t>
            </a:r>
            <a:endParaRPr lang="en-US" sz="2200" dirty="0"/>
          </a:p>
        </p:txBody>
      </p:sp>
      <p:sp>
        <p:nvSpPr>
          <p:cNvPr id="5" name="Shape 3"/>
          <p:cNvSpPr/>
          <p:nvPr/>
        </p:nvSpPr>
        <p:spPr>
          <a:xfrm>
            <a:off x="457200" y="914400"/>
            <a:ext cx="8229600" cy="0"/>
          </a:xfrm>
          <a:prstGeom prst="line">
            <a:avLst/>
          </a:prstGeom>
          <a:noFill/>
          <a:ln w="6350">
            <a:solidFill>
              <a:srgbClr val="52525B"/>
            </a:solidFill>
            <a:prstDash val="solid"/>
          </a:ln>
        </p:spPr>
      </p:sp>
      <p:sp>
        <p:nvSpPr>
          <p:cNvPr id="6" name="Shape 4"/>
          <p:cNvSpPr/>
          <p:nvPr/>
        </p:nvSpPr>
        <p:spPr>
          <a:xfrm>
            <a:off x="320040" y="1005840"/>
            <a:ext cx="2697480" cy="3931920"/>
          </a:xfrm>
          <a:prstGeom prst="roundRect">
            <a:avLst>
              <a:gd name="adj" fmla="val 2712"/>
            </a:avLst>
          </a:prstGeom>
          <a:solidFill>
            <a:srgbClr val="0A0A0A"/>
          </a:solidFill>
          <a:ln w="12700">
            <a:solidFill>
              <a:srgbClr val="FF5C00"/>
            </a:solidFill>
            <a:prstDash val="solid"/>
          </a:ln>
          <a:effectLst>
            <a:outerShdw sx="100000" sy="100000" kx="0" ky="0" algn="bl" rotWithShape="0" blurRad="101600" dist="38100" dir="2700000">
              <a:srgbClr val="000000">
                <a:alpha val="35000"/>
              </a:srgbClr>
            </a:outerShdw>
          </a:effectLst>
        </p:spPr>
      </p:sp>
      <p:sp>
        <p:nvSpPr>
          <p:cNvPr id="7" name="Shape 5"/>
          <p:cNvSpPr/>
          <p:nvPr/>
        </p:nvSpPr>
        <p:spPr>
          <a:xfrm>
            <a:off x="365760" y="1051560"/>
            <a:ext cx="2606040" cy="621792"/>
          </a:xfrm>
          <a:prstGeom prst="roundRect">
            <a:avLst>
              <a:gd name="adj" fmla="val 10294"/>
            </a:avLst>
          </a:prstGeom>
          <a:solidFill>
            <a:srgbClr val="FF5C00"/>
          </a:solidFill>
          <a:ln w="12700">
            <a:solidFill>
              <a:srgbClr val="FF5C00"/>
            </a:solidFill>
            <a:prstDash val="solid"/>
          </a:ln>
        </p:spPr>
      </p:sp>
      <p:sp>
        <p:nvSpPr>
          <p:cNvPr id="8" name="Text 6"/>
          <p:cNvSpPr/>
          <p:nvPr/>
        </p:nvSpPr>
        <p:spPr>
          <a:xfrm>
            <a:off x="411480" y="1078992"/>
            <a:ext cx="2560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Phase 1</a:t>
            </a:r>
            <a:endParaRPr lang="en-US" sz="1100" dirty="0"/>
          </a:p>
        </p:txBody>
      </p:sp>
      <p:sp>
        <p:nvSpPr>
          <p:cNvPr id="9" name="Text 7"/>
          <p:cNvSpPr/>
          <p:nvPr/>
        </p:nvSpPr>
        <p:spPr>
          <a:xfrm>
            <a:off x="411480" y="1335024"/>
            <a:ext cx="2560320" cy="256032"/>
          </a:xfrm>
          <a:prstGeom prst="rect">
            <a:avLst/>
          </a:prstGeom>
          <a:noFill/>
          <a:ln/>
        </p:spPr>
        <p:txBody>
          <a:bodyPr wrap="square" lIns="0" tIns="0" rIns="0" bIns="0" rtlCol="0" anchor="ctr"/>
          <a:lstStyle/>
          <a:p>
            <a:pPr algn="ctr" indent="0" marL="0">
              <a:buNone/>
            </a:pPr>
            <a:r>
              <a:rPr lang="en-US" sz="800" dirty="0">
                <a:solidFill>
                  <a:srgbClr val="FFCCCC"/>
                </a:solidFill>
                <a:latin typeface="Arial" pitchFamily="34" charset="0"/>
                <a:ea typeface="Arial" pitchFamily="34" charset="-122"/>
                <a:cs typeface="Arial" pitchFamily="34" charset="-120"/>
              </a:rPr>
              <a:t>2–3 wks · Proof of Concept</a:t>
            </a:r>
            <a:endParaRPr lang="en-US" sz="800" dirty="0"/>
          </a:p>
        </p:txBody>
      </p:sp>
      <p:sp>
        <p:nvSpPr>
          <p:cNvPr id="10" name="Text 8"/>
          <p:cNvSpPr/>
          <p:nvPr/>
        </p:nvSpPr>
        <p:spPr>
          <a:xfrm>
            <a:off x="457200" y="1792224"/>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Single repo, single policy domain</a:t>
            </a:r>
            <a:endParaRPr lang="en-US" sz="850" dirty="0"/>
          </a:p>
        </p:txBody>
      </p:sp>
      <p:sp>
        <p:nvSpPr>
          <p:cNvPr id="11" name="Shape 9"/>
          <p:cNvSpPr/>
          <p:nvPr/>
        </p:nvSpPr>
        <p:spPr>
          <a:xfrm>
            <a:off x="457200" y="2157984"/>
            <a:ext cx="2377440" cy="0"/>
          </a:xfrm>
          <a:prstGeom prst="line">
            <a:avLst/>
          </a:prstGeom>
          <a:noFill/>
          <a:ln w="3810">
            <a:solidFill>
              <a:srgbClr val="52525B"/>
            </a:solidFill>
            <a:prstDash val="solid"/>
          </a:ln>
        </p:spPr>
      </p:sp>
      <p:sp>
        <p:nvSpPr>
          <p:cNvPr id="12" name="Text 10"/>
          <p:cNvSpPr/>
          <p:nvPr/>
        </p:nvSpPr>
        <p:spPr>
          <a:xfrm>
            <a:off x="457200" y="2212848"/>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AST diff extractor (Python/Java)</a:t>
            </a:r>
            <a:endParaRPr lang="en-US" sz="850" dirty="0"/>
          </a:p>
        </p:txBody>
      </p:sp>
      <p:sp>
        <p:nvSpPr>
          <p:cNvPr id="13" name="Shape 11"/>
          <p:cNvSpPr/>
          <p:nvPr/>
        </p:nvSpPr>
        <p:spPr>
          <a:xfrm>
            <a:off x="457200" y="2578608"/>
            <a:ext cx="2377440" cy="0"/>
          </a:xfrm>
          <a:prstGeom prst="line">
            <a:avLst/>
          </a:prstGeom>
          <a:noFill/>
          <a:ln w="3810">
            <a:solidFill>
              <a:srgbClr val="52525B"/>
            </a:solidFill>
            <a:prstDash val="solid"/>
          </a:ln>
        </p:spPr>
      </p:sp>
      <p:sp>
        <p:nvSpPr>
          <p:cNvPr id="14" name="Text 12"/>
          <p:cNvSpPr/>
          <p:nvPr/>
        </p:nvSpPr>
        <p:spPr>
          <a:xfrm>
            <a:off x="457200" y="2633472"/>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RAG retrieval over hand-curated ADR corpus</a:t>
            </a:r>
            <a:endParaRPr lang="en-US" sz="850" dirty="0"/>
          </a:p>
        </p:txBody>
      </p:sp>
      <p:sp>
        <p:nvSpPr>
          <p:cNvPr id="15" name="Shape 13"/>
          <p:cNvSpPr/>
          <p:nvPr/>
        </p:nvSpPr>
        <p:spPr>
          <a:xfrm>
            <a:off x="457200" y="2999232"/>
            <a:ext cx="2377440" cy="0"/>
          </a:xfrm>
          <a:prstGeom prst="line">
            <a:avLst/>
          </a:prstGeom>
          <a:noFill/>
          <a:ln w="3810">
            <a:solidFill>
              <a:srgbClr val="52525B"/>
            </a:solidFill>
            <a:prstDash val="solid"/>
          </a:ln>
        </p:spPr>
      </p:sp>
      <p:sp>
        <p:nvSpPr>
          <p:cNvPr id="16" name="Text 14"/>
          <p:cNvSpPr/>
          <p:nvPr/>
        </p:nvSpPr>
        <p:spPr>
          <a:xfrm>
            <a:off x="457200" y="3054096"/>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Single-stage Classifier (no Critic yet)</a:t>
            </a:r>
            <a:endParaRPr lang="en-US" sz="850" dirty="0"/>
          </a:p>
        </p:txBody>
      </p:sp>
      <p:sp>
        <p:nvSpPr>
          <p:cNvPr id="17" name="Shape 15"/>
          <p:cNvSpPr/>
          <p:nvPr/>
        </p:nvSpPr>
        <p:spPr>
          <a:xfrm>
            <a:off x="457200" y="3419856"/>
            <a:ext cx="2377440" cy="0"/>
          </a:xfrm>
          <a:prstGeom prst="line">
            <a:avLst/>
          </a:prstGeom>
          <a:noFill/>
          <a:ln w="3810">
            <a:solidFill>
              <a:srgbClr val="52525B"/>
            </a:solidFill>
            <a:prstDash val="solid"/>
          </a:ln>
        </p:spPr>
      </p:sp>
      <p:sp>
        <p:nvSpPr>
          <p:cNvPr id="18" name="Text 16"/>
          <p:cNvSpPr/>
          <p:nvPr/>
        </p:nvSpPr>
        <p:spPr>
          <a:xfrm>
            <a:off x="457200" y="3474720"/>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Bob Findings via minimal MCP server</a:t>
            </a:r>
            <a:endParaRPr lang="en-US" sz="850" dirty="0"/>
          </a:p>
        </p:txBody>
      </p:sp>
      <p:sp>
        <p:nvSpPr>
          <p:cNvPr id="19" name="Shape 17"/>
          <p:cNvSpPr/>
          <p:nvPr/>
        </p:nvSpPr>
        <p:spPr>
          <a:xfrm>
            <a:off x="457200" y="3840480"/>
            <a:ext cx="2377440" cy="0"/>
          </a:xfrm>
          <a:prstGeom prst="line">
            <a:avLst/>
          </a:prstGeom>
          <a:noFill/>
          <a:ln w="3810">
            <a:solidFill>
              <a:srgbClr val="52525B"/>
            </a:solidFill>
            <a:prstDash val="solid"/>
          </a:ln>
        </p:spPr>
      </p:sp>
      <p:sp>
        <p:nvSpPr>
          <p:cNvPr id="20" name="Text 18"/>
          <p:cNvSpPr/>
          <p:nvPr/>
        </p:nvSpPr>
        <p:spPr>
          <a:xfrm>
            <a:off x="457200" y="3895344"/>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Live demo: inline finding in Bob</a:t>
            </a:r>
            <a:endParaRPr lang="en-US" sz="850" dirty="0"/>
          </a:p>
        </p:txBody>
      </p:sp>
      <p:sp>
        <p:nvSpPr>
          <p:cNvPr id="21" name="Shape 19"/>
          <p:cNvSpPr/>
          <p:nvPr/>
        </p:nvSpPr>
        <p:spPr>
          <a:xfrm>
            <a:off x="411480" y="4370832"/>
            <a:ext cx="2514600" cy="457200"/>
          </a:xfrm>
          <a:prstGeom prst="roundRect">
            <a:avLst>
              <a:gd name="adj" fmla="val 10000"/>
            </a:avLst>
          </a:prstGeom>
          <a:solidFill>
            <a:srgbClr val="111111"/>
          </a:solidFill>
          <a:ln w="10160">
            <a:solidFill>
              <a:srgbClr val="FF5C00"/>
            </a:solidFill>
            <a:prstDash val="solid"/>
          </a:ln>
        </p:spPr>
      </p:sp>
      <p:sp>
        <p:nvSpPr>
          <p:cNvPr id="22" name="Text 20"/>
          <p:cNvSpPr/>
          <p:nvPr/>
        </p:nvSpPr>
        <p:spPr>
          <a:xfrm>
            <a:off x="457200" y="4407408"/>
            <a:ext cx="2423160" cy="384048"/>
          </a:xfrm>
          <a:prstGeom prst="rect">
            <a:avLst/>
          </a:prstGeom>
          <a:noFill/>
          <a:ln/>
        </p:spPr>
        <p:txBody>
          <a:bodyPr wrap="square" lIns="0" tIns="0" rIns="0" bIns="0" rtlCol="0" anchor="ctr"/>
          <a:lstStyle/>
          <a:p>
            <a:pPr indent="0" marL="0">
              <a:buNone/>
            </a:pPr>
            <a:r>
              <a:rPr lang="en-US" sz="750" dirty="0">
                <a:solidFill>
                  <a:srgbClr val="FF5C00"/>
                </a:solidFill>
                <a:latin typeface="Arial" pitchFamily="34" charset="0"/>
                <a:ea typeface="Arial" pitchFamily="34" charset="-122"/>
                <a:cs typeface="Arial" pitchFamily="34" charset="-120"/>
              </a:rPr>
              <a:t>✓ Gate: Live demo: Bob flags real violation in &lt;5s</a:t>
            </a:r>
            <a:endParaRPr lang="en-US" sz="750" dirty="0"/>
          </a:p>
        </p:txBody>
      </p:sp>
      <p:sp>
        <p:nvSpPr>
          <p:cNvPr id="23" name="Shape 21"/>
          <p:cNvSpPr/>
          <p:nvPr/>
        </p:nvSpPr>
        <p:spPr>
          <a:xfrm>
            <a:off x="3154680" y="1005840"/>
            <a:ext cx="2697480" cy="3931920"/>
          </a:xfrm>
          <a:prstGeom prst="roundRect">
            <a:avLst>
              <a:gd name="adj" fmla="val 2712"/>
            </a:avLst>
          </a:prstGeom>
          <a:solidFill>
            <a:srgbClr val="0A0A0A"/>
          </a:solidFill>
          <a:ln w="12700">
            <a:solidFill>
              <a:srgbClr val="FF007A"/>
            </a:solidFill>
            <a:prstDash val="solid"/>
          </a:ln>
          <a:effectLst>
            <a:outerShdw sx="100000" sy="100000" kx="0" ky="0" algn="bl" rotWithShape="0" blurRad="101600" dist="38100" dir="2700000">
              <a:srgbClr val="000000">
                <a:alpha val="35000"/>
              </a:srgbClr>
            </a:outerShdw>
          </a:effectLst>
        </p:spPr>
      </p:sp>
      <p:sp>
        <p:nvSpPr>
          <p:cNvPr id="24" name="Shape 22"/>
          <p:cNvSpPr/>
          <p:nvPr/>
        </p:nvSpPr>
        <p:spPr>
          <a:xfrm>
            <a:off x="3200400" y="1051560"/>
            <a:ext cx="2606040" cy="621792"/>
          </a:xfrm>
          <a:prstGeom prst="roundRect">
            <a:avLst>
              <a:gd name="adj" fmla="val 10294"/>
            </a:avLst>
          </a:prstGeom>
          <a:solidFill>
            <a:srgbClr val="FF007A"/>
          </a:solidFill>
          <a:ln w="12700">
            <a:solidFill>
              <a:srgbClr val="FF007A"/>
            </a:solidFill>
            <a:prstDash val="solid"/>
          </a:ln>
        </p:spPr>
      </p:sp>
      <p:sp>
        <p:nvSpPr>
          <p:cNvPr id="25" name="Text 23"/>
          <p:cNvSpPr/>
          <p:nvPr/>
        </p:nvSpPr>
        <p:spPr>
          <a:xfrm>
            <a:off x="3246120" y="1078992"/>
            <a:ext cx="2560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Phase 2</a:t>
            </a:r>
            <a:endParaRPr lang="en-US" sz="1100" dirty="0"/>
          </a:p>
        </p:txBody>
      </p:sp>
      <p:sp>
        <p:nvSpPr>
          <p:cNvPr id="26" name="Text 24"/>
          <p:cNvSpPr/>
          <p:nvPr/>
        </p:nvSpPr>
        <p:spPr>
          <a:xfrm>
            <a:off x="3246120" y="1335024"/>
            <a:ext cx="2560320" cy="256032"/>
          </a:xfrm>
          <a:prstGeom prst="rect">
            <a:avLst/>
          </a:prstGeom>
          <a:noFill/>
          <a:ln/>
        </p:spPr>
        <p:txBody>
          <a:bodyPr wrap="square" lIns="0" tIns="0" rIns="0" bIns="0" rtlCol="0" anchor="ctr"/>
          <a:lstStyle/>
          <a:p>
            <a:pPr algn="ctr" indent="0" marL="0">
              <a:buNone/>
            </a:pPr>
            <a:r>
              <a:rPr lang="en-US" sz="800" dirty="0">
                <a:solidFill>
                  <a:srgbClr val="FFCCCC"/>
                </a:solidFill>
                <a:latin typeface="Arial" pitchFamily="34" charset="0"/>
                <a:ea typeface="Arial" pitchFamily="34" charset="-122"/>
                <a:cs typeface="Arial" pitchFamily="34" charset="-120"/>
              </a:rPr>
              <a:t>4–6 wks · Hardened Reviewer</a:t>
            </a:r>
            <a:endParaRPr lang="en-US" sz="800" dirty="0"/>
          </a:p>
        </p:txBody>
      </p:sp>
      <p:sp>
        <p:nvSpPr>
          <p:cNvPr id="27" name="Text 25"/>
          <p:cNvSpPr/>
          <p:nvPr/>
        </p:nvSpPr>
        <p:spPr>
          <a:xfrm>
            <a:off x="3291840" y="1792224"/>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Add Adversarial Compliance Critic</a:t>
            </a:r>
            <a:endParaRPr lang="en-US" sz="850" dirty="0"/>
          </a:p>
        </p:txBody>
      </p:sp>
      <p:sp>
        <p:nvSpPr>
          <p:cNvPr id="28" name="Shape 26"/>
          <p:cNvSpPr/>
          <p:nvPr/>
        </p:nvSpPr>
        <p:spPr>
          <a:xfrm>
            <a:off x="3291840" y="2157984"/>
            <a:ext cx="2377440" cy="0"/>
          </a:xfrm>
          <a:prstGeom prst="line">
            <a:avLst/>
          </a:prstGeom>
          <a:noFill/>
          <a:ln w="3810">
            <a:solidFill>
              <a:srgbClr val="52525B"/>
            </a:solidFill>
            <a:prstDash val="solid"/>
          </a:ln>
        </p:spPr>
      </p:sp>
      <p:sp>
        <p:nvSpPr>
          <p:cNvPr id="29" name="Text 27"/>
          <p:cNvSpPr/>
          <p:nvPr/>
        </p:nvSpPr>
        <p:spPr>
          <a:xfrm>
            <a:off x="3291840" y="2212848"/>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Confidence banding &amp; routing logic</a:t>
            </a:r>
            <a:endParaRPr lang="en-US" sz="850" dirty="0"/>
          </a:p>
        </p:txBody>
      </p:sp>
      <p:sp>
        <p:nvSpPr>
          <p:cNvPr id="30" name="Shape 28"/>
          <p:cNvSpPr/>
          <p:nvPr/>
        </p:nvSpPr>
        <p:spPr>
          <a:xfrm>
            <a:off x="3291840" y="2578608"/>
            <a:ext cx="2377440" cy="0"/>
          </a:xfrm>
          <a:prstGeom prst="line">
            <a:avLst/>
          </a:prstGeom>
          <a:noFill/>
          <a:ln w="3810">
            <a:solidFill>
              <a:srgbClr val="52525B"/>
            </a:solidFill>
            <a:prstDash val="solid"/>
          </a:ln>
        </p:spPr>
      </p:sp>
      <p:sp>
        <p:nvSpPr>
          <p:cNvPr id="31" name="Text 29"/>
          <p:cNvSpPr/>
          <p:nvPr/>
        </p:nvSpPr>
        <p:spPr>
          <a:xfrm>
            <a:off x="3291840" y="2633472"/>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CI gate via watsonx Orchestrate</a:t>
            </a:r>
            <a:endParaRPr lang="en-US" sz="850" dirty="0"/>
          </a:p>
        </p:txBody>
      </p:sp>
      <p:sp>
        <p:nvSpPr>
          <p:cNvPr id="32" name="Shape 30"/>
          <p:cNvSpPr/>
          <p:nvPr/>
        </p:nvSpPr>
        <p:spPr>
          <a:xfrm>
            <a:off x="3291840" y="2999232"/>
            <a:ext cx="2377440" cy="0"/>
          </a:xfrm>
          <a:prstGeom prst="line">
            <a:avLst/>
          </a:prstGeom>
          <a:noFill/>
          <a:ln w="3810">
            <a:solidFill>
              <a:srgbClr val="52525B"/>
            </a:solidFill>
            <a:prstDash val="solid"/>
          </a:ln>
        </p:spPr>
      </p:sp>
      <p:sp>
        <p:nvSpPr>
          <p:cNvPr id="33" name="Text 31"/>
          <p:cNvSpPr/>
          <p:nvPr/>
        </p:nvSpPr>
        <p:spPr>
          <a:xfrm>
            <a:off x="3291840" y="3054096"/>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watsonx.governance lineage logging</a:t>
            </a:r>
            <a:endParaRPr lang="en-US" sz="850" dirty="0"/>
          </a:p>
        </p:txBody>
      </p:sp>
      <p:sp>
        <p:nvSpPr>
          <p:cNvPr id="34" name="Shape 32"/>
          <p:cNvSpPr/>
          <p:nvPr/>
        </p:nvSpPr>
        <p:spPr>
          <a:xfrm>
            <a:off x="3291840" y="3419856"/>
            <a:ext cx="2377440" cy="0"/>
          </a:xfrm>
          <a:prstGeom prst="line">
            <a:avLst/>
          </a:prstGeom>
          <a:noFill/>
          <a:ln w="3810">
            <a:solidFill>
              <a:srgbClr val="52525B"/>
            </a:solidFill>
            <a:prstDash val="solid"/>
          </a:ln>
        </p:spPr>
      </p:sp>
      <p:sp>
        <p:nvSpPr>
          <p:cNvPr id="35" name="Text 33"/>
          <p:cNvSpPr/>
          <p:nvPr/>
        </p:nvSpPr>
        <p:spPr>
          <a:xfrm>
            <a:off x="3291840" y="3474720"/>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3–4 policy domains in corpus</a:t>
            </a:r>
            <a:endParaRPr lang="en-US" sz="850" dirty="0"/>
          </a:p>
        </p:txBody>
      </p:sp>
      <p:sp>
        <p:nvSpPr>
          <p:cNvPr id="36" name="Shape 34"/>
          <p:cNvSpPr/>
          <p:nvPr/>
        </p:nvSpPr>
        <p:spPr>
          <a:xfrm>
            <a:off x="3291840" y="3840480"/>
            <a:ext cx="2377440" cy="0"/>
          </a:xfrm>
          <a:prstGeom prst="line">
            <a:avLst/>
          </a:prstGeom>
          <a:noFill/>
          <a:ln w="3810">
            <a:solidFill>
              <a:srgbClr val="52525B"/>
            </a:solidFill>
            <a:prstDash val="solid"/>
          </a:ln>
        </p:spPr>
      </p:sp>
      <p:sp>
        <p:nvSpPr>
          <p:cNvPr id="37" name="Text 35"/>
          <p:cNvSpPr/>
          <p:nvPr/>
        </p:nvSpPr>
        <p:spPr>
          <a:xfrm>
            <a:off x="3291840" y="3895344"/>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Watson Discovery automated ingestion</a:t>
            </a:r>
            <a:endParaRPr lang="en-US" sz="850" dirty="0"/>
          </a:p>
        </p:txBody>
      </p:sp>
      <p:sp>
        <p:nvSpPr>
          <p:cNvPr id="38" name="Shape 36"/>
          <p:cNvSpPr/>
          <p:nvPr/>
        </p:nvSpPr>
        <p:spPr>
          <a:xfrm>
            <a:off x="3246120" y="4370832"/>
            <a:ext cx="2514600" cy="457200"/>
          </a:xfrm>
          <a:prstGeom prst="roundRect">
            <a:avLst>
              <a:gd name="adj" fmla="val 10000"/>
            </a:avLst>
          </a:prstGeom>
          <a:solidFill>
            <a:srgbClr val="111111"/>
          </a:solidFill>
          <a:ln w="10160">
            <a:solidFill>
              <a:srgbClr val="FF007A"/>
            </a:solidFill>
            <a:prstDash val="solid"/>
          </a:ln>
        </p:spPr>
      </p:sp>
      <p:sp>
        <p:nvSpPr>
          <p:cNvPr id="39" name="Text 37"/>
          <p:cNvSpPr/>
          <p:nvPr/>
        </p:nvSpPr>
        <p:spPr>
          <a:xfrm>
            <a:off x="3291840" y="4407408"/>
            <a:ext cx="2423160" cy="384048"/>
          </a:xfrm>
          <a:prstGeom prst="rect">
            <a:avLst/>
          </a:prstGeom>
          <a:noFill/>
          <a:ln/>
        </p:spPr>
        <p:txBody>
          <a:bodyPr wrap="square" lIns="0" tIns="0" rIns="0" bIns="0" rtlCol="0" anchor="ctr"/>
          <a:lstStyle/>
          <a:p>
            <a:pPr indent="0" marL="0">
              <a:buNone/>
            </a:pPr>
            <a:r>
              <a:rPr lang="en-US" sz="750" dirty="0">
                <a:solidFill>
                  <a:srgbClr val="FF007A"/>
                </a:solidFill>
                <a:latin typeface="Arial" pitchFamily="34" charset="0"/>
                <a:ea typeface="Arial" pitchFamily="34" charset="-122"/>
                <a:cs typeface="Arial" pitchFamily="34" charset="-120"/>
              </a:rPr>
              <a:t>✓ Gate: &lt;5% false positive rate, CI gate fail-open tested</a:t>
            </a:r>
            <a:endParaRPr lang="en-US" sz="750" dirty="0"/>
          </a:p>
        </p:txBody>
      </p:sp>
      <p:sp>
        <p:nvSpPr>
          <p:cNvPr id="40" name="Shape 38"/>
          <p:cNvSpPr/>
          <p:nvPr/>
        </p:nvSpPr>
        <p:spPr>
          <a:xfrm>
            <a:off x="5989320" y="1005840"/>
            <a:ext cx="2697480" cy="3931920"/>
          </a:xfrm>
          <a:prstGeom prst="roundRect">
            <a:avLst>
              <a:gd name="adj" fmla="val 2712"/>
            </a:avLst>
          </a:prstGeom>
          <a:solidFill>
            <a:srgbClr val="0A0A0A"/>
          </a:solidFill>
          <a:ln w="12700">
            <a:solidFill>
              <a:srgbClr val="E5FF00"/>
            </a:solidFill>
            <a:prstDash val="solid"/>
          </a:ln>
          <a:effectLst>
            <a:outerShdw sx="100000" sy="100000" kx="0" ky="0" algn="bl" rotWithShape="0" blurRad="101600" dist="38100" dir="2700000">
              <a:srgbClr val="000000">
                <a:alpha val="35000"/>
              </a:srgbClr>
            </a:outerShdw>
          </a:effectLst>
        </p:spPr>
      </p:sp>
      <p:sp>
        <p:nvSpPr>
          <p:cNvPr id="41" name="Shape 39"/>
          <p:cNvSpPr/>
          <p:nvPr/>
        </p:nvSpPr>
        <p:spPr>
          <a:xfrm>
            <a:off x="6035040" y="1051560"/>
            <a:ext cx="2606040" cy="621792"/>
          </a:xfrm>
          <a:prstGeom prst="roundRect">
            <a:avLst>
              <a:gd name="adj" fmla="val 10294"/>
            </a:avLst>
          </a:prstGeom>
          <a:solidFill>
            <a:srgbClr val="E5FF00"/>
          </a:solidFill>
          <a:ln w="12700">
            <a:solidFill>
              <a:srgbClr val="E5FF00"/>
            </a:solidFill>
            <a:prstDash val="solid"/>
          </a:ln>
        </p:spPr>
      </p:sp>
      <p:sp>
        <p:nvSpPr>
          <p:cNvPr id="42" name="Text 40"/>
          <p:cNvSpPr/>
          <p:nvPr/>
        </p:nvSpPr>
        <p:spPr>
          <a:xfrm>
            <a:off x="6080760" y="1078992"/>
            <a:ext cx="2560320" cy="274320"/>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Phase 3</a:t>
            </a:r>
            <a:endParaRPr lang="en-US" sz="1100" dirty="0"/>
          </a:p>
        </p:txBody>
      </p:sp>
      <p:sp>
        <p:nvSpPr>
          <p:cNvPr id="43" name="Text 41"/>
          <p:cNvSpPr/>
          <p:nvPr/>
        </p:nvSpPr>
        <p:spPr>
          <a:xfrm>
            <a:off x="6080760" y="1335024"/>
            <a:ext cx="2560320" cy="256032"/>
          </a:xfrm>
          <a:prstGeom prst="rect">
            <a:avLst/>
          </a:prstGeom>
          <a:noFill/>
          <a:ln/>
        </p:spPr>
        <p:txBody>
          <a:bodyPr wrap="square" lIns="0" tIns="0" rIns="0" bIns="0" rtlCol="0" anchor="ctr"/>
          <a:lstStyle/>
          <a:p>
            <a:pPr algn="ctr" indent="0" marL="0">
              <a:buNone/>
            </a:pPr>
            <a:r>
              <a:rPr lang="en-US" sz="800" dirty="0">
                <a:solidFill>
                  <a:srgbClr val="333300"/>
                </a:solidFill>
                <a:latin typeface="Arial" pitchFamily="34" charset="0"/>
                <a:ea typeface="Arial" pitchFamily="34" charset="-122"/>
                <a:cs typeface="Arial" pitchFamily="34" charset="-120"/>
              </a:rPr>
              <a:t>8–12 wks · Enterprise-Ready</a:t>
            </a:r>
            <a:endParaRPr lang="en-US" sz="800" dirty="0"/>
          </a:p>
        </p:txBody>
      </p:sp>
      <p:sp>
        <p:nvSpPr>
          <p:cNvPr id="44" name="Text 42"/>
          <p:cNvSpPr/>
          <p:nvPr/>
        </p:nvSpPr>
        <p:spPr>
          <a:xfrm>
            <a:off x="6126480" y="1792224"/>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Multi-repo, multi-tenant scoping</a:t>
            </a:r>
            <a:endParaRPr lang="en-US" sz="850" dirty="0"/>
          </a:p>
        </p:txBody>
      </p:sp>
      <p:sp>
        <p:nvSpPr>
          <p:cNvPr id="45" name="Shape 43"/>
          <p:cNvSpPr/>
          <p:nvPr/>
        </p:nvSpPr>
        <p:spPr>
          <a:xfrm>
            <a:off x="6126480" y="2157984"/>
            <a:ext cx="2377440" cy="0"/>
          </a:xfrm>
          <a:prstGeom prst="line">
            <a:avLst/>
          </a:prstGeom>
          <a:noFill/>
          <a:ln w="3810">
            <a:solidFill>
              <a:srgbClr val="52525B"/>
            </a:solidFill>
            <a:prstDash val="solid"/>
          </a:ln>
        </p:spPr>
      </p:sp>
      <p:sp>
        <p:nvSpPr>
          <p:cNvPr id="46" name="Text 44"/>
          <p:cNvSpPr/>
          <p:nvPr/>
        </p:nvSpPr>
        <p:spPr>
          <a:xfrm>
            <a:off x="6126480" y="2212848"/>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Engineering Manager analytics dashboard</a:t>
            </a:r>
            <a:endParaRPr lang="en-US" sz="850" dirty="0"/>
          </a:p>
        </p:txBody>
      </p:sp>
      <p:sp>
        <p:nvSpPr>
          <p:cNvPr id="47" name="Shape 45"/>
          <p:cNvSpPr/>
          <p:nvPr/>
        </p:nvSpPr>
        <p:spPr>
          <a:xfrm>
            <a:off x="6126480" y="2578608"/>
            <a:ext cx="2377440" cy="0"/>
          </a:xfrm>
          <a:prstGeom prst="line">
            <a:avLst/>
          </a:prstGeom>
          <a:noFill/>
          <a:ln w="3810">
            <a:solidFill>
              <a:srgbClr val="52525B"/>
            </a:solidFill>
            <a:prstDash val="solid"/>
          </a:ln>
        </p:spPr>
      </p:sp>
      <p:sp>
        <p:nvSpPr>
          <p:cNvPr id="48" name="Text 46"/>
          <p:cNvSpPr/>
          <p:nvPr/>
        </p:nvSpPr>
        <p:spPr>
          <a:xfrm>
            <a:off x="6126480" y="2633472"/>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Override approval chain</a:t>
            </a:r>
            <a:endParaRPr lang="en-US" sz="850" dirty="0"/>
          </a:p>
        </p:txBody>
      </p:sp>
      <p:sp>
        <p:nvSpPr>
          <p:cNvPr id="49" name="Shape 47"/>
          <p:cNvSpPr/>
          <p:nvPr/>
        </p:nvSpPr>
        <p:spPr>
          <a:xfrm>
            <a:off x="6126480" y="2999232"/>
            <a:ext cx="2377440" cy="0"/>
          </a:xfrm>
          <a:prstGeom prst="line">
            <a:avLst/>
          </a:prstGeom>
          <a:noFill/>
          <a:ln w="3810">
            <a:solidFill>
              <a:srgbClr val="52525B"/>
            </a:solidFill>
            <a:prstDash val="solid"/>
          </a:ln>
        </p:spPr>
      </p:sp>
      <p:sp>
        <p:nvSpPr>
          <p:cNvPr id="50" name="Text 48"/>
          <p:cNvSpPr/>
          <p:nvPr/>
        </p:nvSpPr>
        <p:spPr>
          <a:xfrm>
            <a:off x="6126480" y="3054096"/>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Auto-remediation as reviewable diffs</a:t>
            </a:r>
            <a:endParaRPr lang="en-US" sz="850" dirty="0"/>
          </a:p>
        </p:txBody>
      </p:sp>
      <p:sp>
        <p:nvSpPr>
          <p:cNvPr id="51" name="Shape 49"/>
          <p:cNvSpPr/>
          <p:nvPr/>
        </p:nvSpPr>
        <p:spPr>
          <a:xfrm>
            <a:off x="6126480" y="3419856"/>
            <a:ext cx="2377440" cy="0"/>
          </a:xfrm>
          <a:prstGeom prst="line">
            <a:avLst/>
          </a:prstGeom>
          <a:noFill/>
          <a:ln w="3810">
            <a:solidFill>
              <a:srgbClr val="52525B"/>
            </a:solidFill>
            <a:prstDash val="solid"/>
          </a:ln>
        </p:spPr>
      </p:sp>
      <p:sp>
        <p:nvSpPr>
          <p:cNvPr id="52" name="Text 50"/>
          <p:cNvSpPr/>
          <p:nvPr/>
        </p:nvSpPr>
        <p:spPr>
          <a:xfrm>
            <a:off x="6126480" y="3474720"/>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Dedicated MCP server security review</a:t>
            </a:r>
            <a:endParaRPr lang="en-US" sz="850" dirty="0"/>
          </a:p>
        </p:txBody>
      </p:sp>
      <p:sp>
        <p:nvSpPr>
          <p:cNvPr id="53" name="Shape 51"/>
          <p:cNvSpPr/>
          <p:nvPr/>
        </p:nvSpPr>
        <p:spPr>
          <a:xfrm>
            <a:off x="6126480" y="3840480"/>
            <a:ext cx="2377440" cy="0"/>
          </a:xfrm>
          <a:prstGeom prst="line">
            <a:avLst/>
          </a:prstGeom>
          <a:noFill/>
          <a:ln w="3810">
            <a:solidFill>
              <a:srgbClr val="52525B"/>
            </a:solidFill>
            <a:prstDash val="solid"/>
          </a:ln>
        </p:spPr>
      </p:sp>
      <p:sp>
        <p:nvSpPr>
          <p:cNvPr id="54" name="Text 52"/>
          <p:cNvSpPr/>
          <p:nvPr/>
        </p:nvSpPr>
        <p:spPr>
          <a:xfrm>
            <a:off x="6126480" y="3895344"/>
            <a:ext cx="2423160" cy="36576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  Self-serve team onboarding docs</a:t>
            </a:r>
            <a:endParaRPr lang="en-US" sz="850" dirty="0"/>
          </a:p>
        </p:txBody>
      </p:sp>
      <p:sp>
        <p:nvSpPr>
          <p:cNvPr id="55" name="Shape 53"/>
          <p:cNvSpPr/>
          <p:nvPr/>
        </p:nvSpPr>
        <p:spPr>
          <a:xfrm>
            <a:off x="6080760" y="4370832"/>
            <a:ext cx="2514600" cy="457200"/>
          </a:xfrm>
          <a:prstGeom prst="roundRect">
            <a:avLst>
              <a:gd name="adj" fmla="val 10000"/>
            </a:avLst>
          </a:prstGeom>
          <a:solidFill>
            <a:srgbClr val="111111"/>
          </a:solidFill>
          <a:ln w="10160">
            <a:solidFill>
              <a:srgbClr val="E5FF00"/>
            </a:solidFill>
            <a:prstDash val="solid"/>
          </a:ln>
        </p:spPr>
      </p:sp>
      <p:sp>
        <p:nvSpPr>
          <p:cNvPr id="56" name="Text 54"/>
          <p:cNvSpPr/>
          <p:nvPr/>
        </p:nvSpPr>
        <p:spPr>
          <a:xfrm>
            <a:off x="6126480" y="4407408"/>
            <a:ext cx="2423160" cy="384048"/>
          </a:xfrm>
          <a:prstGeom prst="rect">
            <a:avLst/>
          </a:prstGeom>
          <a:noFill/>
          <a:ln/>
        </p:spPr>
        <p:txBody>
          <a:bodyPr wrap="square" lIns="0" tIns="0" rIns="0" bIns="0" rtlCol="0" anchor="ctr"/>
          <a:lstStyle/>
          <a:p>
            <a:pPr indent="0" marL="0">
              <a:buNone/>
            </a:pPr>
            <a:r>
              <a:rPr lang="en-US" sz="750" dirty="0">
                <a:solidFill>
                  <a:srgbClr val="E5FF00"/>
                </a:solidFill>
                <a:latin typeface="Arial" pitchFamily="34" charset="0"/>
                <a:ea typeface="Arial" pitchFamily="34" charset="-122"/>
                <a:cs typeface="Arial" pitchFamily="34" charset="-120"/>
              </a:rPr>
              <a:t>✓ Gate: New team onboards without direct help from build team</a:t>
            </a:r>
            <a:endParaRPr lang="en-US" sz="750" dirty="0"/>
          </a:p>
        </p:txBody>
      </p:sp>
      <p:sp>
        <p:nvSpPr>
          <p:cNvPr id="57" name="Shape 55"/>
          <p:cNvSpPr/>
          <p:nvPr/>
        </p:nvSpPr>
        <p:spPr>
          <a:xfrm>
            <a:off x="320040" y="4983480"/>
            <a:ext cx="8503920" cy="109728"/>
          </a:xfrm>
          <a:prstGeom prst="roundRect">
            <a:avLst>
              <a:gd name="adj" fmla="val 25000"/>
            </a:avLst>
          </a:prstGeom>
          <a:solidFill>
            <a:srgbClr val="111111"/>
          </a:solidFill>
          <a:ln w="6350">
            <a:solidFill>
              <a:srgbClr val="52525B"/>
            </a:solidFill>
            <a:prstDash val="solid"/>
          </a:ln>
        </p:spPr>
      </p:sp>
      <p:sp>
        <p:nvSpPr>
          <p:cNvPr id="58" name="Shape 56"/>
          <p:cNvSpPr/>
          <p:nvPr/>
        </p:nvSpPr>
        <p:spPr>
          <a:xfrm>
            <a:off x="320040" y="4983480"/>
            <a:ext cx="5669280" cy="109728"/>
          </a:xfrm>
          <a:prstGeom prst="roundRect">
            <a:avLst>
              <a:gd name="adj" fmla="val 25000"/>
            </a:avLst>
          </a:prstGeom>
          <a:solidFill>
            <a:srgbClr val="FF007A"/>
          </a:solidFill>
          <a:ln w="12700">
            <a:solidFill>
              <a:srgbClr val="FF007A"/>
            </a:solidFill>
            <a:prstDash val="solid"/>
          </a:ln>
        </p:spPr>
      </p:sp>
      <p:sp>
        <p:nvSpPr>
          <p:cNvPr id="59" name="Text 57"/>
          <p:cNvSpPr/>
          <p:nvPr/>
        </p:nvSpPr>
        <p:spPr>
          <a:xfrm>
            <a:off x="320040" y="4937760"/>
            <a:ext cx="8503920" cy="128016"/>
          </a:xfrm>
          <a:prstGeom prst="rect">
            <a:avLst/>
          </a:prstGeom>
          <a:noFill/>
          <a:ln/>
        </p:spPr>
        <p:txBody>
          <a:bodyPr wrap="square" lIns="0" tIns="0" rIns="0" bIns="0" rtlCol="0" anchor="ctr"/>
          <a:lstStyle/>
          <a:p>
            <a:pPr algn="ctr" indent="0" marL="0">
              <a:buNone/>
            </a:pPr>
            <a:r>
              <a:rPr lang="en-US" sz="700" dirty="0">
                <a:solidFill>
                  <a:srgbClr val="A1A1AA"/>
                </a:solidFill>
                <a:latin typeface="Arial" pitchFamily="34" charset="0"/>
                <a:ea typeface="Arial" pitchFamily="34" charset="-122"/>
                <a:cs typeface="Arial" pitchFamily="34" charset="-120"/>
              </a:rPr>
              <a:t>Current: Phase 1–2 complete · Deployed on Vercel + Railway</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007A"/>
          </a:solidFill>
          <a:ln w="12700">
            <a:solidFill>
              <a:srgbClr val="FF007A"/>
            </a:solidFill>
            <a:prstDash val="solid"/>
          </a:ln>
        </p:spPr>
      </p:sp>
      <p:sp>
        <p:nvSpPr>
          <p:cNvPr id="3" name="Text 1"/>
          <p:cNvSpPr/>
          <p:nvPr/>
        </p:nvSpPr>
        <p:spPr>
          <a:xfrm>
            <a:off x="457200" y="182880"/>
            <a:ext cx="8229600" cy="274320"/>
          </a:xfrm>
          <a:prstGeom prst="rect">
            <a:avLst/>
          </a:prstGeom>
          <a:noFill/>
          <a:ln/>
        </p:spPr>
        <p:txBody>
          <a:bodyPr wrap="square" lIns="0" tIns="0" rIns="0" bIns="0" rtlCol="0" anchor="ctr"/>
          <a:lstStyle/>
          <a:p>
            <a:pPr indent="0" marL="0">
              <a:buNone/>
            </a:pPr>
            <a:r>
              <a:rPr lang="en-US" sz="800" b="1" spc="200" kern="0" dirty="0">
                <a:solidFill>
                  <a:srgbClr val="FF007A"/>
                </a:solidFill>
                <a:latin typeface="Arial" pitchFamily="34" charset="0"/>
                <a:ea typeface="Arial" pitchFamily="34" charset="-122"/>
                <a:cs typeface="Arial" pitchFamily="34" charset="-120"/>
              </a:rPr>
              <a:t>MARKET DIFFERENTIATION</a:t>
            </a:r>
            <a:endParaRPr lang="en-US" sz="800" dirty="0"/>
          </a:p>
        </p:txBody>
      </p:sp>
      <p:sp>
        <p:nvSpPr>
          <p:cNvPr id="4" name="Text 2"/>
          <p:cNvSpPr/>
          <p:nvPr/>
        </p:nvSpPr>
        <p:spPr>
          <a:xfrm>
            <a:off x="457200" y="45720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Why Sentinel Spec vs. Copilot / CloudWatch</a:t>
            </a:r>
            <a:endParaRPr lang="en-US" sz="2200" dirty="0"/>
          </a:p>
        </p:txBody>
      </p:sp>
      <p:sp>
        <p:nvSpPr>
          <p:cNvPr id="5" name="Shape 3"/>
          <p:cNvSpPr/>
          <p:nvPr/>
        </p:nvSpPr>
        <p:spPr>
          <a:xfrm>
            <a:off x="457200" y="914400"/>
            <a:ext cx="8229600" cy="0"/>
          </a:xfrm>
          <a:prstGeom prst="line">
            <a:avLst/>
          </a:prstGeom>
          <a:noFill/>
          <a:ln w="6350">
            <a:solidFill>
              <a:srgbClr val="52525B"/>
            </a:solidFill>
            <a:prstDash val="solid"/>
          </a:ln>
        </p:spPr>
      </p:sp>
      <p:sp>
        <p:nvSpPr>
          <p:cNvPr id="6" name="Shape 4"/>
          <p:cNvSpPr/>
          <p:nvPr/>
        </p:nvSpPr>
        <p:spPr>
          <a:xfrm>
            <a:off x="365760" y="960120"/>
            <a:ext cx="2057400" cy="347472"/>
          </a:xfrm>
          <a:prstGeom prst="rect">
            <a:avLst/>
          </a:prstGeom>
          <a:solidFill>
            <a:srgbClr val="111111"/>
          </a:solidFill>
          <a:ln w="6350">
            <a:solidFill>
              <a:srgbClr val="52525B"/>
            </a:solidFill>
            <a:prstDash val="solid"/>
          </a:ln>
        </p:spPr>
      </p:sp>
      <p:sp>
        <p:nvSpPr>
          <p:cNvPr id="7" name="Text 5"/>
          <p:cNvSpPr/>
          <p:nvPr/>
        </p:nvSpPr>
        <p:spPr>
          <a:xfrm>
            <a:off x="438912" y="987552"/>
            <a:ext cx="1965960" cy="274320"/>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CAPABILITY</a:t>
            </a:r>
            <a:endParaRPr lang="en-US" sz="800" dirty="0"/>
          </a:p>
        </p:txBody>
      </p:sp>
      <p:sp>
        <p:nvSpPr>
          <p:cNvPr id="8" name="Shape 6"/>
          <p:cNvSpPr/>
          <p:nvPr/>
        </p:nvSpPr>
        <p:spPr>
          <a:xfrm>
            <a:off x="2514600" y="960120"/>
            <a:ext cx="2057400" cy="347472"/>
          </a:xfrm>
          <a:prstGeom prst="rect">
            <a:avLst/>
          </a:prstGeom>
          <a:solidFill>
            <a:srgbClr val="111111"/>
          </a:solidFill>
          <a:ln w="6350">
            <a:solidFill>
              <a:srgbClr val="52525B"/>
            </a:solidFill>
            <a:prstDash val="solid"/>
          </a:ln>
        </p:spPr>
      </p:sp>
      <p:sp>
        <p:nvSpPr>
          <p:cNvPr id="9" name="Text 7"/>
          <p:cNvSpPr/>
          <p:nvPr/>
        </p:nvSpPr>
        <p:spPr>
          <a:xfrm>
            <a:off x="2587752" y="987552"/>
            <a:ext cx="1965960" cy="274320"/>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GITHUB COPILOT</a:t>
            </a:r>
            <a:endParaRPr lang="en-US" sz="800" dirty="0"/>
          </a:p>
        </p:txBody>
      </p:sp>
      <p:sp>
        <p:nvSpPr>
          <p:cNvPr id="10" name="Shape 8"/>
          <p:cNvSpPr/>
          <p:nvPr/>
        </p:nvSpPr>
        <p:spPr>
          <a:xfrm>
            <a:off x="4663440" y="960120"/>
            <a:ext cx="2057400" cy="347472"/>
          </a:xfrm>
          <a:prstGeom prst="rect">
            <a:avLst/>
          </a:prstGeom>
          <a:solidFill>
            <a:srgbClr val="111111"/>
          </a:solidFill>
          <a:ln w="6350">
            <a:solidFill>
              <a:srgbClr val="52525B"/>
            </a:solidFill>
            <a:prstDash val="solid"/>
          </a:ln>
        </p:spPr>
      </p:sp>
      <p:sp>
        <p:nvSpPr>
          <p:cNvPr id="11" name="Text 9"/>
          <p:cNvSpPr/>
          <p:nvPr/>
        </p:nvSpPr>
        <p:spPr>
          <a:xfrm>
            <a:off x="4736592" y="987552"/>
            <a:ext cx="1965960" cy="274320"/>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AWS CLOUDWATCH</a:t>
            </a:r>
            <a:endParaRPr lang="en-US" sz="800" dirty="0"/>
          </a:p>
        </p:txBody>
      </p:sp>
      <p:sp>
        <p:nvSpPr>
          <p:cNvPr id="12" name="Shape 10"/>
          <p:cNvSpPr/>
          <p:nvPr/>
        </p:nvSpPr>
        <p:spPr>
          <a:xfrm>
            <a:off x="6812280" y="960120"/>
            <a:ext cx="2057400" cy="347472"/>
          </a:xfrm>
          <a:prstGeom prst="rect">
            <a:avLst/>
          </a:prstGeom>
          <a:solidFill>
            <a:srgbClr val="FF007A"/>
          </a:solidFill>
          <a:ln w="6350">
            <a:solidFill>
              <a:srgbClr val="52525B"/>
            </a:solidFill>
            <a:prstDash val="solid"/>
          </a:ln>
        </p:spPr>
      </p:sp>
      <p:sp>
        <p:nvSpPr>
          <p:cNvPr id="13" name="Text 11"/>
          <p:cNvSpPr/>
          <p:nvPr/>
        </p:nvSpPr>
        <p:spPr>
          <a:xfrm>
            <a:off x="6885432" y="987552"/>
            <a:ext cx="1965960" cy="274320"/>
          </a:xfrm>
          <a:prstGeom prst="rect">
            <a:avLst/>
          </a:prstGeom>
          <a:noFill/>
          <a:ln/>
        </p:spPr>
        <p:txBody>
          <a:bodyPr wrap="square" lIns="0" tIns="0" rIns="0" bIns="0" rtlCol="0" anchor="ctr"/>
          <a:lstStyle/>
          <a:p>
            <a:pPr algn="ctr" indent="0" marL="0">
              <a:buNone/>
            </a:pPr>
            <a:r>
              <a:rPr lang="en-US" sz="800" b="1" spc="50" kern="0" dirty="0">
                <a:solidFill>
                  <a:srgbClr val="000000"/>
                </a:solidFill>
                <a:latin typeface="Arial" pitchFamily="34" charset="0"/>
                <a:ea typeface="Arial" pitchFamily="34" charset="-122"/>
                <a:cs typeface="Arial" pitchFamily="34" charset="-120"/>
              </a:rPr>
              <a:t>SENTINEL SPEC</a:t>
            </a:r>
            <a:endParaRPr lang="en-US" sz="800" dirty="0"/>
          </a:p>
        </p:txBody>
      </p:sp>
      <p:sp>
        <p:nvSpPr>
          <p:cNvPr id="14" name="Shape 12"/>
          <p:cNvSpPr/>
          <p:nvPr/>
        </p:nvSpPr>
        <p:spPr>
          <a:xfrm>
            <a:off x="365760" y="1353312"/>
            <a:ext cx="2057400" cy="384048"/>
          </a:xfrm>
          <a:prstGeom prst="rect">
            <a:avLst/>
          </a:prstGeom>
          <a:solidFill>
            <a:srgbClr val="0A0A0A"/>
          </a:solidFill>
          <a:ln w="3810">
            <a:solidFill>
              <a:srgbClr val="52525B"/>
            </a:solidFill>
            <a:prstDash val="solid"/>
          </a:ln>
        </p:spPr>
      </p:sp>
      <p:sp>
        <p:nvSpPr>
          <p:cNvPr id="15" name="Text 13"/>
          <p:cNvSpPr/>
          <p:nvPr/>
        </p:nvSpPr>
        <p:spPr>
          <a:xfrm>
            <a:off x="438912" y="1408176"/>
            <a:ext cx="1965960" cy="27432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Checks code correctness</a:t>
            </a:r>
            <a:endParaRPr lang="en-US" sz="900" dirty="0"/>
          </a:p>
        </p:txBody>
      </p:sp>
      <p:sp>
        <p:nvSpPr>
          <p:cNvPr id="16" name="Shape 14"/>
          <p:cNvSpPr/>
          <p:nvPr/>
        </p:nvSpPr>
        <p:spPr>
          <a:xfrm>
            <a:off x="2514600" y="1353312"/>
            <a:ext cx="2057400" cy="384048"/>
          </a:xfrm>
          <a:prstGeom prst="rect">
            <a:avLst/>
          </a:prstGeom>
          <a:solidFill>
            <a:srgbClr val="0A0A0A"/>
          </a:solidFill>
          <a:ln w="3810">
            <a:solidFill>
              <a:srgbClr val="52525B"/>
            </a:solidFill>
            <a:prstDash val="solid"/>
          </a:ln>
        </p:spPr>
      </p:sp>
      <p:sp>
        <p:nvSpPr>
          <p:cNvPr id="17" name="Text 15"/>
          <p:cNvSpPr/>
          <p:nvPr/>
        </p:nvSpPr>
        <p:spPr>
          <a:xfrm>
            <a:off x="2587752" y="1408176"/>
            <a:ext cx="1965960" cy="274320"/>
          </a:xfrm>
          <a:prstGeom prst="rect">
            <a:avLst/>
          </a:prstGeom>
          <a:noFill/>
          <a:ln/>
        </p:spPr>
        <p:txBody>
          <a:bodyPr wrap="square" lIns="0" tIns="0" rIns="0" bIns="0" rtlCol="0" anchor="ctr"/>
          <a:lstStyle/>
          <a:p>
            <a:pPr algn="ctr" indent="0" marL="0">
              <a:buNone/>
            </a:pPr>
            <a:r>
              <a:rPr lang="en-US" sz="900" dirty="0">
                <a:solidFill>
                  <a:srgbClr val="22C55E"/>
                </a:solidFill>
                <a:latin typeface="Arial" pitchFamily="34" charset="0"/>
                <a:ea typeface="Arial" pitchFamily="34" charset="-122"/>
                <a:cs typeface="Arial" pitchFamily="34" charset="-120"/>
              </a:rPr>
              <a:t>✓</a:t>
            </a:r>
            <a:endParaRPr lang="en-US" sz="900" dirty="0"/>
          </a:p>
        </p:txBody>
      </p:sp>
      <p:sp>
        <p:nvSpPr>
          <p:cNvPr id="18" name="Shape 16"/>
          <p:cNvSpPr/>
          <p:nvPr/>
        </p:nvSpPr>
        <p:spPr>
          <a:xfrm>
            <a:off x="4663440" y="1353312"/>
            <a:ext cx="2057400" cy="384048"/>
          </a:xfrm>
          <a:prstGeom prst="rect">
            <a:avLst/>
          </a:prstGeom>
          <a:solidFill>
            <a:srgbClr val="0A0A0A"/>
          </a:solidFill>
          <a:ln w="3810">
            <a:solidFill>
              <a:srgbClr val="52525B"/>
            </a:solidFill>
            <a:prstDash val="solid"/>
          </a:ln>
        </p:spPr>
      </p:sp>
      <p:sp>
        <p:nvSpPr>
          <p:cNvPr id="19" name="Text 17"/>
          <p:cNvSpPr/>
          <p:nvPr/>
        </p:nvSpPr>
        <p:spPr>
          <a:xfrm>
            <a:off x="4736592" y="1408176"/>
            <a:ext cx="1965960" cy="27432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a:t>
            </a:r>
            <a:endParaRPr lang="en-US" sz="900" dirty="0"/>
          </a:p>
        </p:txBody>
      </p:sp>
      <p:sp>
        <p:nvSpPr>
          <p:cNvPr id="20" name="Shape 18"/>
          <p:cNvSpPr/>
          <p:nvPr/>
        </p:nvSpPr>
        <p:spPr>
          <a:xfrm>
            <a:off x="6812280" y="1353312"/>
            <a:ext cx="2057400" cy="384048"/>
          </a:xfrm>
          <a:prstGeom prst="rect">
            <a:avLst/>
          </a:prstGeom>
          <a:solidFill>
            <a:srgbClr val="001A00"/>
          </a:solidFill>
          <a:ln w="10160">
            <a:solidFill>
              <a:srgbClr val="FF007A"/>
            </a:solidFill>
            <a:prstDash val="solid"/>
          </a:ln>
        </p:spPr>
      </p:sp>
      <p:sp>
        <p:nvSpPr>
          <p:cNvPr id="21" name="Text 19"/>
          <p:cNvSpPr/>
          <p:nvPr/>
        </p:nvSpPr>
        <p:spPr>
          <a:xfrm>
            <a:off x="6885432" y="1408176"/>
            <a:ext cx="1965960" cy="274320"/>
          </a:xfrm>
          <a:prstGeom prst="rect">
            <a:avLst/>
          </a:prstGeom>
          <a:noFill/>
          <a:ln/>
        </p:spPr>
        <p:txBody>
          <a:bodyPr wrap="square" lIns="0" tIns="0" rIns="0" bIns="0" rtlCol="0" anchor="ctr"/>
          <a:lstStyle/>
          <a:p>
            <a:pPr algn="ctr" indent="0" marL="0">
              <a:buNone/>
            </a:pPr>
            <a:r>
              <a:rPr lang="en-US" sz="900" b="1" dirty="0">
                <a:solidFill>
                  <a:srgbClr val="E5FF00"/>
                </a:solidFill>
                <a:latin typeface="Arial" pitchFamily="34" charset="0"/>
                <a:ea typeface="Arial" pitchFamily="34" charset="-122"/>
                <a:cs typeface="Arial" pitchFamily="34" charset="-120"/>
              </a:rPr>
              <a:t>✓</a:t>
            </a:r>
            <a:endParaRPr lang="en-US" sz="900" dirty="0"/>
          </a:p>
        </p:txBody>
      </p:sp>
      <p:sp>
        <p:nvSpPr>
          <p:cNvPr id="22" name="Shape 20"/>
          <p:cNvSpPr/>
          <p:nvPr/>
        </p:nvSpPr>
        <p:spPr>
          <a:xfrm>
            <a:off x="365760" y="1783080"/>
            <a:ext cx="2057400" cy="384048"/>
          </a:xfrm>
          <a:prstGeom prst="rect">
            <a:avLst/>
          </a:prstGeom>
          <a:solidFill>
            <a:srgbClr val="111111"/>
          </a:solidFill>
          <a:ln w="3810">
            <a:solidFill>
              <a:srgbClr val="52525B"/>
            </a:solidFill>
            <a:prstDash val="solid"/>
          </a:ln>
        </p:spPr>
      </p:sp>
      <p:sp>
        <p:nvSpPr>
          <p:cNvPr id="23" name="Text 21"/>
          <p:cNvSpPr/>
          <p:nvPr/>
        </p:nvSpPr>
        <p:spPr>
          <a:xfrm>
            <a:off x="438912" y="1837944"/>
            <a:ext cx="1965960" cy="27432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Enforces org policy/ADRs</a:t>
            </a:r>
            <a:endParaRPr lang="en-US" sz="900" dirty="0"/>
          </a:p>
        </p:txBody>
      </p:sp>
      <p:sp>
        <p:nvSpPr>
          <p:cNvPr id="24" name="Shape 22"/>
          <p:cNvSpPr/>
          <p:nvPr/>
        </p:nvSpPr>
        <p:spPr>
          <a:xfrm>
            <a:off x="2514600" y="1783080"/>
            <a:ext cx="2057400" cy="384048"/>
          </a:xfrm>
          <a:prstGeom prst="rect">
            <a:avLst/>
          </a:prstGeom>
          <a:solidFill>
            <a:srgbClr val="111111"/>
          </a:solidFill>
          <a:ln w="3810">
            <a:solidFill>
              <a:srgbClr val="52525B"/>
            </a:solidFill>
            <a:prstDash val="solid"/>
          </a:ln>
        </p:spPr>
      </p:sp>
      <p:sp>
        <p:nvSpPr>
          <p:cNvPr id="25" name="Text 23"/>
          <p:cNvSpPr/>
          <p:nvPr/>
        </p:nvSpPr>
        <p:spPr>
          <a:xfrm>
            <a:off x="2587752" y="1837944"/>
            <a:ext cx="1965960" cy="274320"/>
          </a:xfrm>
          <a:prstGeom prst="rect">
            <a:avLst/>
          </a:prstGeom>
          <a:noFill/>
          <a:ln/>
        </p:spPr>
        <p:txBody>
          <a:bodyPr wrap="square" lIns="0" tIns="0" rIns="0" bIns="0" rtlCol="0" anchor="ctr"/>
          <a:lstStyle/>
          <a:p>
            <a:pPr algn="ctr" indent="0" marL="0">
              <a:buNone/>
            </a:pPr>
            <a:r>
              <a:rPr lang="en-US" sz="900" dirty="0">
                <a:solidFill>
                  <a:srgbClr val="52525B"/>
                </a:solidFill>
                <a:latin typeface="Arial" pitchFamily="34" charset="0"/>
                <a:ea typeface="Arial" pitchFamily="34" charset="-122"/>
                <a:cs typeface="Arial" pitchFamily="34" charset="-120"/>
              </a:rPr>
              <a:t>✗</a:t>
            </a:r>
            <a:endParaRPr lang="en-US" sz="900" dirty="0"/>
          </a:p>
        </p:txBody>
      </p:sp>
      <p:sp>
        <p:nvSpPr>
          <p:cNvPr id="26" name="Shape 24"/>
          <p:cNvSpPr/>
          <p:nvPr/>
        </p:nvSpPr>
        <p:spPr>
          <a:xfrm>
            <a:off x="4663440" y="1783080"/>
            <a:ext cx="2057400" cy="384048"/>
          </a:xfrm>
          <a:prstGeom prst="rect">
            <a:avLst/>
          </a:prstGeom>
          <a:solidFill>
            <a:srgbClr val="111111"/>
          </a:solidFill>
          <a:ln w="3810">
            <a:solidFill>
              <a:srgbClr val="52525B"/>
            </a:solidFill>
            <a:prstDash val="solid"/>
          </a:ln>
        </p:spPr>
      </p:sp>
      <p:sp>
        <p:nvSpPr>
          <p:cNvPr id="27" name="Text 25"/>
          <p:cNvSpPr/>
          <p:nvPr/>
        </p:nvSpPr>
        <p:spPr>
          <a:xfrm>
            <a:off x="4736592" y="1837944"/>
            <a:ext cx="1965960" cy="274320"/>
          </a:xfrm>
          <a:prstGeom prst="rect">
            <a:avLst/>
          </a:prstGeom>
          <a:noFill/>
          <a:ln/>
        </p:spPr>
        <p:txBody>
          <a:bodyPr wrap="square" lIns="0" tIns="0" rIns="0" bIns="0" rtlCol="0" anchor="ctr"/>
          <a:lstStyle/>
          <a:p>
            <a:pPr algn="ctr" indent="0" marL="0">
              <a:buNone/>
            </a:pPr>
            <a:r>
              <a:rPr lang="en-US" sz="900" dirty="0">
                <a:solidFill>
                  <a:srgbClr val="52525B"/>
                </a:solidFill>
                <a:latin typeface="Arial" pitchFamily="34" charset="0"/>
                <a:ea typeface="Arial" pitchFamily="34" charset="-122"/>
                <a:cs typeface="Arial" pitchFamily="34" charset="-120"/>
              </a:rPr>
              <a:t>✗</a:t>
            </a:r>
            <a:endParaRPr lang="en-US" sz="900" dirty="0"/>
          </a:p>
        </p:txBody>
      </p:sp>
      <p:sp>
        <p:nvSpPr>
          <p:cNvPr id="28" name="Shape 26"/>
          <p:cNvSpPr/>
          <p:nvPr/>
        </p:nvSpPr>
        <p:spPr>
          <a:xfrm>
            <a:off x="6812280" y="1783080"/>
            <a:ext cx="2057400" cy="384048"/>
          </a:xfrm>
          <a:prstGeom prst="rect">
            <a:avLst/>
          </a:prstGeom>
          <a:solidFill>
            <a:srgbClr val="001A00"/>
          </a:solidFill>
          <a:ln w="10160">
            <a:solidFill>
              <a:srgbClr val="FF007A"/>
            </a:solidFill>
            <a:prstDash val="solid"/>
          </a:ln>
        </p:spPr>
      </p:sp>
      <p:sp>
        <p:nvSpPr>
          <p:cNvPr id="29" name="Text 27"/>
          <p:cNvSpPr/>
          <p:nvPr/>
        </p:nvSpPr>
        <p:spPr>
          <a:xfrm>
            <a:off x="6885432" y="1837944"/>
            <a:ext cx="1965960" cy="274320"/>
          </a:xfrm>
          <a:prstGeom prst="rect">
            <a:avLst/>
          </a:prstGeom>
          <a:noFill/>
          <a:ln/>
        </p:spPr>
        <p:txBody>
          <a:bodyPr wrap="square" lIns="0" tIns="0" rIns="0" bIns="0" rtlCol="0" anchor="ctr"/>
          <a:lstStyle/>
          <a:p>
            <a:pPr algn="ctr" indent="0" marL="0">
              <a:buNone/>
            </a:pPr>
            <a:r>
              <a:rPr lang="en-US" sz="900" b="1" dirty="0">
                <a:solidFill>
                  <a:srgbClr val="E5FF00"/>
                </a:solidFill>
                <a:latin typeface="Arial" pitchFamily="34" charset="0"/>
                <a:ea typeface="Arial" pitchFamily="34" charset="-122"/>
                <a:cs typeface="Arial" pitchFamily="34" charset="-120"/>
              </a:rPr>
              <a:t>✓</a:t>
            </a:r>
            <a:endParaRPr lang="en-US" sz="900" dirty="0"/>
          </a:p>
        </p:txBody>
      </p:sp>
      <p:sp>
        <p:nvSpPr>
          <p:cNvPr id="30" name="Shape 28"/>
          <p:cNvSpPr/>
          <p:nvPr/>
        </p:nvSpPr>
        <p:spPr>
          <a:xfrm>
            <a:off x="365760" y="2212848"/>
            <a:ext cx="2057400" cy="384048"/>
          </a:xfrm>
          <a:prstGeom prst="rect">
            <a:avLst/>
          </a:prstGeom>
          <a:solidFill>
            <a:srgbClr val="0A0A0A"/>
          </a:solidFill>
          <a:ln w="3810">
            <a:solidFill>
              <a:srgbClr val="52525B"/>
            </a:solidFill>
            <a:prstDash val="solid"/>
          </a:ln>
        </p:spPr>
      </p:sp>
      <p:sp>
        <p:nvSpPr>
          <p:cNvPr id="31" name="Text 29"/>
          <p:cNvSpPr/>
          <p:nvPr/>
        </p:nvSpPr>
        <p:spPr>
          <a:xfrm>
            <a:off x="438912" y="2267712"/>
            <a:ext cx="1965960" cy="27432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Works inside the IDE</a:t>
            </a:r>
            <a:endParaRPr lang="en-US" sz="900" dirty="0"/>
          </a:p>
        </p:txBody>
      </p:sp>
      <p:sp>
        <p:nvSpPr>
          <p:cNvPr id="32" name="Shape 30"/>
          <p:cNvSpPr/>
          <p:nvPr/>
        </p:nvSpPr>
        <p:spPr>
          <a:xfrm>
            <a:off x="2514600" y="2212848"/>
            <a:ext cx="2057400" cy="384048"/>
          </a:xfrm>
          <a:prstGeom prst="rect">
            <a:avLst/>
          </a:prstGeom>
          <a:solidFill>
            <a:srgbClr val="0A0A0A"/>
          </a:solidFill>
          <a:ln w="3810">
            <a:solidFill>
              <a:srgbClr val="52525B"/>
            </a:solidFill>
            <a:prstDash val="solid"/>
          </a:ln>
        </p:spPr>
      </p:sp>
      <p:sp>
        <p:nvSpPr>
          <p:cNvPr id="33" name="Text 31"/>
          <p:cNvSpPr/>
          <p:nvPr/>
        </p:nvSpPr>
        <p:spPr>
          <a:xfrm>
            <a:off x="2587752" y="2267712"/>
            <a:ext cx="1965960" cy="274320"/>
          </a:xfrm>
          <a:prstGeom prst="rect">
            <a:avLst/>
          </a:prstGeom>
          <a:noFill/>
          <a:ln/>
        </p:spPr>
        <p:txBody>
          <a:bodyPr wrap="square" lIns="0" tIns="0" rIns="0" bIns="0" rtlCol="0" anchor="ctr"/>
          <a:lstStyle/>
          <a:p>
            <a:pPr algn="ctr" indent="0" marL="0">
              <a:buNone/>
            </a:pPr>
            <a:r>
              <a:rPr lang="en-US" sz="900" dirty="0">
                <a:solidFill>
                  <a:srgbClr val="22C55E"/>
                </a:solidFill>
                <a:latin typeface="Arial" pitchFamily="34" charset="0"/>
                <a:ea typeface="Arial" pitchFamily="34" charset="-122"/>
                <a:cs typeface="Arial" pitchFamily="34" charset="-120"/>
              </a:rPr>
              <a:t>✓</a:t>
            </a:r>
            <a:endParaRPr lang="en-US" sz="900" dirty="0"/>
          </a:p>
        </p:txBody>
      </p:sp>
      <p:sp>
        <p:nvSpPr>
          <p:cNvPr id="34" name="Shape 32"/>
          <p:cNvSpPr/>
          <p:nvPr/>
        </p:nvSpPr>
        <p:spPr>
          <a:xfrm>
            <a:off x="4663440" y="2212848"/>
            <a:ext cx="2057400" cy="384048"/>
          </a:xfrm>
          <a:prstGeom prst="rect">
            <a:avLst/>
          </a:prstGeom>
          <a:solidFill>
            <a:srgbClr val="0A0A0A"/>
          </a:solidFill>
          <a:ln w="3810">
            <a:solidFill>
              <a:srgbClr val="52525B"/>
            </a:solidFill>
            <a:prstDash val="solid"/>
          </a:ln>
        </p:spPr>
      </p:sp>
      <p:sp>
        <p:nvSpPr>
          <p:cNvPr id="35" name="Text 33"/>
          <p:cNvSpPr/>
          <p:nvPr/>
        </p:nvSpPr>
        <p:spPr>
          <a:xfrm>
            <a:off x="4736592" y="2267712"/>
            <a:ext cx="1965960" cy="274320"/>
          </a:xfrm>
          <a:prstGeom prst="rect">
            <a:avLst/>
          </a:prstGeom>
          <a:noFill/>
          <a:ln/>
        </p:spPr>
        <p:txBody>
          <a:bodyPr wrap="square" lIns="0" tIns="0" rIns="0" bIns="0" rtlCol="0" anchor="ctr"/>
          <a:lstStyle/>
          <a:p>
            <a:pPr algn="ctr" indent="0" marL="0">
              <a:buNone/>
            </a:pPr>
            <a:r>
              <a:rPr lang="en-US" sz="900" dirty="0">
                <a:solidFill>
                  <a:srgbClr val="52525B"/>
                </a:solidFill>
                <a:latin typeface="Arial" pitchFamily="34" charset="0"/>
                <a:ea typeface="Arial" pitchFamily="34" charset="-122"/>
                <a:cs typeface="Arial" pitchFamily="34" charset="-120"/>
              </a:rPr>
              <a:t>✗</a:t>
            </a:r>
            <a:endParaRPr lang="en-US" sz="900" dirty="0"/>
          </a:p>
        </p:txBody>
      </p:sp>
      <p:sp>
        <p:nvSpPr>
          <p:cNvPr id="36" name="Shape 34"/>
          <p:cNvSpPr/>
          <p:nvPr/>
        </p:nvSpPr>
        <p:spPr>
          <a:xfrm>
            <a:off x="6812280" y="2212848"/>
            <a:ext cx="2057400" cy="384048"/>
          </a:xfrm>
          <a:prstGeom prst="rect">
            <a:avLst/>
          </a:prstGeom>
          <a:solidFill>
            <a:srgbClr val="001A00"/>
          </a:solidFill>
          <a:ln w="10160">
            <a:solidFill>
              <a:srgbClr val="FF007A"/>
            </a:solidFill>
            <a:prstDash val="solid"/>
          </a:ln>
        </p:spPr>
      </p:sp>
      <p:sp>
        <p:nvSpPr>
          <p:cNvPr id="37" name="Text 35"/>
          <p:cNvSpPr/>
          <p:nvPr/>
        </p:nvSpPr>
        <p:spPr>
          <a:xfrm>
            <a:off x="6885432" y="2267712"/>
            <a:ext cx="1965960" cy="274320"/>
          </a:xfrm>
          <a:prstGeom prst="rect">
            <a:avLst/>
          </a:prstGeom>
          <a:noFill/>
          <a:ln/>
        </p:spPr>
        <p:txBody>
          <a:bodyPr wrap="square" lIns="0" tIns="0" rIns="0" bIns="0" rtlCol="0" anchor="ctr"/>
          <a:lstStyle/>
          <a:p>
            <a:pPr algn="ctr" indent="0" marL="0">
              <a:buNone/>
            </a:pPr>
            <a:r>
              <a:rPr lang="en-US" sz="900" b="1" dirty="0">
                <a:solidFill>
                  <a:srgbClr val="E5FF00"/>
                </a:solidFill>
                <a:latin typeface="Arial" pitchFamily="34" charset="0"/>
                <a:ea typeface="Arial" pitchFamily="34" charset="-122"/>
                <a:cs typeface="Arial" pitchFamily="34" charset="-120"/>
              </a:rPr>
              <a:t>✓</a:t>
            </a:r>
            <a:endParaRPr lang="en-US" sz="900" dirty="0"/>
          </a:p>
        </p:txBody>
      </p:sp>
      <p:sp>
        <p:nvSpPr>
          <p:cNvPr id="38" name="Shape 36"/>
          <p:cNvSpPr/>
          <p:nvPr/>
        </p:nvSpPr>
        <p:spPr>
          <a:xfrm>
            <a:off x="365760" y="2642616"/>
            <a:ext cx="2057400" cy="384048"/>
          </a:xfrm>
          <a:prstGeom prst="rect">
            <a:avLst/>
          </a:prstGeom>
          <a:solidFill>
            <a:srgbClr val="111111"/>
          </a:solidFill>
          <a:ln w="3810">
            <a:solidFill>
              <a:srgbClr val="52525B"/>
            </a:solidFill>
            <a:prstDash val="solid"/>
          </a:ln>
        </p:spPr>
      </p:sp>
      <p:sp>
        <p:nvSpPr>
          <p:cNvPr id="39" name="Text 37"/>
          <p:cNvSpPr/>
          <p:nvPr/>
        </p:nvSpPr>
        <p:spPr>
          <a:xfrm>
            <a:off x="438912" y="2697480"/>
            <a:ext cx="1965960" cy="27432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Blocks PR on violation</a:t>
            </a:r>
            <a:endParaRPr lang="en-US" sz="900" dirty="0"/>
          </a:p>
        </p:txBody>
      </p:sp>
      <p:sp>
        <p:nvSpPr>
          <p:cNvPr id="40" name="Shape 38"/>
          <p:cNvSpPr/>
          <p:nvPr/>
        </p:nvSpPr>
        <p:spPr>
          <a:xfrm>
            <a:off x="2514600" y="2642616"/>
            <a:ext cx="2057400" cy="384048"/>
          </a:xfrm>
          <a:prstGeom prst="rect">
            <a:avLst/>
          </a:prstGeom>
          <a:solidFill>
            <a:srgbClr val="111111"/>
          </a:solidFill>
          <a:ln w="3810">
            <a:solidFill>
              <a:srgbClr val="52525B"/>
            </a:solidFill>
            <a:prstDash val="solid"/>
          </a:ln>
        </p:spPr>
      </p:sp>
      <p:sp>
        <p:nvSpPr>
          <p:cNvPr id="41" name="Text 39"/>
          <p:cNvSpPr/>
          <p:nvPr/>
        </p:nvSpPr>
        <p:spPr>
          <a:xfrm>
            <a:off x="2587752" y="2697480"/>
            <a:ext cx="1965960" cy="274320"/>
          </a:xfrm>
          <a:prstGeom prst="rect">
            <a:avLst/>
          </a:prstGeom>
          <a:noFill/>
          <a:ln/>
        </p:spPr>
        <p:txBody>
          <a:bodyPr wrap="square" lIns="0" tIns="0" rIns="0" bIns="0" rtlCol="0" anchor="ctr"/>
          <a:lstStyle/>
          <a:p>
            <a:pPr algn="ctr" indent="0" marL="0">
              <a:buNone/>
            </a:pPr>
            <a:r>
              <a:rPr lang="en-US" sz="900" dirty="0">
                <a:solidFill>
                  <a:srgbClr val="52525B"/>
                </a:solidFill>
                <a:latin typeface="Arial" pitchFamily="34" charset="0"/>
                <a:ea typeface="Arial" pitchFamily="34" charset="-122"/>
                <a:cs typeface="Arial" pitchFamily="34" charset="-120"/>
              </a:rPr>
              <a:t>✗</a:t>
            </a:r>
            <a:endParaRPr lang="en-US" sz="900" dirty="0"/>
          </a:p>
        </p:txBody>
      </p:sp>
      <p:sp>
        <p:nvSpPr>
          <p:cNvPr id="42" name="Shape 40"/>
          <p:cNvSpPr/>
          <p:nvPr/>
        </p:nvSpPr>
        <p:spPr>
          <a:xfrm>
            <a:off x="4663440" y="2642616"/>
            <a:ext cx="2057400" cy="384048"/>
          </a:xfrm>
          <a:prstGeom prst="rect">
            <a:avLst/>
          </a:prstGeom>
          <a:solidFill>
            <a:srgbClr val="111111"/>
          </a:solidFill>
          <a:ln w="3810">
            <a:solidFill>
              <a:srgbClr val="52525B"/>
            </a:solidFill>
            <a:prstDash val="solid"/>
          </a:ln>
        </p:spPr>
      </p:sp>
      <p:sp>
        <p:nvSpPr>
          <p:cNvPr id="43" name="Text 41"/>
          <p:cNvSpPr/>
          <p:nvPr/>
        </p:nvSpPr>
        <p:spPr>
          <a:xfrm>
            <a:off x="4736592" y="2697480"/>
            <a:ext cx="1965960" cy="274320"/>
          </a:xfrm>
          <a:prstGeom prst="rect">
            <a:avLst/>
          </a:prstGeom>
          <a:noFill/>
          <a:ln/>
        </p:spPr>
        <p:txBody>
          <a:bodyPr wrap="square" lIns="0" tIns="0" rIns="0" bIns="0" rtlCol="0" anchor="ctr"/>
          <a:lstStyle/>
          <a:p>
            <a:pPr algn="ctr" indent="0" marL="0">
              <a:buNone/>
            </a:pPr>
            <a:r>
              <a:rPr lang="en-US" sz="900" dirty="0">
                <a:solidFill>
                  <a:srgbClr val="52525B"/>
                </a:solidFill>
                <a:latin typeface="Arial" pitchFamily="34" charset="0"/>
                <a:ea typeface="Arial" pitchFamily="34" charset="-122"/>
                <a:cs typeface="Arial" pitchFamily="34" charset="-120"/>
              </a:rPr>
              <a:t>✗</a:t>
            </a:r>
            <a:endParaRPr lang="en-US" sz="900" dirty="0"/>
          </a:p>
        </p:txBody>
      </p:sp>
      <p:sp>
        <p:nvSpPr>
          <p:cNvPr id="44" name="Shape 42"/>
          <p:cNvSpPr/>
          <p:nvPr/>
        </p:nvSpPr>
        <p:spPr>
          <a:xfrm>
            <a:off x="6812280" y="2642616"/>
            <a:ext cx="2057400" cy="384048"/>
          </a:xfrm>
          <a:prstGeom prst="rect">
            <a:avLst/>
          </a:prstGeom>
          <a:solidFill>
            <a:srgbClr val="001A00"/>
          </a:solidFill>
          <a:ln w="10160">
            <a:solidFill>
              <a:srgbClr val="FF007A"/>
            </a:solidFill>
            <a:prstDash val="solid"/>
          </a:ln>
        </p:spPr>
      </p:sp>
      <p:sp>
        <p:nvSpPr>
          <p:cNvPr id="45" name="Text 43"/>
          <p:cNvSpPr/>
          <p:nvPr/>
        </p:nvSpPr>
        <p:spPr>
          <a:xfrm>
            <a:off x="6885432" y="2697480"/>
            <a:ext cx="1965960" cy="274320"/>
          </a:xfrm>
          <a:prstGeom prst="rect">
            <a:avLst/>
          </a:prstGeom>
          <a:noFill/>
          <a:ln/>
        </p:spPr>
        <p:txBody>
          <a:bodyPr wrap="square" lIns="0" tIns="0" rIns="0" bIns="0" rtlCol="0" anchor="ctr"/>
          <a:lstStyle/>
          <a:p>
            <a:pPr algn="ctr" indent="0" marL="0">
              <a:buNone/>
            </a:pPr>
            <a:r>
              <a:rPr lang="en-US" sz="900" b="1" dirty="0">
                <a:solidFill>
                  <a:srgbClr val="E5FF00"/>
                </a:solidFill>
                <a:latin typeface="Arial" pitchFamily="34" charset="0"/>
                <a:ea typeface="Arial" pitchFamily="34" charset="-122"/>
                <a:cs typeface="Arial" pitchFamily="34" charset="-120"/>
              </a:rPr>
              <a:t>✓</a:t>
            </a:r>
            <a:endParaRPr lang="en-US" sz="900" dirty="0"/>
          </a:p>
        </p:txBody>
      </p:sp>
      <p:sp>
        <p:nvSpPr>
          <p:cNvPr id="46" name="Shape 44"/>
          <p:cNvSpPr/>
          <p:nvPr/>
        </p:nvSpPr>
        <p:spPr>
          <a:xfrm>
            <a:off x="365760" y="3072384"/>
            <a:ext cx="2057400" cy="384048"/>
          </a:xfrm>
          <a:prstGeom prst="rect">
            <a:avLst/>
          </a:prstGeom>
          <a:solidFill>
            <a:srgbClr val="0A0A0A"/>
          </a:solidFill>
          <a:ln w="3810">
            <a:solidFill>
              <a:srgbClr val="52525B"/>
            </a:solidFill>
            <a:prstDash val="solid"/>
          </a:ln>
        </p:spPr>
      </p:sp>
      <p:sp>
        <p:nvSpPr>
          <p:cNvPr id="47" name="Text 45"/>
          <p:cNvSpPr/>
          <p:nvPr/>
        </p:nvSpPr>
        <p:spPr>
          <a:xfrm>
            <a:off x="438912" y="3127248"/>
            <a:ext cx="1965960" cy="27432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Immutable audit trail</a:t>
            </a:r>
            <a:endParaRPr lang="en-US" sz="900" dirty="0"/>
          </a:p>
        </p:txBody>
      </p:sp>
      <p:sp>
        <p:nvSpPr>
          <p:cNvPr id="48" name="Shape 46"/>
          <p:cNvSpPr/>
          <p:nvPr/>
        </p:nvSpPr>
        <p:spPr>
          <a:xfrm>
            <a:off x="2514600" y="3072384"/>
            <a:ext cx="2057400" cy="384048"/>
          </a:xfrm>
          <a:prstGeom prst="rect">
            <a:avLst/>
          </a:prstGeom>
          <a:solidFill>
            <a:srgbClr val="0A0A0A"/>
          </a:solidFill>
          <a:ln w="3810">
            <a:solidFill>
              <a:srgbClr val="52525B"/>
            </a:solidFill>
            <a:prstDash val="solid"/>
          </a:ln>
        </p:spPr>
      </p:sp>
      <p:sp>
        <p:nvSpPr>
          <p:cNvPr id="49" name="Text 47"/>
          <p:cNvSpPr/>
          <p:nvPr/>
        </p:nvSpPr>
        <p:spPr>
          <a:xfrm>
            <a:off x="2587752" y="3127248"/>
            <a:ext cx="1965960" cy="274320"/>
          </a:xfrm>
          <a:prstGeom prst="rect">
            <a:avLst/>
          </a:prstGeom>
          <a:noFill/>
          <a:ln/>
        </p:spPr>
        <p:txBody>
          <a:bodyPr wrap="square" lIns="0" tIns="0" rIns="0" bIns="0" rtlCol="0" anchor="ctr"/>
          <a:lstStyle/>
          <a:p>
            <a:pPr algn="ctr" indent="0" marL="0">
              <a:buNone/>
            </a:pPr>
            <a:r>
              <a:rPr lang="en-US" sz="900" dirty="0">
                <a:solidFill>
                  <a:srgbClr val="52525B"/>
                </a:solidFill>
                <a:latin typeface="Arial" pitchFamily="34" charset="0"/>
                <a:ea typeface="Arial" pitchFamily="34" charset="-122"/>
                <a:cs typeface="Arial" pitchFamily="34" charset="-120"/>
              </a:rPr>
              <a:t>✗</a:t>
            </a:r>
            <a:endParaRPr lang="en-US" sz="900" dirty="0"/>
          </a:p>
        </p:txBody>
      </p:sp>
      <p:sp>
        <p:nvSpPr>
          <p:cNvPr id="50" name="Shape 48"/>
          <p:cNvSpPr/>
          <p:nvPr/>
        </p:nvSpPr>
        <p:spPr>
          <a:xfrm>
            <a:off x="4663440" y="3072384"/>
            <a:ext cx="2057400" cy="384048"/>
          </a:xfrm>
          <a:prstGeom prst="rect">
            <a:avLst/>
          </a:prstGeom>
          <a:solidFill>
            <a:srgbClr val="0A0A0A"/>
          </a:solidFill>
          <a:ln w="3810">
            <a:solidFill>
              <a:srgbClr val="52525B"/>
            </a:solidFill>
            <a:prstDash val="solid"/>
          </a:ln>
        </p:spPr>
      </p:sp>
      <p:sp>
        <p:nvSpPr>
          <p:cNvPr id="51" name="Text 49"/>
          <p:cNvSpPr/>
          <p:nvPr/>
        </p:nvSpPr>
        <p:spPr>
          <a:xfrm>
            <a:off x="4736592" y="3127248"/>
            <a:ext cx="1965960" cy="27432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logs only</a:t>
            </a:r>
            <a:endParaRPr lang="en-US" sz="900" dirty="0"/>
          </a:p>
        </p:txBody>
      </p:sp>
      <p:sp>
        <p:nvSpPr>
          <p:cNvPr id="52" name="Shape 50"/>
          <p:cNvSpPr/>
          <p:nvPr/>
        </p:nvSpPr>
        <p:spPr>
          <a:xfrm>
            <a:off x="6812280" y="3072384"/>
            <a:ext cx="2057400" cy="384048"/>
          </a:xfrm>
          <a:prstGeom prst="rect">
            <a:avLst/>
          </a:prstGeom>
          <a:solidFill>
            <a:srgbClr val="0A0A0A"/>
          </a:solidFill>
          <a:ln w="10160">
            <a:solidFill>
              <a:srgbClr val="FF007A"/>
            </a:solidFill>
            <a:prstDash val="solid"/>
          </a:ln>
        </p:spPr>
      </p:sp>
      <p:sp>
        <p:nvSpPr>
          <p:cNvPr id="53" name="Text 51"/>
          <p:cNvSpPr/>
          <p:nvPr/>
        </p:nvSpPr>
        <p:spPr>
          <a:xfrm>
            <a:off x="6885432" y="3127248"/>
            <a:ext cx="1965960" cy="27432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 (watsonx.gov)</a:t>
            </a:r>
            <a:endParaRPr lang="en-US" sz="900" dirty="0"/>
          </a:p>
        </p:txBody>
      </p:sp>
      <p:sp>
        <p:nvSpPr>
          <p:cNvPr id="54" name="Shape 52"/>
          <p:cNvSpPr/>
          <p:nvPr/>
        </p:nvSpPr>
        <p:spPr>
          <a:xfrm>
            <a:off x="365760" y="3502152"/>
            <a:ext cx="2057400" cy="384048"/>
          </a:xfrm>
          <a:prstGeom prst="rect">
            <a:avLst/>
          </a:prstGeom>
          <a:solidFill>
            <a:srgbClr val="111111"/>
          </a:solidFill>
          <a:ln w="3810">
            <a:solidFill>
              <a:srgbClr val="52525B"/>
            </a:solidFill>
            <a:prstDash val="solid"/>
          </a:ln>
        </p:spPr>
      </p:sp>
      <p:sp>
        <p:nvSpPr>
          <p:cNvPr id="55" name="Text 53"/>
          <p:cNvSpPr/>
          <p:nvPr/>
        </p:nvSpPr>
        <p:spPr>
          <a:xfrm>
            <a:off x="438912" y="3557016"/>
            <a:ext cx="1965960" cy="27432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Data stays in your tenancy</a:t>
            </a:r>
            <a:endParaRPr lang="en-US" sz="900" dirty="0"/>
          </a:p>
        </p:txBody>
      </p:sp>
      <p:sp>
        <p:nvSpPr>
          <p:cNvPr id="56" name="Shape 54"/>
          <p:cNvSpPr/>
          <p:nvPr/>
        </p:nvSpPr>
        <p:spPr>
          <a:xfrm>
            <a:off x="2514600" y="3502152"/>
            <a:ext cx="2057400" cy="384048"/>
          </a:xfrm>
          <a:prstGeom prst="rect">
            <a:avLst/>
          </a:prstGeom>
          <a:solidFill>
            <a:srgbClr val="111111"/>
          </a:solidFill>
          <a:ln w="3810">
            <a:solidFill>
              <a:srgbClr val="52525B"/>
            </a:solidFill>
            <a:prstDash val="solid"/>
          </a:ln>
        </p:spPr>
      </p:sp>
      <p:sp>
        <p:nvSpPr>
          <p:cNvPr id="57" name="Text 55"/>
          <p:cNvSpPr/>
          <p:nvPr/>
        </p:nvSpPr>
        <p:spPr>
          <a:xfrm>
            <a:off x="2587752" y="3557016"/>
            <a:ext cx="1965960" cy="27432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 (trains model)</a:t>
            </a:r>
            <a:endParaRPr lang="en-US" sz="900" dirty="0"/>
          </a:p>
        </p:txBody>
      </p:sp>
      <p:sp>
        <p:nvSpPr>
          <p:cNvPr id="58" name="Shape 56"/>
          <p:cNvSpPr/>
          <p:nvPr/>
        </p:nvSpPr>
        <p:spPr>
          <a:xfrm>
            <a:off x="4663440" y="3502152"/>
            <a:ext cx="2057400" cy="384048"/>
          </a:xfrm>
          <a:prstGeom prst="rect">
            <a:avLst/>
          </a:prstGeom>
          <a:solidFill>
            <a:srgbClr val="111111"/>
          </a:solidFill>
          <a:ln w="3810">
            <a:solidFill>
              <a:srgbClr val="52525B"/>
            </a:solidFill>
            <a:prstDash val="solid"/>
          </a:ln>
        </p:spPr>
      </p:sp>
      <p:sp>
        <p:nvSpPr>
          <p:cNvPr id="59" name="Text 57"/>
          <p:cNvSpPr/>
          <p:nvPr/>
        </p:nvSpPr>
        <p:spPr>
          <a:xfrm>
            <a:off x="4736592" y="3557016"/>
            <a:ext cx="1965960" cy="274320"/>
          </a:xfrm>
          <a:prstGeom prst="rect">
            <a:avLst/>
          </a:prstGeom>
          <a:noFill/>
          <a:ln/>
        </p:spPr>
        <p:txBody>
          <a:bodyPr wrap="square" lIns="0" tIns="0" rIns="0" bIns="0" rtlCol="0" anchor="ctr"/>
          <a:lstStyle/>
          <a:p>
            <a:pPr algn="ctr" indent="0" marL="0">
              <a:buNone/>
            </a:pPr>
            <a:r>
              <a:rPr lang="en-US" sz="900" dirty="0">
                <a:solidFill>
                  <a:srgbClr val="22C55E"/>
                </a:solidFill>
                <a:latin typeface="Arial" pitchFamily="34" charset="0"/>
                <a:ea typeface="Arial" pitchFamily="34" charset="-122"/>
                <a:cs typeface="Arial" pitchFamily="34" charset="-120"/>
              </a:rPr>
              <a:t>✓</a:t>
            </a:r>
            <a:endParaRPr lang="en-US" sz="900" dirty="0"/>
          </a:p>
        </p:txBody>
      </p:sp>
      <p:sp>
        <p:nvSpPr>
          <p:cNvPr id="60" name="Shape 58"/>
          <p:cNvSpPr/>
          <p:nvPr/>
        </p:nvSpPr>
        <p:spPr>
          <a:xfrm>
            <a:off x="6812280" y="3502152"/>
            <a:ext cx="2057400" cy="384048"/>
          </a:xfrm>
          <a:prstGeom prst="rect">
            <a:avLst/>
          </a:prstGeom>
          <a:solidFill>
            <a:srgbClr val="001A00"/>
          </a:solidFill>
          <a:ln w="10160">
            <a:solidFill>
              <a:srgbClr val="FF007A"/>
            </a:solidFill>
            <a:prstDash val="solid"/>
          </a:ln>
        </p:spPr>
      </p:sp>
      <p:sp>
        <p:nvSpPr>
          <p:cNvPr id="61" name="Text 59"/>
          <p:cNvSpPr/>
          <p:nvPr/>
        </p:nvSpPr>
        <p:spPr>
          <a:xfrm>
            <a:off x="6885432" y="3557016"/>
            <a:ext cx="1965960" cy="274320"/>
          </a:xfrm>
          <a:prstGeom prst="rect">
            <a:avLst/>
          </a:prstGeom>
          <a:noFill/>
          <a:ln/>
        </p:spPr>
        <p:txBody>
          <a:bodyPr wrap="square" lIns="0" tIns="0" rIns="0" bIns="0" rtlCol="0" anchor="ctr"/>
          <a:lstStyle/>
          <a:p>
            <a:pPr algn="ctr" indent="0" marL="0">
              <a:buNone/>
            </a:pPr>
            <a:r>
              <a:rPr lang="en-US" sz="900" b="1" dirty="0">
                <a:solidFill>
                  <a:srgbClr val="E5FF00"/>
                </a:solidFill>
                <a:latin typeface="Arial" pitchFamily="34" charset="0"/>
                <a:ea typeface="Arial" pitchFamily="34" charset="-122"/>
                <a:cs typeface="Arial" pitchFamily="34" charset="-120"/>
              </a:rPr>
              <a:t>✓</a:t>
            </a:r>
            <a:endParaRPr lang="en-US" sz="900" dirty="0"/>
          </a:p>
        </p:txBody>
      </p:sp>
      <p:sp>
        <p:nvSpPr>
          <p:cNvPr id="62" name="Shape 60"/>
          <p:cNvSpPr/>
          <p:nvPr/>
        </p:nvSpPr>
        <p:spPr>
          <a:xfrm>
            <a:off x="365760" y="3931920"/>
            <a:ext cx="2057400" cy="384048"/>
          </a:xfrm>
          <a:prstGeom prst="rect">
            <a:avLst/>
          </a:prstGeom>
          <a:solidFill>
            <a:srgbClr val="0A0A0A"/>
          </a:solidFill>
          <a:ln w="3810">
            <a:solidFill>
              <a:srgbClr val="52525B"/>
            </a:solidFill>
            <a:prstDash val="solid"/>
          </a:ln>
        </p:spPr>
      </p:sp>
      <p:sp>
        <p:nvSpPr>
          <p:cNvPr id="63" name="Text 61"/>
          <p:cNvSpPr/>
          <p:nvPr/>
        </p:nvSpPr>
        <p:spPr>
          <a:xfrm>
            <a:off x="438912" y="3986784"/>
            <a:ext cx="1965960" cy="27432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Human override with evidence</a:t>
            </a:r>
            <a:endParaRPr lang="en-US" sz="900" dirty="0"/>
          </a:p>
        </p:txBody>
      </p:sp>
      <p:sp>
        <p:nvSpPr>
          <p:cNvPr id="64" name="Shape 62"/>
          <p:cNvSpPr/>
          <p:nvPr/>
        </p:nvSpPr>
        <p:spPr>
          <a:xfrm>
            <a:off x="2514600" y="3931920"/>
            <a:ext cx="2057400" cy="384048"/>
          </a:xfrm>
          <a:prstGeom prst="rect">
            <a:avLst/>
          </a:prstGeom>
          <a:solidFill>
            <a:srgbClr val="0A0A0A"/>
          </a:solidFill>
          <a:ln w="3810">
            <a:solidFill>
              <a:srgbClr val="52525B"/>
            </a:solidFill>
            <a:prstDash val="solid"/>
          </a:ln>
        </p:spPr>
      </p:sp>
      <p:sp>
        <p:nvSpPr>
          <p:cNvPr id="65" name="Text 63"/>
          <p:cNvSpPr/>
          <p:nvPr/>
        </p:nvSpPr>
        <p:spPr>
          <a:xfrm>
            <a:off x="2587752" y="3986784"/>
            <a:ext cx="1965960" cy="27432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n/a</a:t>
            </a:r>
            <a:endParaRPr lang="en-US" sz="900" dirty="0"/>
          </a:p>
        </p:txBody>
      </p:sp>
      <p:sp>
        <p:nvSpPr>
          <p:cNvPr id="66" name="Shape 64"/>
          <p:cNvSpPr/>
          <p:nvPr/>
        </p:nvSpPr>
        <p:spPr>
          <a:xfrm>
            <a:off x="4663440" y="3931920"/>
            <a:ext cx="2057400" cy="384048"/>
          </a:xfrm>
          <a:prstGeom prst="rect">
            <a:avLst/>
          </a:prstGeom>
          <a:solidFill>
            <a:srgbClr val="0A0A0A"/>
          </a:solidFill>
          <a:ln w="3810">
            <a:solidFill>
              <a:srgbClr val="52525B"/>
            </a:solidFill>
            <a:prstDash val="solid"/>
          </a:ln>
        </p:spPr>
      </p:sp>
      <p:sp>
        <p:nvSpPr>
          <p:cNvPr id="67" name="Text 65"/>
          <p:cNvSpPr/>
          <p:nvPr/>
        </p:nvSpPr>
        <p:spPr>
          <a:xfrm>
            <a:off x="4736592" y="3986784"/>
            <a:ext cx="1965960" cy="27432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n/a</a:t>
            </a:r>
            <a:endParaRPr lang="en-US" sz="900" dirty="0"/>
          </a:p>
        </p:txBody>
      </p:sp>
      <p:sp>
        <p:nvSpPr>
          <p:cNvPr id="68" name="Shape 66"/>
          <p:cNvSpPr/>
          <p:nvPr/>
        </p:nvSpPr>
        <p:spPr>
          <a:xfrm>
            <a:off x="6812280" y="3931920"/>
            <a:ext cx="2057400" cy="384048"/>
          </a:xfrm>
          <a:prstGeom prst="rect">
            <a:avLst/>
          </a:prstGeom>
          <a:solidFill>
            <a:srgbClr val="001A00"/>
          </a:solidFill>
          <a:ln w="10160">
            <a:solidFill>
              <a:srgbClr val="FF007A"/>
            </a:solidFill>
            <a:prstDash val="solid"/>
          </a:ln>
        </p:spPr>
      </p:sp>
      <p:sp>
        <p:nvSpPr>
          <p:cNvPr id="69" name="Text 67"/>
          <p:cNvSpPr/>
          <p:nvPr/>
        </p:nvSpPr>
        <p:spPr>
          <a:xfrm>
            <a:off x="6885432" y="3986784"/>
            <a:ext cx="1965960" cy="274320"/>
          </a:xfrm>
          <a:prstGeom prst="rect">
            <a:avLst/>
          </a:prstGeom>
          <a:noFill/>
          <a:ln/>
        </p:spPr>
        <p:txBody>
          <a:bodyPr wrap="square" lIns="0" tIns="0" rIns="0" bIns="0" rtlCol="0" anchor="ctr"/>
          <a:lstStyle/>
          <a:p>
            <a:pPr algn="ctr" indent="0" marL="0">
              <a:buNone/>
            </a:pPr>
            <a:r>
              <a:rPr lang="en-US" sz="900" b="1" dirty="0">
                <a:solidFill>
                  <a:srgbClr val="E5FF00"/>
                </a:solidFill>
                <a:latin typeface="Arial" pitchFamily="34" charset="0"/>
                <a:ea typeface="Arial" pitchFamily="34" charset="-122"/>
                <a:cs typeface="Arial" pitchFamily="34" charset="-120"/>
              </a:rPr>
              <a:t>✓</a:t>
            </a:r>
            <a:endParaRPr lang="en-US" sz="900" dirty="0"/>
          </a:p>
        </p:txBody>
      </p:sp>
      <p:sp>
        <p:nvSpPr>
          <p:cNvPr id="70" name="Shape 68"/>
          <p:cNvSpPr/>
          <p:nvPr/>
        </p:nvSpPr>
        <p:spPr>
          <a:xfrm>
            <a:off x="365760" y="4361688"/>
            <a:ext cx="2057400" cy="384048"/>
          </a:xfrm>
          <a:prstGeom prst="rect">
            <a:avLst/>
          </a:prstGeom>
          <a:solidFill>
            <a:srgbClr val="111111"/>
          </a:solidFill>
          <a:ln w="3810">
            <a:solidFill>
              <a:srgbClr val="52525B"/>
            </a:solidFill>
            <a:prstDash val="solid"/>
          </a:ln>
        </p:spPr>
      </p:sp>
      <p:sp>
        <p:nvSpPr>
          <p:cNvPr id="71" name="Text 69"/>
          <p:cNvSpPr/>
          <p:nvPr/>
        </p:nvSpPr>
        <p:spPr>
          <a:xfrm>
            <a:off x="438912" y="4416552"/>
            <a:ext cx="1965960" cy="27432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MOCK_MODE (no cloud needed)</a:t>
            </a:r>
            <a:endParaRPr lang="en-US" sz="900" dirty="0"/>
          </a:p>
        </p:txBody>
      </p:sp>
      <p:sp>
        <p:nvSpPr>
          <p:cNvPr id="72" name="Shape 70"/>
          <p:cNvSpPr/>
          <p:nvPr/>
        </p:nvSpPr>
        <p:spPr>
          <a:xfrm>
            <a:off x="2514600" y="4361688"/>
            <a:ext cx="2057400" cy="384048"/>
          </a:xfrm>
          <a:prstGeom prst="rect">
            <a:avLst/>
          </a:prstGeom>
          <a:solidFill>
            <a:srgbClr val="111111"/>
          </a:solidFill>
          <a:ln w="3810">
            <a:solidFill>
              <a:srgbClr val="52525B"/>
            </a:solidFill>
            <a:prstDash val="solid"/>
          </a:ln>
        </p:spPr>
      </p:sp>
      <p:sp>
        <p:nvSpPr>
          <p:cNvPr id="73" name="Text 71"/>
          <p:cNvSpPr/>
          <p:nvPr/>
        </p:nvSpPr>
        <p:spPr>
          <a:xfrm>
            <a:off x="2587752" y="4416552"/>
            <a:ext cx="1965960" cy="27432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a:t>
            </a:r>
            <a:endParaRPr lang="en-US" sz="900" dirty="0"/>
          </a:p>
        </p:txBody>
      </p:sp>
      <p:sp>
        <p:nvSpPr>
          <p:cNvPr id="74" name="Shape 72"/>
          <p:cNvSpPr/>
          <p:nvPr/>
        </p:nvSpPr>
        <p:spPr>
          <a:xfrm>
            <a:off x="4663440" y="4361688"/>
            <a:ext cx="2057400" cy="384048"/>
          </a:xfrm>
          <a:prstGeom prst="rect">
            <a:avLst/>
          </a:prstGeom>
          <a:solidFill>
            <a:srgbClr val="111111"/>
          </a:solidFill>
          <a:ln w="3810">
            <a:solidFill>
              <a:srgbClr val="52525B"/>
            </a:solidFill>
            <a:prstDash val="solid"/>
          </a:ln>
        </p:spPr>
      </p:sp>
      <p:sp>
        <p:nvSpPr>
          <p:cNvPr id="75" name="Text 73"/>
          <p:cNvSpPr/>
          <p:nvPr/>
        </p:nvSpPr>
        <p:spPr>
          <a:xfrm>
            <a:off x="4736592" y="4416552"/>
            <a:ext cx="1965960" cy="274320"/>
          </a:xfrm>
          <a:prstGeom prst="rect">
            <a:avLst/>
          </a:prstGeom>
          <a:noFill/>
          <a:ln/>
        </p:spPr>
        <p:txBody>
          <a:bodyPr wrap="square" lIns="0" tIns="0" rIns="0" bIns="0" rtlCol="0" anchor="ctr"/>
          <a:lstStyle/>
          <a:p>
            <a:pPr algn="ctr" indent="0" marL="0">
              <a:buNone/>
            </a:pPr>
            <a:r>
              <a:rPr lang="en-US" sz="900" dirty="0">
                <a:solidFill>
                  <a:srgbClr val="A1A1AA"/>
                </a:solidFill>
                <a:latin typeface="Arial" pitchFamily="34" charset="0"/>
                <a:ea typeface="Arial" pitchFamily="34" charset="-122"/>
                <a:cs typeface="Arial" pitchFamily="34" charset="-120"/>
              </a:rPr>
              <a:t>–</a:t>
            </a:r>
            <a:endParaRPr lang="en-US" sz="900" dirty="0"/>
          </a:p>
        </p:txBody>
      </p:sp>
      <p:sp>
        <p:nvSpPr>
          <p:cNvPr id="76" name="Shape 74"/>
          <p:cNvSpPr/>
          <p:nvPr/>
        </p:nvSpPr>
        <p:spPr>
          <a:xfrm>
            <a:off x="6812280" y="4361688"/>
            <a:ext cx="2057400" cy="384048"/>
          </a:xfrm>
          <a:prstGeom prst="rect">
            <a:avLst/>
          </a:prstGeom>
          <a:solidFill>
            <a:srgbClr val="001A00"/>
          </a:solidFill>
          <a:ln w="10160">
            <a:solidFill>
              <a:srgbClr val="FF007A"/>
            </a:solidFill>
            <a:prstDash val="solid"/>
          </a:ln>
        </p:spPr>
      </p:sp>
      <p:sp>
        <p:nvSpPr>
          <p:cNvPr id="77" name="Text 75"/>
          <p:cNvSpPr/>
          <p:nvPr/>
        </p:nvSpPr>
        <p:spPr>
          <a:xfrm>
            <a:off x="6885432" y="4416552"/>
            <a:ext cx="1965960" cy="274320"/>
          </a:xfrm>
          <a:prstGeom prst="rect">
            <a:avLst/>
          </a:prstGeom>
          <a:noFill/>
          <a:ln/>
        </p:spPr>
        <p:txBody>
          <a:bodyPr wrap="square" lIns="0" tIns="0" rIns="0" bIns="0" rtlCol="0" anchor="ctr"/>
          <a:lstStyle/>
          <a:p>
            <a:pPr algn="ctr" indent="0" marL="0">
              <a:buNone/>
            </a:pPr>
            <a:r>
              <a:rPr lang="en-US" sz="900" b="1" dirty="0">
                <a:solidFill>
                  <a:srgbClr val="E5FF00"/>
                </a:solidFill>
                <a:latin typeface="Arial" pitchFamily="34" charset="0"/>
                <a:ea typeface="Arial" pitchFamily="34" charset="-122"/>
                <a:cs typeface="Arial" pitchFamily="34" charset="-120"/>
              </a:rPr>
              <a: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5C00"/>
          </a:solidFill>
          <a:ln w="12700">
            <a:solidFill>
              <a:srgbClr val="FF5C00"/>
            </a:solidFill>
            <a:prstDash val="solid"/>
          </a:ln>
        </p:spPr>
      </p:sp>
      <p:sp>
        <p:nvSpPr>
          <p:cNvPr id="3" name="Text 1"/>
          <p:cNvSpPr/>
          <p:nvPr/>
        </p:nvSpPr>
        <p:spPr>
          <a:xfrm>
            <a:off x="457200" y="182880"/>
            <a:ext cx="8229600" cy="274320"/>
          </a:xfrm>
          <a:prstGeom prst="rect">
            <a:avLst/>
          </a:prstGeom>
          <a:noFill/>
          <a:ln/>
        </p:spPr>
        <p:txBody>
          <a:bodyPr wrap="square" lIns="0" tIns="0" rIns="0" bIns="0" rtlCol="0" anchor="ctr"/>
          <a:lstStyle/>
          <a:p>
            <a:pPr indent="0" marL="0">
              <a:buNone/>
            </a:pPr>
            <a:r>
              <a:rPr lang="en-US" sz="800" b="1" spc="200" kern="0" dirty="0">
                <a:solidFill>
                  <a:srgbClr val="FF5C00"/>
                </a:solidFill>
                <a:latin typeface="Arial" pitchFamily="34" charset="0"/>
                <a:ea typeface="Arial" pitchFamily="34" charset="-122"/>
                <a:cs typeface="Arial" pitchFamily="34" charset="-120"/>
              </a:rPr>
              <a:t>KEY LEARNINGS</a:t>
            </a:r>
            <a:endParaRPr lang="en-US" sz="800" dirty="0"/>
          </a:p>
        </p:txBody>
      </p:sp>
      <p:sp>
        <p:nvSpPr>
          <p:cNvPr id="4" name="Text 2"/>
          <p:cNvSpPr/>
          <p:nvPr/>
        </p:nvSpPr>
        <p:spPr>
          <a:xfrm>
            <a:off x="457200" y="45720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IBM Ecosystem Insights · Engineering Decisions</a:t>
            </a:r>
            <a:endParaRPr lang="en-US" sz="2200" dirty="0"/>
          </a:p>
        </p:txBody>
      </p:sp>
      <p:sp>
        <p:nvSpPr>
          <p:cNvPr id="5" name="Shape 3"/>
          <p:cNvSpPr/>
          <p:nvPr/>
        </p:nvSpPr>
        <p:spPr>
          <a:xfrm>
            <a:off x="457200" y="914400"/>
            <a:ext cx="8229600" cy="0"/>
          </a:xfrm>
          <a:prstGeom prst="line">
            <a:avLst/>
          </a:prstGeom>
          <a:noFill/>
          <a:ln w="6350">
            <a:solidFill>
              <a:srgbClr val="52525B"/>
            </a:solidFill>
            <a:prstDash val="solid"/>
          </a:ln>
        </p:spPr>
      </p:sp>
      <p:sp>
        <p:nvSpPr>
          <p:cNvPr id="6" name="Shape 4"/>
          <p:cNvSpPr/>
          <p:nvPr/>
        </p:nvSpPr>
        <p:spPr>
          <a:xfrm>
            <a:off x="365760" y="1005840"/>
            <a:ext cx="4206240" cy="1207008"/>
          </a:xfrm>
          <a:prstGeom prst="roundRect">
            <a:avLst>
              <a:gd name="adj" fmla="val 5303"/>
            </a:avLst>
          </a:prstGeom>
          <a:solidFill>
            <a:srgbClr val="0A0A0A"/>
          </a:solidFill>
          <a:ln w="10160">
            <a:solidFill>
              <a:srgbClr val="FF007A"/>
            </a:solidFill>
            <a:prstDash val="solid"/>
          </a:ln>
          <a:effectLst>
            <a:outerShdw sx="100000" sy="100000" kx="0" ky="0" algn="bl" rotWithShape="0" blurRad="101600" dist="38100" dir="2700000">
              <a:srgbClr val="000000">
                <a:alpha val="35000"/>
              </a:srgbClr>
            </a:outerShdw>
          </a:effectLst>
        </p:spPr>
      </p:sp>
      <p:sp>
        <p:nvSpPr>
          <p:cNvPr id="7" name="Text 5"/>
          <p:cNvSpPr/>
          <p:nvPr/>
        </p:nvSpPr>
        <p:spPr>
          <a:xfrm>
            <a:off x="502920" y="1097280"/>
            <a:ext cx="3840480" cy="219456"/>
          </a:xfrm>
          <a:prstGeom prst="rect">
            <a:avLst/>
          </a:prstGeom>
          <a:noFill/>
          <a:ln/>
        </p:spPr>
        <p:txBody>
          <a:bodyPr wrap="square" lIns="0" tIns="0" rIns="0" bIns="0" rtlCol="0" anchor="ctr"/>
          <a:lstStyle/>
          <a:p>
            <a:pPr indent="0" marL="0">
              <a:buNone/>
            </a:pPr>
            <a:r>
              <a:rPr lang="en-US" sz="800" b="1" spc="100" kern="0" dirty="0">
                <a:solidFill>
                  <a:srgbClr val="FF007A"/>
                </a:solidFill>
                <a:latin typeface="Arial" pitchFamily="34" charset="0"/>
                <a:ea typeface="Arial" pitchFamily="34" charset="-122"/>
                <a:cs typeface="Arial" pitchFamily="34" charset="-120"/>
              </a:rPr>
              <a:t>IBM BOB IDE</a:t>
            </a:r>
            <a:endParaRPr lang="en-US" sz="800" dirty="0"/>
          </a:p>
        </p:txBody>
      </p:sp>
      <p:sp>
        <p:nvSpPr>
          <p:cNvPr id="8" name="Text 6"/>
          <p:cNvSpPr/>
          <p:nvPr/>
        </p:nvSpPr>
        <p:spPr>
          <a:xfrm>
            <a:off x="502920" y="1353312"/>
            <a:ext cx="3840480" cy="786384"/>
          </a:xfrm>
          <a:prstGeom prst="rect">
            <a:avLst/>
          </a:prstGeom>
          <a:noFill/>
          <a:ln/>
        </p:spPr>
        <p:txBody>
          <a:bodyPr wrap="square" lIns="0" tIns="0" rIns="0" bIns="0" rtlCol="0" anchor="ctr"/>
          <a:lstStyle/>
          <a:p>
            <a:pPr indent="0" marL="0">
              <a:buNone/>
            </a:pPr>
            <a:r>
              <a:rPr lang="en-US" sz="850" dirty="0">
                <a:solidFill>
                  <a:srgbClr val="A1A1AA"/>
                </a:solidFill>
                <a:latin typeface="Arial" pitchFamily="34" charset="0"/>
                <a:ea typeface="Arial" pitchFamily="34" charset="-122"/>
                <a:cs typeface="Arial" pitchFamily="34" charset="-120"/>
              </a:rPr>
              <a:t>Bob's MCP integration is genuinely production-grade. Plan mode context injection before code generation is the most powerful shift-left point — earlier than any linter or reviewer can reach.</a:t>
            </a:r>
            <a:endParaRPr lang="en-US" sz="850" dirty="0"/>
          </a:p>
        </p:txBody>
      </p:sp>
      <p:sp>
        <p:nvSpPr>
          <p:cNvPr id="9" name="Shape 7"/>
          <p:cNvSpPr/>
          <p:nvPr/>
        </p:nvSpPr>
        <p:spPr>
          <a:xfrm>
            <a:off x="365760" y="2331720"/>
            <a:ext cx="4206240" cy="1207008"/>
          </a:xfrm>
          <a:prstGeom prst="roundRect">
            <a:avLst>
              <a:gd name="adj" fmla="val 5303"/>
            </a:avLst>
          </a:prstGeom>
          <a:solidFill>
            <a:srgbClr val="0A0A0A"/>
          </a:solidFill>
          <a:ln w="10160">
            <a:solidFill>
              <a:srgbClr val="FF5C00"/>
            </a:solidFill>
            <a:prstDash val="solid"/>
          </a:ln>
          <a:effectLst>
            <a:outerShdw sx="100000" sy="100000" kx="0" ky="0" algn="bl" rotWithShape="0" blurRad="101600" dist="38100" dir="2700000">
              <a:srgbClr val="000000">
                <a:alpha val="35000"/>
              </a:srgbClr>
            </a:outerShdw>
          </a:effectLst>
        </p:spPr>
      </p:sp>
      <p:sp>
        <p:nvSpPr>
          <p:cNvPr id="10" name="Text 8"/>
          <p:cNvSpPr/>
          <p:nvPr/>
        </p:nvSpPr>
        <p:spPr>
          <a:xfrm>
            <a:off x="502920" y="2423160"/>
            <a:ext cx="3840480" cy="219456"/>
          </a:xfrm>
          <a:prstGeom prst="rect">
            <a:avLst/>
          </a:prstGeom>
          <a:noFill/>
          <a:ln/>
        </p:spPr>
        <p:txBody>
          <a:bodyPr wrap="square" lIns="0" tIns="0" rIns="0" bIns="0" rtlCol="0" anchor="ctr"/>
          <a:lstStyle/>
          <a:p>
            <a:pPr indent="0" marL="0">
              <a:buNone/>
            </a:pPr>
            <a:r>
              <a:rPr lang="en-US" sz="800" b="1" spc="100" kern="0" dirty="0">
                <a:solidFill>
                  <a:srgbClr val="FF5C00"/>
                </a:solidFill>
                <a:latin typeface="Arial" pitchFamily="34" charset="0"/>
                <a:ea typeface="Arial" pitchFamily="34" charset="-122"/>
                <a:cs typeface="Arial" pitchFamily="34" charset="-120"/>
              </a:rPr>
              <a:t>IBM GRANITE</a:t>
            </a:r>
            <a:endParaRPr lang="en-US" sz="800" dirty="0"/>
          </a:p>
        </p:txBody>
      </p:sp>
      <p:sp>
        <p:nvSpPr>
          <p:cNvPr id="11" name="Text 9"/>
          <p:cNvSpPr/>
          <p:nvPr/>
        </p:nvSpPr>
        <p:spPr>
          <a:xfrm>
            <a:off x="502920" y="2679192"/>
            <a:ext cx="3840480" cy="786384"/>
          </a:xfrm>
          <a:prstGeom prst="rect">
            <a:avLst/>
          </a:prstGeom>
          <a:noFill/>
          <a:ln/>
        </p:spPr>
        <p:txBody>
          <a:bodyPr wrap="square" lIns="0" tIns="0" rIns="0" bIns="0" rtlCol="0" anchor="ctr"/>
          <a:lstStyle/>
          <a:p>
            <a:pPr indent="0" marL="0">
              <a:buNone/>
            </a:pPr>
            <a:r>
              <a:rPr lang="en-US" sz="850" dirty="0">
                <a:solidFill>
                  <a:srgbClr val="A1A1AA"/>
                </a:solidFill>
                <a:latin typeface="Arial" pitchFamily="34" charset="0"/>
                <a:ea typeface="Arial" pitchFamily="34" charset="-122"/>
                <a:cs typeface="Arial" pitchFamily="34" charset="-120"/>
              </a:rPr>
              <a:t>Inline schema constraints in the system prompt are more reliable than API-level response_format for structured outputs. Granite at low temperature (0.05) is highly adversarially predictable — ideal for the Critic agent role.</a:t>
            </a:r>
            <a:endParaRPr lang="en-US" sz="850" dirty="0"/>
          </a:p>
        </p:txBody>
      </p:sp>
      <p:sp>
        <p:nvSpPr>
          <p:cNvPr id="12" name="Shape 10"/>
          <p:cNvSpPr/>
          <p:nvPr/>
        </p:nvSpPr>
        <p:spPr>
          <a:xfrm>
            <a:off x="365760" y="3657600"/>
            <a:ext cx="4206240" cy="1207008"/>
          </a:xfrm>
          <a:prstGeom prst="roundRect">
            <a:avLst>
              <a:gd name="adj" fmla="val 5303"/>
            </a:avLst>
          </a:prstGeom>
          <a:solidFill>
            <a:srgbClr val="0A0A0A"/>
          </a:solidFill>
          <a:ln w="10160">
            <a:solidFill>
              <a:srgbClr val="E5FF00"/>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502920" y="3749040"/>
            <a:ext cx="3840480" cy="219456"/>
          </a:xfrm>
          <a:prstGeom prst="rect">
            <a:avLst/>
          </a:prstGeom>
          <a:noFill/>
          <a:ln/>
        </p:spPr>
        <p:txBody>
          <a:bodyPr wrap="square" lIns="0" tIns="0" rIns="0" bIns="0" rtlCol="0" anchor="ctr"/>
          <a:lstStyle/>
          <a:p>
            <a:pPr indent="0" marL="0">
              <a:buNone/>
            </a:pPr>
            <a:r>
              <a:rPr lang="en-US" sz="800" b="1" spc="100" kern="0" dirty="0">
                <a:solidFill>
                  <a:srgbClr val="E5FF00"/>
                </a:solidFill>
                <a:latin typeface="Arial" pitchFamily="34" charset="0"/>
                <a:ea typeface="Arial" pitchFamily="34" charset="-122"/>
                <a:cs typeface="Arial" pitchFamily="34" charset="-120"/>
              </a:rPr>
              <a:t>WATSONX.GOVERNANCE</a:t>
            </a:r>
            <a:endParaRPr lang="en-US" sz="800" dirty="0"/>
          </a:p>
        </p:txBody>
      </p:sp>
      <p:sp>
        <p:nvSpPr>
          <p:cNvPr id="14" name="Text 12"/>
          <p:cNvSpPr/>
          <p:nvPr/>
        </p:nvSpPr>
        <p:spPr>
          <a:xfrm>
            <a:off x="502920" y="4005072"/>
            <a:ext cx="3840480" cy="786384"/>
          </a:xfrm>
          <a:prstGeom prst="rect">
            <a:avLst/>
          </a:prstGeom>
          <a:noFill/>
          <a:ln/>
        </p:spPr>
        <p:txBody>
          <a:bodyPr wrap="square" lIns="0" tIns="0" rIns="0" bIns="0" rtlCol="0" anchor="ctr"/>
          <a:lstStyle/>
          <a:p>
            <a:pPr indent="0" marL="0">
              <a:buNone/>
            </a:pPr>
            <a:r>
              <a:rPr lang="en-US" sz="850" dirty="0">
                <a:solidFill>
                  <a:srgbClr val="A1A1AA"/>
                </a:solidFill>
                <a:latin typeface="Arial" pitchFamily="34" charset="0"/>
                <a:ea typeface="Arial" pitchFamily="34" charset="-122"/>
                <a:cs typeface="Arial" pitchFamily="34" charset="-120"/>
              </a:rPr>
              <a:t>Governance lineage records as audit evidence changes the compliance conversation entirely. 'A human reviewer checked it' vs. 'here is a queryable, immutable record of every check and citation' are categorically different answers.</a:t>
            </a:r>
            <a:endParaRPr lang="en-US" sz="850" dirty="0"/>
          </a:p>
        </p:txBody>
      </p:sp>
      <p:sp>
        <p:nvSpPr>
          <p:cNvPr id="15" name="Shape 13"/>
          <p:cNvSpPr/>
          <p:nvPr/>
        </p:nvSpPr>
        <p:spPr>
          <a:xfrm>
            <a:off x="4846320" y="1005840"/>
            <a:ext cx="4206240" cy="1207008"/>
          </a:xfrm>
          <a:prstGeom prst="roundRect">
            <a:avLst>
              <a:gd name="adj" fmla="val 5303"/>
            </a:avLst>
          </a:prstGeom>
          <a:solidFill>
            <a:srgbClr val="0A0A0A"/>
          </a:solidFill>
          <a:ln w="10160">
            <a:solidFill>
              <a:srgbClr val="E8A54B"/>
            </a:solidFill>
            <a:prstDash val="solid"/>
          </a:ln>
          <a:effectLst>
            <a:outerShdw sx="100000" sy="100000" kx="0" ky="0" algn="bl" rotWithShape="0" blurRad="101600" dist="38100" dir="2700000">
              <a:srgbClr val="000000">
                <a:alpha val="35000"/>
              </a:srgbClr>
            </a:outerShdw>
          </a:effectLst>
        </p:spPr>
      </p:sp>
      <p:sp>
        <p:nvSpPr>
          <p:cNvPr id="16" name="Text 14"/>
          <p:cNvSpPr/>
          <p:nvPr/>
        </p:nvSpPr>
        <p:spPr>
          <a:xfrm>
            <a:off x="4983480" y="1097280"/>
            <a:ext cx="3840480" cy="219456"/>
          </a:xfrm>
          <a:prstGeom prst="rect">
            <a:avLst/>
          </a:prstGeom>
          <a:noFill/>
          <a:ln/>
        </p:spPr>
        <p:txBody>
          <a:bodyPr wrap="square" lIns="0" tIns="0" rIns="0" bIns="0" rtlCol="0" anchor="ctr"/>
          <a:lstStyle/>
          <a:p>
            <a:pPr indent="0" marL="0">
              <a:buNone/>
            </a:pPr>
            <a:r>
              <a:rPr lang="en-US" sz="800" b="1" spc="100" kern="0" dirty="0">
                <a:solidFill>
                  <a:srgbClr val="E8A54B"/>
                </a:solidFill>
                <a:latin typeface="Arial" pitchFamily="34" charset="0"/>
                <a:ea typeface="Arial" pitchFamily="34" charset="-122"/>
                <a:cs typeface="Arial" pitchFamily="34" charset="-120"/>
              </a:rPr>
              <a:t>HEXAGONAL ARCHITECTURE</a:t>
            </a:r>
            <a:endParaRPr lang="en-US" sz="800" dirty="0"/>
          </a:p>
        </p:txBody>
      </p:sp>
      <p:sp>
        <p:nvSpPr>
          <p:cNvPr id="17" name="Text 15"/>
          <p:cNvSpPr/>
          <p:nvPr/>
        </p:nvSpPr>
        <p:spPr>
          <a:xfrm>
            <a:off x="4983480" y="1353312"/>
            <a:ext cx="3840480" cy="786384"/>
          </a:xfrm>
          <a:prstGeom prst="rect">
            <a:avLst/>
          </a:prstGeom>
          <a:noFill/>
          <a:ln/>
        </p:spPr>
        <p:txBody>
          <a:bodyPr wrap="square" lIns="0" tIns="0" rIns="0" bIns="0" rtlCol="0" anchor="ctr"/>
          <a:lstStyle/>
          <a:p>
            <a:pPr indent="0" marL="0">
              <a:buNone/>
            </a:pPr>
            <a:r>
              <a:rPr lang="en-US" sz="850" dirty="0">
                <a:solidFill>
                  <a:srgbClr val="A1A1AA"/>
                </a:solidFill>
                <a:latin typeface="Arial" pitchFamily="34" charset="0"/>
                <a:ea typeface="Arial" pitchFamily="34" charset="-122"/>
                <a:cs typeface="Arial" pitchFamily="34" charset="-120"/>
              </a:rPr>
              <a:t>The Port/Adapter pattern, when enforced strictly (a CI lint rule blocking SDK imports in core/), actually produces better domain modeling — domain concepts emerged more cleanly without infrastructure leaking in.</a:t>
            </a:r>
            <a:endParaRPr lang="en-US" sz="850" dirty="0"/>
          </a:p>
        </p:txBody>
      </p:sp>
      <p:sp>
        <p:nvSpPr>
          <p:cNvPr id="18" name="Shape 16"/>
          <p:cNvSpPr/>
          <p:nvPr/>
        </p:nvSpPr>
        <p:spPr>
          <a:xfrm>
            <a:off x="4846320" y="2331720"/>
            <a:ext cx="4206240" cy="1207008"/>
          </a:xfrm>
          <a:prstGeom prst="roundRect">
            <a:avLst>
              <a:gd name="adj" fmla="val 5303"/>
            </a:avLst>
          </a:prstGeom>
          <a:solidFill>
            <a:srgbClr val="0A0A0A"/>
          </a:solidFill>
          <a:ln w="10160">
            <a:solidFill>
              <a:srgbClr val="1B6CA8"/>
            </a:solidFill>
            <a:prstDash val="solid"/>
          </a:ln>
          <a:effectLst>
            <a:outerShdw sx="100000" sy="100000" kx="0" ky="0" algn="bl" rotWithShape="0" blurRad="101600" dist="38100" dir="2700000">
              <a:srgbClr val="000000">
                <a:alpha val="35000"/>
              </a:srgbClr>
            </a:outerShdw>
          </a:effectLst>
        </p:spPr>
      </p:sp>
      <p:sp>
        <p:nvSpPr>
          <p:cNvPr id="19" name="Text 17"/>
          <p:cNvSpPr/>
          <p:nvPr/>
        </p:nvSpPr>
        <p:spPr>
          <a:xfrm>
            <a:off x="4983480" y="2423160"/>
            <a:ext cx="3840480" cy="219456"/>
          </a:xfrm>
          <a:prstGeom prst="rect">
            <a:avLst/>
          </a:prstGeom>
          <a:noFill/>
          <a:ln/>
        </p:spPr>
        <p:txBody>
          <a:bodyPr wrap="square" lIns="0" tIns="0" rIns="0" bIns="0" rtlCol="0" anchor="ctr"/>
          <a:lstStyle/>
          <a:p>
            <a:pPr indent="0" marL="0">
              <a:buNone/>
            </a:pPr>
            <a:r>
              <a:rPr lang="en-US" sz="800" b="1" spc="100" kern="0" dirty="0">
                <a:solidFill>
                  <a:srgbClr val="1B6CA8"/>
                </a:solidFill>
                <a:latin typeface="Arial" pitchFamily="34" charset="0"/>
                <a:ea typeface="Arial" pitchFamily="34" charset="-122"/>
                <a:cs typeface="Arial" pitchFamily="34" charset="-120"/>
              </a:rPr>
              <a:t>AGENTIC SYSTEM DESIGN</a:t>
            </a:r>
            <a:endParaRPr lang="en-US" sz="800" dirty="0"/>
          </a:p>
        </p:txBody>
      </p:sp>
      <p:sp>
        <p:nvSpPr>
          <p:cNvPr id="20" name="Text 18"/>
          <p:cNvSpPr/>
          <p:nvPr/>
        </p:nvSpPr>
        <p:spPr>
          <a:xfrm>
            <a:off x="4983480" y="2679192"/>
            <a:ext cx="3840480" cy="786384"/>
          </a:xfrm>
          <a:prstGeom prst="rect">
            <a:avLst/>
          </a:prstGeom>
          <a:noFill/>
          <a:ln/>
        </p:spPr>
        <p:txBody>
          <a:bodyPr wrap="square" lIns="0" tIns="0" rIns="0" bIns="0" rtlCol="0" anchor="ctr"/>
          <a:lstStyle/>
          <a:p>
            <a:pPr indent="0" marL="0">
              <a:buNone/>
            </a:pPr>
            <a:r>
              <a:rPr lang="en-US" sz="850" dirty="0">
                <a:solidFill>
                  <a:srgbClr val="A1A1AA"/>
                </a:solidFill>
                <a:latin typeface="Arial" pitchFamily="34" charset="0"/>
                <a:ea typeface="Arial" pitchFamily="34" charset="-122"/>
                <a:cs typeface="Arial" pitchFamily="34" charset="-120"/>
              </a:rPr>
              <a:t>Choosing a deterministic DAG over a ReAct planner for compliance checking was correct. Free-form replanning adds latency and variance to a domain that is fundamentally deterministic. Simpler agent topology, better engineering.</a:t>
            </a:r>
            <a:endParaRPr lang="en-US" sz="850" dirty="0"/>
          </a:p>
        </p:txBody>
      </p:sp>
      <p:sp>
        <p:nvSpPr>
          <p:cNvPr id="21" name="Shape 19"/>
          <p:cNvSpPr/>
          <p:nvPr/>
        </p:nvSpPr>
        <p:spPr>
          <a:xfrm>
            <a:off x="4846320" y="3657600"/>
            <a:ext cx="4206240" cy="1207008"/>
          </a:xfrm>
          <a:prstGeom prst="roundRect">
            <a:avLst>
              <a:gd name="adj" fmla="val 5303"/>
            </a:avLst>
          </a:prstGeom>
          <a:solidFill>
            <a:srgbClr val="0A0A0A"/>
          </a:solidFill>
          <a:ln w="10160">
            <a:solidFill>
              <a:srgbClr val="A1A1AA"/>
            </a:solidFill>
            <a:prstDash val="solid"/>
          </a:ln>
          <a:effectLst>
            <a:outerShdw sx="100000" sy="100000" kx="0" ky="0" algn="bl" rotWithShape="0" blurRad="101600" dist="38100" dir="2700000">
              <a:srgbClr val="000000">
                <a:alpha val="35000"/>
              </a:srgbClr>
            </a:outerShdw>
          </a:effectLst>
        </p:spPr>
      </p:sp>
      <p:sp>
        <p:nvSpPr>
          <p:cNvPr id="22" name="Text 20"/>
          <p:cNvSpPr/>
          <p:nvPr/>
        </p:nvSpPr>
        <p:spPr>
          <a:xfrm>
            <a:off x="4983480" y="3749040"/>
            <a:ext cx="3840480" cy="219456"/>
          </a:xfrm>
          <a:prstGeom prst="rect">
            <a:avLst/>
          </a:prstGeom>
          <a:noFill/>
          <a:ln/>
        </p:spPr>
        <p:txBody>
          <a:bodyPr wrap="square" lIns="0" tIns="0" rIns="0" bIns="0" rtlCol="0" anchor="ctr"/>
          <a:lstStyle/>
          <a:p>
            <a:pPr indent="0" marL="0">
              <a:buNone/>
            </a:pPr>
            <a:r>
              <a:rPr lang="en-US" sz="800" b="1" spc="100" kern="0" dirty="0">
                <a:solidFill>
                  <a:srgbClr val="A1A1AA"/>
                </a:solidFill>
                <a:latin typeface="Arial" pitchFamily="34" charset="0"/>
                <a:ea typeface="Arial" pitchFamily="34" charset="-122"/>
                <a:cs typeface="Arial" pitchFamily="34" charset="-120"/>
              </a:rPr>
              <a:t>MOCK_MODE STRATEGY</a:t>
            </a:r>
            <a:endParaRPr lang="en-US" sz="800" dirty="0"/>
          </a:p>
        </p:txBody>
      </p:sp>
      <p:sp>
        <p:nvSpPr>
          <p:cNvPr id="23" name="Text 21"/>
          <p:cNvSpPr/>
          <p:nvPr/>
        </p:nvSpPr>
        <p:spPr>
          <a:xfrm>
            <a:off x="4983480" y="4005072"/>
            <a:ext cx="3840480" cy="786384"/>
          </a:xfrm>
          <a:prstGeom prst="rect">
            <a:avLst/>
          </a:prstGeom>
          <a:noFill/>
          <a:ln/>
        </p:spPr>
        <p:txBody>
          <a:bodyPr wrap="square" lIns="0" tIns="0" rIns="0" bIns="0" rtlCol="0" anchor="ctr"/>
          <a:lstStyle/>
          <a:p>
            <a:pPr indent="0" marL="0">
              <a:buNone/>
            </a:pPr>
            <a:r>
              <a:rPr lang="en-US" sz="850" dirty="0">
                <a:solidFill>
                  <a:srgbClr val="A1A1AA"/>
                </a:solidFill>
                <a:latin typeface="Arial" pitchFamily="34" charset="0"/>
                <a:ea typeface="Arial" pitchFamily="34" charset="-122"/>
                <a:cs typeface="Arial" pitchFamily="34" charset="-120"/>
              </a:rPr>
              <a:t>Parametrize tests against both adapters simultaneously — not just interface equivalence, behavioral equivalence. Running the same test suite against IBM and local adapters finds real divergence before it hits production.</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007A"/>
          </a:solidFill>
          <a:ln w="12700">
            <a:solidFill>
              <a:srgbClr val="FF007A"/>
            </a:solidFill>
            <a:prstDash val="solid"/>
          </a:ln>
        </p:spPr>
      </p:sp>
      <p:sp>
        <p:nvSpPr>
          <p:cNvPr id="3" name="Shape 1"/>
          <p:cNvSpPr/>
          <p:nvPr/>
        </p:nvSpPr>
        <p:spPr>
          <a:xfrm>
            <a:off x="0" y="5088636"/>
            <a:ext cx="9144000" cy="54864"/>
          </a:xfrm>
          <a:prstGeom prst="rect">
            <a:avLst/>
          </a:prstGeom>
          <a:solidFill>
            <a:srgbClr val="E5FF00"/>
          </a:solidFill>
          <a:ln w="12700">
            <a:solidFill>
              <a:srgbClr val="E5FF00"/>
            </a:solidFill>
            <a:prstDash val="solid"/>
          </a:ln>
        </p:spPr>
      </p:sp>
      <p:sp>
        <p:nvSpPr>
          <p:cNvPr id="4" name="Text 2"/>
          <p:cNvSpPr/>
          <p:nvPr/>
        </p:nvSpPr>
        <p:spPr>
          <a:xfrm>
            <a:off x="457200" y="457200"/>
            <a:ext cx="8229600" cy="1005840"/>
          </a:xfrm>
          <a:prstGeom prst="rect">
            <a:avLst/>
          </a:prstGeom>
          <a:noFill/>
          <a:ln/>
        </p:spPr>
        <p:txBody>
          <a:bodyPr wrap="square" lIns="0" tIns="0" rIns="0" bIns="0" rtlCol="0" anchor="ctr"/>
          <a:lstStyle/>
          <a:p>
            <a:pPr algn="ctr" indent="0" marL="0">
              <a:buNone/>
            </a:pPr>
            <a:r>
              <a:rPr lang="en-US" sz="6800" b="1" spc="-200" kern="0" dirty="0">
                <a:solidFill>
                  <a:srgbClr val="FFFFFF"/>
                </a:solidFill>
                <a:latin typeface="Arial" pitchFamily="34" charset="0"/>
                <a:ea typeface="Arial" pitchFamily="34" charset="-122"/>
                <a:cs typeface="Arial" pitchFamily="34" charset="-120"/>
              </a:rPr>
              <a:t>SENTINEL</a:t>
            </a:r>
            <a:endParaRPr lang="en-US" sz="6800" dirty="0"/>
          </a:p>
        </p:txBody>
      </p:sp>
      <p:sp>
        <p:nvSpPr>
          <p:cNvPr id="5" name="Text 3"/>
          <p:cNvSpPr/>
          <p:nvPr/>
        </p:nvSpPr>
        <p:spPr>
          <a:xfrm>
            <a:off x="457200" y="1325880"/>
            <a:ext cx="8229600" cy="1005840"/>
          </a:xfrm>
          <a:prstGeom prst="rect">
            <a:avLst/>
          </a:prstGeom>
          <a:noFill/>
          <a:ln/>
        </p:spPr>
        <p:txBody>
          <a:bodyPr wrap="square" lIns="0" tIns="0" rIns="0" bIns="0" rtlCol="0" anchor="ctr"/>
          <a:lstStyle/>
          <a:p>
            <a:pPr algn="ctr" indent="0" marL="0">
              <a:buNone/>
            </a:pPr>
            <a:r>
              <a:rPr lang="en-US" sz="6800" b="1" spc="-200" kern="0" dirty="0">
                <a:solidFill>
                  <a:srgbClr val="FF007A"/>
                </a:solidFill>
                <a:latin typeface="Arial" pitchFamily="34" charset="0"/>
                <a:ea typeface="Arial" pitchFamily="34" charset="-122"/>
                <a:cs typeface="Arial" pitchFamily="34" charset="-120"/>
              </a:rPr>
              <a:t>SPEC</a:t>
            </a:r>
            <a:endParaRPr lang="en-US" sz="6800" dirty="0"/>
          </a:p>
        </p:txBody>
      </p:sp>
      <p:sp>
        <p:nvSpPr>
          <p:cNvPr id="6" name="Text 4"/>
          <p:cNvSpPr/>
          <p:nvPr/>
        </p:nvSpPr>
        <p:spPr>
          <a:xfrm>
            <a:off x="457200" y="2331720"/>
            <a:ext cx="8229600" cy="384048"/>
          </a:xfrm>
          <a:prstGeom prst="rect">
            <a:avLst/>
          </a:prstGeom>
          <a:noFill/>
          <a:ln/>
        </p:spPr>
        <p:txBody>
          <a:bodyPr wrap="square" lIns="0" tIns="0" rIns="0" bIns="0" rtlCol="0" anchor="ctr"/>
          <a:lstStyle/>
          <a:p>
            <a:pPr algn="ctr" indent="0" marL="0">
              <a:buNone/>
            </a:pPr>
            <a:r>
              <a:rPr lang="en-US" sz="1400" i="1" dirty="0">
                <a:solidFill>
                  <a:srgbClr val="A1A1AA"/>
                </a:solidFill>
                <a:latin typeface="Arial" pitchFamily="34" charset="0"/>
                <a:ea typeface="Arial" pitchFamily="34" charset="-122"/>
                <a:cs typeface="Arial" pitchFamily="34" charset="-120"/>
              </a:rPr>
              <a:t>Stop violations before the PR exists.</a:t>
            </a:r>
            <a:endParaRPr lang="en-US" sz="1400" dirty="0"/>
          </a:p>
        </p:txBody>
      </p:sp>
      <p:sp>
        <p:nvSpPr>
          <p:cNvPr id="7" name="Shape 5"/>
          <p:cNvSpPr/>
          <p:nvPr/>
        </p:nvSpPr>
        <p:spPr>
          <a:xfrm>
            <a:off x="1371600" y="2834640"/>
            <a:ext cx="6400800" cy="0"/>
          </a:xfrm>
          <a:prstGeom prst="line">
            <a:avLst/>
          </a:prstGeom>
          <a:noFill/>
          <a:ln w="6350">
            <a:solidFill>
              <a:srgbClr val="52525B"/>
            </a:solidFill>
            <a:prstDash val="solid"/>
          </a:ln>
        </p:spPr>
      </p:sp>
      <p:sp>
        <p:nvSpPr>
          <p:cNvPr id="8" name="Shape 6"/>
          <p:cNvSpPr/>
          <p:nvPr/>
        </p:nvSpPr>
        <p:spPr>
          <a:xfrm>
            <a:off x="365760" y="2971800"/>
            <a:ext cx="2651760" cy="1097280"/>
          </a:xfrm>
          <a:prstGeom prst="roundRect">
            <a:avLst>
              <a:gd name="adj" fmla="val 6667"/>
            </a:avLst>
          </a:prstGeom>
          <a:solidFill>
            <a:srgbClr val="0A0A0A"/>
          </a:solidFill>
          <a:ln w="12700">
            <a:solidFill>
              <a:srgbClr val="FF007A"/>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502920" y="3090672"/>
            <a:ext cx="2377440" cy="256032"/>
          </a:xfrm>
          <a:prstGeom prst="rect">
            <a:avLst/>
          </a:prstGeom>
          <a:noFill/>
          <a:ln/>
        </p:spPr>
        <p:txBody>
          <a:bodyPr wrap="square" lIns="0" tIns="0" rIns="0" bIns="0" rtlCol="0" anchor="ctr"/>
          <a:lstStyle/>
          <a:p>
            <a:pPr indent="0" marL="0">
              <a:buNone/>
            </a:pPr>
            <a:r>
              <a:rPr lang="en-US" sz="800" b="1" spc="150" kern="0" dirty="0">
                <a:solidFill>
                  <a:srgbClr val="FF007A"/>
                </a:solidFill>
                <a:latin typeface="Arial" pitchFamily="34" charset="0"/>
                <a:ea typeface="Arial" pitchFamily="34" charset="-122"/>
                <a:cs typeface="Arial" pitchFamily="34" charset="-120"/>
              </a:rPr>
              <a:t>LIVE DEMO</a:t>
            </a:r>
            <a:endParaRPr lang="en-US" sz="800" dirty="0"/>
          </a:p>
        </p:txBody>
      </p:sp>
      <p:sp>
        <p:nvSpPr>
          <p:cNvPr id="10" name="Text 8"/>
          <p:cNvSpPr/>
          <p:nvPr/>
        </p:nvSpPr>
        <p:spPr>
          <a:xfrm>
            <a:off x="502920" y="3383280"/>
            <a:ext cx="2377440" cy="54864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sentinel-spec.vercel.app</a:t>
            </a:r>
            <a:endParaRPr lang="en-US" sz="950" dirty="0"/>
          </a:p>
        </p:txBody>
      </p:sp>
      <p:sp>
        <p:nvSpPr>
          <p:cNvPr id="11" name="Shape 9"/>
          <p:cNvSpPr/>
          <p:nvPr/>
        </p:nvSpPr>
        <p:spPr>
          <a:xfrm>
            <a:off x="3200400" y="2971800"/>
            <a:ext cx="2651760" cy="1097280"/>
          </a:xfrm>
          <a:prstGeom prst="roundRect">
            <a:avLst>
              <a:gd name="adj" fmla="val 6667"/>
            </a:avLst>
          </a:prstGeom>
          <a:solidFill>
            <a:srgbClr val="0A0A0A"/>
          </a:solidFill>
          <a:ln w="12700">
            <a:solidFill>
              <a:srgbClr val="FF5C00"/>
            </a:solidFill>
            <a:prstDash val="solid"/>
          </a:ln>
          <a:effectLst>
            <a:outerShdw sx="100000" sy="100000" kx="0" ky="0" algn="bl" rotWithShape="0" blurRad="101600" dist="38100" dir="2700000">
              <a:srgbClr val="000000">
                <a:alpha val="35000"/>
              </a:srgbClr>
            </a:outerShdw>
          </a:effectLst>
        </p:spPr>
      </p:sp>
      <p:sp>
        <p:nvSpPr>
          <p:cNvPr id="12" name="Text 10"/>
          <p:cNvSpPr/>
          <p:nvPr/>
        </p:nvSpPr>
        <p:spPr>
          <a:xfrm>
            <a:off x="3337560" y="3090672"/>
            <a:ext cx="2377440" cy="256032"/>
          </a:xfrm>
          <a:prstGeom prst="rect">
            <a:avLst/>
          </a:prstGeom>
          <a:noFill/>
          <a:ln/>
        </p:spPr>
        <p:txBody>
          <a:bodyPr wrap="square" lIns="0" tIns="0" rIns="0" bIns="0" rtlCol="0" anchor="ctr"/>
          <a:lstStyle/>
          <a:p>
            <a:pPr indent="0" marL="0">
              <a:buNone/>
            </a:pPr>
            <a:r>
              <a:rPr lang="en-US" sz="800" b="1" spc="150" kern="0" dirty="0">
                <a:solidFill>
                  <a:srgbClr val="FF5C00"/>
                </a:solidFill>
                <a:latin typeface="Arial" pitchFamily="34" charset="0"/>
                <a:ea typeface="Arial" pitchFamily="34" charset="-122"/>
                <a:cs typeface="Arial" pitchFamily="34" charset="-120"/>
              </a:rPr>
              <a:t>GITHUB</a:t>
            </a:r>
            <a:endParaRPr lang="en-US" sz="800" dirty="0"/>
          </a:p>
        </p:txBody>
      </p:sp>
      <p:sp>
        <p:nvSpPr>
          <p:cNvPr id="13" name="Text 11"/>
          <p:cNvSpPr/>
          <p:nvPr/>
        </p:nvSpPr>
        <p:spPr>
          <a:xfrm>
            <a:off x="3337560" y="3383280"/>
            <a:ext cx="2377440" cy="54864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github.com/Rajal-ui/sentinel-spec-core</a:t>
            </a:r>
            <a:endParaRPr lang="en-US" sz="950" dirty="0"/>
          </a:p>
        </p:txBody>
      </p:sp>
      <p:sp>
        <p:nvSpPr>
          <p:cNvPr id="14" name="Shape 12"/>
          <p:cNvSpPr/>
          <p:nvPr/>
        </p:nvSpPr>
        <p:spPr>
          <a:xfrm>
            <a:off x="6035040" y="2971800"/>
            <a:ext cx="2651760" cy="1097280"/>
          </a:xfrm>
          <a:prstGeom prst="roundRect">
            <a:avLst>
              <a:gd name="adj" fmla="val 6667"/>
            </a:avLst>
          </a:prstGeom>
          <a:solidFill>
            <a:srgbClr val="0A0A0A"/>
          </a:solidFill>
          <a:ln w="12700">
            <a:solidFill>
              <a:srgbClr val="E5FF00"/>
            </a:solidFill>
            <a:prstDash val="solid"/>
          </a:ln>
          <a:effectLst>
            <a:outerShdw sx="100000" sy="100000" kx="0" ky="0" algn="bl" rotWithShape="0" blurRad="101600" dist="38100" dir="2700000">
              <a:srgbClr val="000000">
                <a:alpha val="35000"/>
              </a:srgbClr>
            </a:outerShdw>
          </a:effectLst>
        </p:spPr>
      </p:sp>
      <p:sp>
        <p:nvSpPr>
          <p:cNvPr id="15" name="Text 13"/>
          <p:cNvSpPr/>
          <p:nvPr/>
        </p:nvSpPr>
        <p:spPr>
          <a:xfrm>
            <a:off x="6172200" y="3090672"/>
            <a:ext cx="2377440" cy="256032"/>
          </a:xfrm>
          <a:prstGeom prst="rect">
            <a:avLst/>
          </a:prstGeom>
          <a:noFill/>
          <a:ln/>
        </p:spPr>
        <p:txBody>
          <a:bodyPr wrap="square" lIns="0" tIns="0" rIns="0" bIns="0" rtlCol="0" anchor="ctr"/>
          <a:lstStyle/>
          <a:p>
            <a:pPr indent="0" marL="0">
              <a:buNone/>
            </a:pPr>
            <a:r>
              <a:rPr lang="en-US" sz="800" b="1" spc="150" kern="0" dirty="0">
                <a:solidFill>
                  <a:srgbClr val="E5FF00"/>
                </a:solidFill>
                <a:latin typeface="Arial" pitchFamily="34" charset="0"/>
                <a:ea typeface="Arial" pitchFamily="34" charset="-122"/>
                <a:cs typeface="Arial" pitchFamily="34" charset="-120"/>
              </a:rPr>
              <a:t>MOCK_MODE</a:t>
            </a:r>
            <a:endParaRPr lang="en-US" sz="800" dirty="0"/>
          </a:p>
        </p:txBody>
      </p:sp>
      <p:sp>
        <p:nvSpPr>
          <p:cNvPr id="16" name="Text 14"/>
          <p:cNvSpPr/>
          <p:nvPr/>
        </p:nvSpPr>
        <p:spPr>
          <a:xfrm>
            <a:off x="6172200" y="3383280"/>
            <a:ext cx="2377440" cy="54864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docker compose up</a:t>
            </a:r>
            <a:endParaRPr lang="en-US" sz="950" dirty="0"/>
          </a:p>
        </p:txBody>
      </p:sp>
      <p:sp>
        <p:nvSpPr>
          <p:cNvPr id="17" name="Text 15"/>
          <p:cNvSpPr/>
          <p:nvPr/>
        </p:nvSpPr>
        <p:spPr>
          <a:xfrm>
            <a:off x="457200" y="4206240"/>
            <a:ext cx="8229600" cy="228600"/>
          </a:xfrm>
          <a:prstGeom prst="rect">
            <a:avLst/>
          </a:prstGeom>
          <a:noFill/>
          <a:ln/>
        </p:spPr>
        <p:txBody>
          <a:bodyPr wrap="square" lIns="0" tIns="0" rIns="0" bIns="0" rtlCol="0" anchor="ctr"/>
          <a:lstStyle/>
          <a:p>
            <a:pPr algn="ctr" indent="0" marL="0">
              <a:buNone/>
            </a:pPr>
            <a:r>
              <a:rPr lang="en-US" sz="850" dirty="0">
                <a:solidFill>
                  <a:srgbClr val="52525B"/>
                </a:solidFill>
                <a:latin typeface="Arial" pitchFamily="34" charset="0"/>
                <a:ea typeface="Arial" pitchFamily="34" charset="-122"/>
                <a:cs typeface="Arial" pitchFamily="34" charset="-120"/>
              </a:rPr>
              <a:t>EduNet Foundation · IBM SkillsBuild University Engagement · Cohort 2026</a:t>
            </a:r>
            <a:endParaRPr lang="en-US" sz="850" dirty="0"/>
          </a:p>
        </p:txBody>
      </p:sp>
      <p:sp>
        <p:nvSpPr>
          <p:cNvPr id="18" name="Text 16"/>
          <p:cNvSpPr/>
          <p:nvPr/>
        </p:nvSpPr>
        <p:spPr>
          <a:xfrm>
            <a:off x="457200" y="4480560"/>
            <a:ext cx="8229600" cy="228600"/>
          </a:xfrm>
          <a:prstGeom prst="rect">
            <a:avLst/>
          </a:prstGeom>
          <a:noFill/>
          <a:ln/>
        </p:spPr>
        <p:txBody>
          <a:bodyPr wrap="square" lIns="0" tIns="0" rIns="0" bIns="0" rtlCol="0" anchor="ctr"/>
          <a:lstStyle/>
          <a:p>
            <a:pPr algn="ctr" indent="0" marL="0">
              <a:buNone/>
            </a:pPr>
            <a:r>
              <a:rPr lang="en-US" sz="800" dirty="0">
                <a:solidFill>
                  <a:srgbClr val="52525B"/>
                </a:solidFill>
                <a:latin typeface="Courier New" pitchFamily="34" charset="0"/>
                <a:ea typeface="Courier New" pitchFamily="34" charset="-122"/>
                <a:cs typeface="Courier New" pitchFamily="34" charset="-120"/>
              </a:rPr>
              <a:t>IBM Granite · watsonx Orchestrate · watsonx.governance · IBM Bob IDE · Hexagonal Architecture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 Spec — AICTE IBM SkillsBuild Submission</dc:title>
  <dc:subject>PptxGenJS Presentation</dc:subject>
  <dc:creator>Sentinel Spec</dc:creator>
  <cp:lastModifiedBy>Sentinel Spec</cp:lastModifiedBy>
  <cp:revision>1</cp:revision>
  <dcterms:created xsi:type="dcterms:W3CDTF">2026-07-08T07:27:16Z</dcterms:created>
  <dcterms:modified xsi:type="dcterms:W3CDTF">2026-07-08T07:27:16Z</dcterms:modified>
</cp:coreProperties>
</file>